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33"/>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42850">
              <a:alpha val="80000"/>
            </a:srgbClr>
          </a:solidFill>
          <a:ln/>
        </p:spPr>
      </p:sp>
      <p:sp>
        <p:nvSpPr>
          <p:cNvPr id="3" name="Shape 1"/>
          <p:cNvSpPr/>
          <p:nvPr/>
        </p:nvSpPr>
        <p:spPr>
          <a:xfrm>
            <a:off x="10332720" y="3108960"/>
            <a:ext cx="3840480" cy="3840480"/>
          </a:xfrm>
          <a:prstGeom prst="ellipse">
            <a:avLst/>
          </a:prstGeom>
          <a:solidFill>
            <a:srgbClr val="E08A2C">
              <a:alpha val="20000"/>
            </a:srgbClr>
          </a:solidFill>
          <a:ln/>
        </p:spPr>
      </p:sp>
      <p:sp>
        <p:nvSpPr>
          <p:cNvPr id="4" name="Text 2"/>
          <p:cNvSpPr/>
          <p:nvPr/>
        </p:nvSpPr>
        <p:spPr>
          <a:xfrm>
            <a:off x="640080" y="1417320"/>
            <a:ext cx="7589520" cy="13716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LOAN PERFORMANCE &amp; CREDIT RISK ANALYSIS</a:t>
            </a:r>
            <a:endParaRPr lang="en-US" sz="3800" dirty="0"/>
          </a:p>
        </p:txBody>
      </p:sp>
      <p:sp>
        <p:nvSpPr>
          <p:cNvPr id="5" name="Text 3"/>
          <p:cNvSpPr/>
          <p:nvPr/>
        </p:nvSpPr>
        <p:spPr>
          <a:xfrm>
            <a:off x="640080" y="2514600"/>
            <a:ext cx="7315200" cy="457200"/>
          </a:xfrm>
          <a:prstGeom prst="rect">
            <a:avLst/>
          </a:prstGeom>
          <a:noFill/>
          <a:ln/>
        </p:spPr>
        <p:txBody>
          <a:bodyPr wrap="square" rtlCol="0" anchor="ctr"/>
          <a:lstStyle/>
          <a:p>
            <a:pPr indent="0" marL="0">
              <a:buNone/>
            </a:pPr>
            <a:r>
              <a:rPr lang="en-US" sz="1800" i="1" dirty="0">
                <a:solidFill>
                  <a:srgbClr val="D7E6F5"/>
                </a:solidFill>
                <a:latin typeface="Calibri" pitchFamily="34" charset="0"/>
                <a:ea typeface="Calibri" pitchFamily="34" charset="-122"/>
                <a:cs typeface="Calibri" pitchFamily="34" charset="-120"/>
              </a:rPr>
              <a:t>Using Data Analytics and Machine Learning</a:t>
            </a:r>
            <a:endParaRPr lang="en-US" sz="1800" dirty="0"/>
          </a:p>
        </p:txBody>
      </p:sp>
      <p:sp>
        <p:nvSpPr>
          <p:cNvPr id="6" name="Shape 4"/>
          <p:cNvSpPr/>
          <p:nvPr/>
        </p:nvSpPr>
        <p:spPr>
          <a:xfrm>
            <a:off x="658368" y="3063240"/>
            <a:ext cx="1463040" cy="27432"/>
          </a:xfrm>
          <a:prstGeom prst="rect">
            <a:avLst/>
          </a:prstGeom>
          <a:solidFill>
            <a:srgbClr val="E08A2C"/>
          </a:solidFill>
          <a:ln/>
        </p:spPr>
      </p:sp>
      <p:sp>
        <p:nvSpPr>
          <p:cNvPr id="7" name="Text 5"/>
          <p:cNvSpPr/>
          <p:nvPr/>
        </p:nvSpPr>
        <p:spPr>
          <a:xfrm>
            <a:off x="640080" y="3246120"/>
            <a:ext cx="7315200" cy="365760"/>
          </a:xfrm>
          <a:prstGeom prst="rect">
            <a:avLst/>
          </a:prstGeom>
          <a:noFill/>
          <a:ln/>
        </p:spPr>
        <p:txBody>
          <a:bodyPr wrap="square" rtlCol="0" anchor="ctr"/>
          <a:lstStyle/>
          <a:p>
            <a:pPr indent="0" marL="0">
              <a:buNone/>
            </a:pPr>
            <a:r>
              <a:rPr lang="en-US" sz="1400" dirty="0">
                <a:solidFill>
                  <a:srgbClr val="6E8CAE"/>
                </a:solidFill>
                <a:latin typeface="Calibri" pitchFamily="34" charset="0"/>
                <a:ea typeface="Calibri" pitchFamily="34" charset="-122"/>
                <a:cs typeface="Calibri" pitchFamily="34" charset="-120"/>
              </a:rPr>
              <a:t>An End-to-End Data Analytics &amp; Business Intelligence Project</a:t>
            </a:r>
            <a:endParaRPr lang="en-US" sz="1400" dirty="0"/>
          </a:p>
        </p:txBody>
      </p:sp>
      <p:sp>
        <p:nvSpPr>
          <p:cNvPr id="8" name="Text 6"/>
          <p:cNvSpPr/>
          <p:nvPr/>
        </p:nvSpPr>
        <p:spPr>
          <a:xfrm>
            <a:off x="640080" y="4572000"/>
            <a:ext cx="6858000" cy="82296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Ekene Martin Atuegbu</a:t>
            </a:r>
            <a:endParaRPr lang="en-US" sz="1700" dirty="0"/>
          </a:p>
          <a:p>
            <a:pPr indent="0" marL="0">
              <a:buNone/>
            </a:pPr>
            <a:r>
              <a:rPr lang="en-US" sz="1200" i="1" dirty="0">
                <a:solidFill>
                  <a:srgbClr val="D7E6F5"/>
                </a:solidFill>
                <a:latin typeface="Calibri" pitchFamily="34" charset="0"/>
                <a:ea typeface="Calibri" pitchFamily="34" charset="-122"/>
                <a:cs typeface="Calibri" pitchFamily="34" charset="-120"/>
              </a:rPr>
              <a:t>Data Analyst | Business Intelligence Analyst | Machine Learning Enthusiast</a:t>
            </a:r>
            <a:endParaRPr lang="en-US" sz="1700" dirty="0"/>
          </a:p>
        </p:txBody>
      </p:sp>
      <p:sp>
        <p:nvSpPr>
          <p:cNvPr id="9" name="Text 7"/>
          <p:cNvSpPr/>
          <p:nvPr/>
        </p:nvSpPr>
        <p:spPr>
          <a:xfrm>
            <a:off x="640080" y="5440680"/>
            <a:ext cx="6400800" cy="822960"/>
          </a:xfrm>
          <a:prstGeom prst="rect">
            <a:avLst/>
          </a:prstGeom>
          <a:noFill/>
          <a:ln/>
        </p:spPr>
        <p:txBody>
          <a:bodyPr wrap="square" rtlCol="0" anchor="ctr"/>
          <a:lstStyle/>
          <a:p>
            <a:pPr indent="0" marL="0">
              <a:lnSpc>
                <a:spcPts val="2000"/>
              </a:lnSpc>
              <a:buNone/>
            </a:pPr>
            <a:r>
              <a:rPr lang="en-US" sz="1150" b="1" dirty="0">
                <a:solidFill>
                  <a:srgbClr val="E08A2C"/>
                </a:solidFill>
                <a:latin typeface="Calibri" pitchFamily="34" charset="0"/>
                <a:ea typeface="Calibri" pitchFamily="34" charset="-122"/>
                <a:cs typeface="Calibri" pitchFamily="34" charset="-120"/>
              </a:rPr>
              <a:t>GitHub: </a:t>
            </a:r>
            <a:pPr indent="0" marL="0">
              <a:lnSpc>
                <a:spcPts val="2000"/>
              </a:lnSpc>
              <a:buNone/>
            </a:pPr>
            <a:r>
              <a:rPr lang="en-US" sz="1150" dirty="0">
                <a:solidFill>
                  <a:srgbClr val="FFFFFF"/>
                </a:solidFill>
                <a:latin typeface="Calibri" pitchFamily="34" charset="0"/>
                <a:ea typeface="Calibri" pitchFamily="34" charset="-122"/>
                <a:cs typeface="Calibri" pitchFamily="34" charset="-120"/>
              </a:rPr>
              <a:t>github.com/Taurusking1</a:t>
            </a:r>
            <a:endParaRPr lang="en-US" sz="1150" dirty="0"/>
          </a:p>
          <a:p>
            <a:pPr indent="0" marL="0">
              <a:lnSpc>
                <a:spcPts val="2000"/>
              </a:lnSpc>
              <a:buNone/>
            </a:pPr>
            <a:r>
              <a:rPr lang="en-US" sz="1150" b="1" dirty="0">
                <a:solidFill>
                  <a:srgbClr val="E08A2C"/>
                </a:solidFill>
                <a:latin typeface="Calibri" pitchFamily="34" charset="0"/>
                <a:ea typeface="Calibri" pitchFamily="34" charset="-122"/>
                <a:cs typeface="Calibri" pitchFamily="34" charset="-120"/>
              </a:rPr>
              <a:t>LinkedIn: </a:t>
            </a:r>
            <a:pPr indent="0" marL="0">
              <a:lnSpc>
                <a:spcPts val="2000"/>
              </a:lnSpc>
              <a:buNone/>
            </a:pPr>
            <a:r>
              <a:rPr lang="en-US" sz="1150" dirty="0">
                <a:solidFill>
                  <a:srgbClr val="FFFFFF"/>
                </a:solidFill>
                <a:latin typeface="Calibri" pitchFamily="34" charset="0"/>
                <a:ea typeface="Calibri" pitchFamily="34" charset="-122"/>
                <a:cs typeface="Calibri" pitchFamily="34" charset="-120"/>
              </a:rPr>
              <a:t>linkedin.com/in/ekene-atuegbu-a9478b3bb</a:t>
            </a:r>
            <a:endParaRPr lang="en-US" sz="1150" dirty="0"/>
          </a:p>
          <a:p>
            <a:pPr indent="0" marL="0">
              <a:lnSpc>
                <a:spcPts val="2000"/>
              </a:lnSpc>
              <a:buNone/>
            </a:pPr>
            <a:r>
              <a:rPr lang="en-US" sz="1150" b="1" dirty="0">
                <a:solidFill>
                  <a:srgbClr val="E08A2C"/>
                </a:solidFill>
                <a:latin typeface="Calibri" pitchFamily="34" charset="0"/>
                <a:ea typeface="Calibri" pitchFamily="34" charset="-122"/>
                <a:cs typeface="Calibri" pitchFamily="34" charset="-120"/>
              </a:rPr>
              <a:t>Email: </a:t>
            </a:r>
            <a:pPr indent="0" marL="0">
              <a:lnSpc>
                <a:spcPts val="2000"/>
              </a:lnSpc>
              <a:buNone/>
            </a:pPr>
            <a:r>
              <a:rPr lang="en-US" sz="1150" dirty="0">
                <a:solidFill>
                  <a:srgbClr val="FFFFFF"/>
                </a:solidFill>
                <a:latin typeface="Calibri" pitchFamily="34" charset="0"/>
                <a:ea typeface="Calibri" pitchFamily="34" charset="-122"/>
                <a:cs typeface="Calibri" pitchFamily="34" charset="-120"/>
              </a:rPr>
              <a:t>kenair1@hotmail.com</a:t>
            </a:r>
            <a:endParaRPr lang="en-US" sz="1150" dirty="0"/>
          </a:p>
        </p:txBody>
      </p:sp>
      <p:sp>
        <p:nvSpPr>
          <p:cNvPr id="10" name="Shape 8"/>
          <p:cNvSpPr/>
          <p:nvPr/>
        </p:nvSpPr>
        <p:spPr>
          <a:xfrm>
            <a:off x="640080" y="6355080"/>
            <a:ext cx="1691640" cy="365760"/>
          </a:xfrm>
          <a:prstGeom prst="roundRect">
            <a:avLst>
              <a:gd name="adj" fmla="val 15000"/>
            </a:avLst>
          </a:prstGeom>
          <a:solidFill>
            <a:srgbClr val="142850"/>
          </a:solidFill>
          <a:ln w="9525">
            <a:solidFill>
              <a:srgbClr val="6E8CAE"/>
            </a:solidFill>
            <a:prstDash val="solid"/>
          </a:ln>
        </p:spPr>
      </p:sp>
      <p:sp>
        <p:nvSpPr>
          <p:cNvPr id="11" name="Text 9"/>
          <p:cNvSpPr/>
          <p:nvPr/>
        </p:nvSpPr>
        <p:spPr>
          <a:xfrm>
            <a:off x="640080" y="6355080"/>
            <a:ext cx="1691640" cy="365760"/>
          </a:xfrm>
          <a:prstGeom prst="rect">
            <a:avLst/>
          </a:prstGeom>
          <a:noFill/>
          <a:ln/>
        </p:spPr>
        <p:txBody>
          <a:bodyPr wrap="square" rtlCol="0" anchor="ctr"/>
          <a:lstStyle/>
          <a:p>
            <a:pPr algn="ctr" indent="0" marL="0">
              <a:buNone/>
            </a:pPr>
            <a:r>
              <a:rPr lang="en-US" sz="1050" b="1" dirty="0">
                <a:solidFill>
                  <a:srgbClr val="D7E6F5"/>
                </a:solidFill>
                <a:latin typeface="Calibri" pitchFamily="34" charset="0"/>
                <a:ea typeface="Calibri" pitchFamily="34" charset="-122"/>
                <a:cs typeface="Calibri" pitchFamily="34" charset="-120"/>
              </a:rPr>
              <a:t>Excel</a:t>
            </a:r>
            <a:endParaRPr lang="en-US" sz="1050" dirty="0"/>
          </a:p>
        </p:txBody>
      </p:sp>
      <p:sp>
        <p:nvSpPr>
          <p:cNvPr id="12" name="Shape 10"/>
          <p:cNvSpPr/>
          <p:nvPr/>
        </p:nvSpPr>
        <p:spPr>
          <a:xfrm>
            <a:off x="2468880" y="6355080"/>
            <a:ext cx="1691640" cy="365760"/>
          </a:xfrm>
          <a:prstGeom prst="roundRect">
            <a:avLst>
              <a:gd name="adj" fmla="val 15000"/>
            </a:avLst>
          </a:prstGeom>
          <a:solidFill>
            <a:srgbClr val="142850"/>
          </a:solidFill>
          <a:ln w="9525">
            <a:solidFill>
              <a:srgbClr val="6E8CAE"/>
            </a:solidFill>
            <a:prstDash val="solid"/>
          </a:ln>
        </p:spPr>
      </p:sp>
      <p:sp>
        <p:nvSpPr>
          <p:cNvPr id="13" name="Text 11"/>
          <p:cNvSpPr/>
          <p:nvPr/>
        </p:nvSpPr>
        <p:spPr>
          <a:xfrm>
            <a:off x="2468880" y="6355080"/>
            <a:ext cx="1691640" cy="365760"/>
          </a:xfrm>
          <a:prstGeom prst="rect">
            <a:avLst/>
          </a:prstGeom>
          <a:noFill/>
          <a:ln/>
        </p:spPr>
        <p:txBody>
          <a:bodyPr wrap="square" rtlCol="0" anchor="ctr"/>
          <a:lstStyle/>
          <a:p>
            <a:pPr algn="ctr" indent="0" marL="0">
              <a:buNone/>
            </a:pPr>
            <a:r>
              <a:rPr lang="en-US" sz="1050" b="1" dirty="0">
                <a:solidFill>
                  <a:srgbClr val="D7E6F5"/>
                </a:solidFill>
                <a:latin typeface="Calibri" pitchFamily="34" charset="0"/>
                <a:ea typeface="Calibri" pitchFamily="34" charset="-122"/>
                <a:cs typeface="Calibri" pitchFamily="34" charset="-120"/>
              </a:rPr>
              <a:t>MySQL</a:t>
            </a:r>
            <a:endParaRPr lang="en-US" sz="1050" dirty="0"/>
          </a:p>
        </p:txBody>
      </p:sp>
      <p:sp>
        <p:nvSpPr>
          <p:cNvPr id="14" name="Shape 12"/>
          <p:cNvSpPr/>
          <p:nvPr/>
        </p:nvSpPr>
        <p:spPr>
          <a:xfrm>
            <a:off x="4297680" y="6355080"/>
            <a:ext cx="1691640" cy="365760"/>
          </a:xfrm>
          <a:prstGeom prst="roundRect">
            <a:avLst>
              <a:gd name="adj" fmla="val 15000"/>
            </a:avLst>
          </a:prstGeom>
          <a:solidFill>
            <a:srgbClr val="142850"/>
          </a:solidFill>
          <a:ln w="9525">
            <a:solidFill>
              <a:srgbClr val="6E8CAE"/>
            </a:solidFill>
            <a:prstDash val="solid"/>
          </a:ln>
        </p:spPr>
      </p:sp>
      <p:sp>
        <p:nvSpPr>
          <p:cNvPr id="15" name="Text 13"/>
          <p:cNvSpPr/>
          <p:nvPr/>
        </p:nvSpPr>
        <p:spPr>
          <a:xfrm>
            <a:off x="4297680" y="6355080"/>
            <a:ext cx="1691640" cy="365760"/>
          </a:xfrm>
          <a:prstGeom prst="rect">
            <a:avLst/>
          </a:prstGeom>
          <a:noFill/>
          <a:ln/>
        </p:spPr>
        <p:txBody>
          <a:bodyPr wrap="square" rtlCol="0" anchor="ctr"/>
          <a:lstStyle/>
          <a:p>
            <a:pPr algn="ctr" indent="0" marL="0">
              <a:buNone/>
            </a:pPr>
            <a:r>
              <a:rPr lang="en-US" sz="1050" b="1" dirty="0">
                <a:solidFill>
                  <a:srgbClr val="D7E6F5"/>
                </a:solidFill>
                <a:latin typeface="Calibri" pitchFamily="34" charset="0"/>
                <a:ea typeface="Calibri" pitchFamily="34" charset="-122"/>
                <a:cs typeface="Calibri" pitchFamily="34" charset="-120"/>
              </a:rPr>
              <a:t>Python</a:t>
            </a:r>
            <a:endParaRPr lang="en-US" sz="1050" dirty="0"/>
          </a:p>
        </p:txBody>
      </p:sp>
      <p:sp>
        <p:nvSpPr>
          <p:cNvPr id="16" name="Shape 14"/>
          <p:cNvSpPr/>
          <p:nvPr/>
        </p:nvSpPr>
        <p:spPr>
          <a:xfrm>
            <a:off x="6126480" y="6355080"/>
            <a:ext cx="1691640" cy="365760"/>
          </a:xfrm>
          <a:prstGeom prst="roundRect">
            <a:avLst>
              <a:gd name="adj" fmla="val 15000"/>
            </a:avLst>
          </a:prstGeom>
          <a:solidFill>
            <a:srgbClr val="142850"/>
          </a:solidFill>
          <a:ln w="9525">
            <a:solidFill>
              <a:srgbClr val="6E8CAE"/>
            </a:solidFill>
            <a:prstDash val="solid"/>
          </a:ln>
        </p:spPr>
      </p:sp>
      <p:sp>
        <p:nvSpPr>
          <p:cNvPr id="17" name="Text 15"/>
          <p:cNvSpPr/>
          <p:nvPr/>
        </p:nvSpPr>
        <p:spPr>
          <a:xfrm>
            <a:off x="6126480" y="6355080"/>
            <a:ext cx="1691640" cy="365760"/>
          </a:xfrm>
          <a:prstGeom prst="rect">
            <a:avLst/>
          </a:prstGeom>
          <a:noFill/>
          <a:ln/>
        </p:spPr>
        <p:txBody>
          <a:bodyPr wrap="square" rtlCol="0" anchor="ctr"/>
          <a:lstStyle/>
          <a:p>
            <a:pPr algn="ctr" indent="0" marL="0">
              <a:buNone/>
            </a:pPr>
            <a:r>
              <a:rPr lang="en-US" sz="1050" b="1" dirty="0">
                <a:solidFill>
                  <a:srgbClr val="D7E6F5"/>
                </a:solidFill>
                <a:latin typeface="Calibri" pitchFamily="34" charset="0"/>
                <a:ea typeface="Calibri" pitchFamily="34" charset="-122"/>
                <a:cs typeface="Calibri" pitchFamily="34" charset="-120"/>
              </a:rPr>
              <a:t>Power BI</a:t>
            </a:r>
            <a:endParaRPr lang="en-US" sz="1050" dirty="0"/>
          </a:p>
        </p:txBody>
      </p:sp>
      <p:sp>
        <p:nvSpPr>
          <p:cNvPr id="18" name="Shape 16"/>
          <p:cNvSpPr/>
          <p:nvPr/>
        </p:nvSpPr>
        <p:spPr>
          <a:xfrm>
            <a:off x="7955280" y="6355080"/>
            <a:ext cx="1691640" cy="365760"/>
          </a:xfrm>
          <a:prstGeom prst="roundRect">
            <a:avLst>
              <a:gd name="adj" fmla="val 15000"/>
            </a:avLst>
          </a:prstGeom>
          <a:solidFill>
            <a:srgbClr val="142850"/>
          </a:solidFill>
          <a:ln w="9525">
            <a:solidFill>
              <a:srgbClr val="6E8CAE"/>
            </a:solidFill>
            <a:prstDash val="solid"/>
          </a:ln>
        </p:spPr>
      </p:sp>
      <p:sp>
        <p:nvSpPr>
          <p:cNvPr id="19" name="Text 17"/>
          <p:cNvSpPr/>
          <p:nvPr/>
        </p:nvSpPr>
        <p:spPr>
          <a:xfrm>
            <a:off x="7955280" y="6355080"/>
            <a:ext cx="1691640" cy="365760"/>
          </a:xfrm>
          <a:prstGeom prst="rect">
            <a:avLst/>
          </a:prstGeom>
          <a:noFill/>
          <a:ln/>
        </p:spPr>
        <p:txBody>
          <a:bodyPr wrap="square" rtlCol="0" anchor="ctr"/>
          <a:lstStyle/>
          <a:p>
            <a:pPr algn="ctr" indent="0" marL="0">
              <a:buNone/>
            </a:pPr>
            <a:r>
              <a:rPr lang="en-US" sz="1050" b="1" dirty="0">
                <a:solidFill>
                  <a:srgbClr val="D7E6F5"/>
                </a:solidFill>
                <a:latin typeface="Calibri" pitchFamily="34" charset="0"/>
                <a:ea typeface="Calibri" pitchFamily="34" charset="-122"/>
                <a:cs typeface="Calibri" pitchFamily="34" charset="-120"/>
              </a:rPr>
              <a:t>Scikit-learn</a:t>
            </a:r>
            <a:endParaRPr lang="en-US" sz="1050" dirty="0"/>
          </a:p>
        </p:txBody>
      </p:sp>
      <p:sp>
        <p:nvSpPr>
          <p:cNvPr id="20" name="Shape 18"/>
          <p:cNvSpPr/>
          <p:nvPr/>
        </p:nvSpPr>
        <p:spPr>
          <a:xfrm>
            <a:off x="9784080" y="6355080"/>
            <a:ext cx="1691640" cy="365760"/>
          </a:xfrm>
          <a:prstGeom prst="roundRect">
            <a:avLst>
              <a:gd name="adj" fmla="val 15000"/>
            </a:avLst>
          </a:prstGeom>
          <a:solidFill>
            <a:srgbClr val="142850"/>
          </a:solidFill>
          <a:ln w="9525">
            <a:solidFill>
              <a:srgbClr val="6E8CAE"/>
            </a:solidFill>
            <a:prstDash val="solid"/>
          </a:ln>
        </p:spPr>
      </p:sp>
      <p:sp>
        <p:nvSpPr>
          <p:cNvPr id="21" name="Text 19"/>
          <p:cNvSpPr/>
          <p:nvPr/>
        </p:nvSpPr>
        <p:spPr>
          <a:xfrm>
            <a:off x="9784080" y="6355080"/>
            <a:ext cx="1691640" cy="365760"/>
          </a:xfrm>
          <a:prstGeom prst="rect">
            <a:avLst/>
          </a:prstGeom>
          <a:noFill/>
          <a:ln/>
        </p:spPr>
        <p:txBody>
          <a:bodyPr wrap="square" rtlCol="0" anchor="ctr"/>
          <a:lstStyle/>
          <a:p>
            <a:pPr algn="ctr" indent="0" marL="0">
              <a:buNone/>
            </a:pPr>
            <a:r>
              <a:rPr lang="en-US" sz="1050" b="1" dirty="0">
                <a:solidFill>
                  <a:srgbClr val="D7E6F5"/>
                </a:solidFill>
                <a:latin typeface="Calibri" pitchFamily="34" charset="0"/>
                <a:ea typeface="Calibri" pitchFamily="34" charset="-122"/>
                <a:cs typeface="Calibri" pitchFamily="34" charset="-120"/>
              </a:rPr>
              <a:t>GitHub</a:t>
            </a:r>
            <a:endParaRPr lang="en-US" sz="1050" dirty="0"/>
          </a:p>
        </p:txBody>
      </p:sp>
      <p:sp>
        <p:nvSpPr>
          <p:cNvPr id="22" name="Text 20"/>
          <p:cNvSpPr/>
          <p:nvPr/>
        </p:nvSpPr>
        <p:spPr>
          <a:xfrm>
            <a:off x="10268712" y="6400800"/>
            <a:ext cx="1463040" cy="274320"/>
          </a:xfrm>
          <a:prstGeom prst="rect">
            <a:avLst/>
          </a:prstGeom>
          <a:noFill/>
          <a:ln/>
        </p:spPr>
        <p:txBody>
          <a:bodyPr wrap="square" rtlCol="0" anchor="ctr"/>
          <a:lstStyle/>
          <a:p>
            <a:pPr algn="r" indent="0" marL="0">
              <a:buNone/>
            </a:pPr>
            <a:r>
              <a:rPr lang="en-US" sz="1000" dirty="0">
                <a:solidFill>
                  <a:srgbClr val="6E8CAE"/>
                </a:solidFill>
                <a:latin typeface="Calibri" pitchFamily="34" charset="0"/>
                <a:ea typeface="Calibri" pitchFamily="34" charset="-122"/>
                <a:cs typeface="Calibri" pitchFamily="34" charset="-120"/>
              </a:rPr>
              <a:t>July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Agenda</a:t>
            </a:r>
            <a:endParaRPr lang="en-US" sz="3200" dirty="0"/>
          </a:p>
        </p:txBody>
      </p:sp>
      <p:sp>
        <p:nvSpPr>
          <p:cNvPr id="4" name="Shape 2"/>
          <p:cNvSpPr/>
          <p:nvPr/>
        </p:nvSpPr>
        <p:spPr>
          <a:xfrm>
            <a:off x="929422" y="1371600"/>
            <a:ext cx="822960" cy="822960"/>
          </a:xfrm>
          <a:prstGeom prst="ellipse">
            <a:avLst/>
          </a:prstGeom>
          <a:solidFill>
            <a:srgbClr val="D7E6F5"/>
          </a:solidFill>
          <a:ln w="12700">
            <a:solidFill>
              <a:srgbClr val="142850"/>
            </a:solidFill>
            <a:prstDash val="solid"/>
          </a:ln>
        </p:spPr>
      </p:sp>
      <p:pic>
        <p:nvPicPr>
          <p:cNvPr id="5" name="Image 0" descr="preencoded.png">    </p:cNvPr>
          <p:cNvPicPr>
            <a:picLocks noChangeAspect="1"/>
          </p:cNvPicPr>
          <p:nvPr/>
        </p:nvPicPr>
        <p:blipFill>
          <a:blip r:embed="rId1"/>
          <a:stretch>
            <a:fillRect/>
          </a:stretch>
        </p:blipFill>
        <p:spPr>
          <a:xfrm>
            <a:off x="1084870" y="1527048"/>
            <a:ext cx="512064" cy="512064"/>
          </a:xfrm>
          <a:prstGeom prst="rect">
            <a:avLst/>
          </a:prstGeom>
        </p:spPr>
      </p:pic>
      <p:sp>
        <p:nvSpPr>
          <p:cNvPr id="6" name="Text 3"/>
          <p:cNvSpPr/>
          <p:nvPr/>
        </p:nvSpPr>
        <p:spPr>
          <a:xfrm>
            <a:off x="594360" y="2331720"/>
            <a:ext cx="1493085" cy="640080"/>
          </a:xfrm>
          <a:prstGeom prst="rect">
            <a:avLst/>
          </a:prstGeom>
          <a:noFill/>
          <a:ln/>
        </p:spPr>
        <p:txBody>
          <a:bodyPr wrap="square" rtlCol="0" anchor="ctr"/>
          <a:lstStyle/>
          <a:p>
            <a:pPr algn="ctr" indent="0" marL="0">
              <a:buNone/>
            </a:pPr>
            <a:r>
              <a:rPr lang="en-US" sz="1200" b="1" dirty="0">
                <a:solidFill>
                  <a:srgbClr val="142850"/>
                </a:solidFill>
                <a:latin typeface="Calibri" pitchFamily="34" charset="0"/>
                <a:ea typeface="Calibri" pitchFamily="34" charset="-122"/>
                <a:cs typeface="Calibri" pitchFamily="34" charset="-120"/>
              </a:rPr>
              <a:t>Introduction</a:t>
            </a:r>
            <a:endParaRPr lang="en-US" sz="1200" dirty="0"/>
          </a:p>
        </p:txBody>
      </p:sp>
      <p:sp>
        <p:nvSpPr>
          <p:cNvPr id="7" name="Text 4"/>
          <p:cNvSpPr/>
          <p:nvPr/>
        </p:nvSpPr>
        <p:spPr>
          <a:xfrm>
            <a:off x="1840557" y="1600200"/>
            <a:ext cx="457200" cy="548640"/>
          </a:xfrm>
          <a:prstGeom prst="rect">
            <a:avLst/>
          </a:prstGeom>
          <a:noFill/>
          <a:ln/>
        </p:spPr>
        <p:txBody>
          <a:bodyPr wrap="square" rtlCol="0" anchor="ctr"/>
          <a:lstStyle/>
          <a:p>
            <a:pPr algn="ctr" indent="0" marL="0">
              <a:buNone/>
            </a:pPr>
            <a:r>
              <a:rPr lang="en-US" sz="2000" dirty="0">
                <a:solidFill>
                  <a:srgbClr val="6E8CAE"/>
                </a:solidFill>
              </a:rPr>
              <a:t>→</a:t>
            </a:r>
            <a:endParaRPr lang="en-US" sz="2000" dirty="0"/>
          </a:p>
        </p:txBody>
      </p:sp>
      <p:sp>
        <p:nvSpPr>
          <p:cNvPr id="8" name="Shape 5"/>
          <p:cNvSpPr/>
          <p:nvPr/>
        </p:nvSpPr>
        <p:spPr>
          <a:xfrm>
            <a:off x="2513947" y="1371600"/>
            <a:ext cx="822960" cy="822960"/>
          </a:xfrm>
          <a:prstGeom prst="ellipse">
            <a:avLst/>
          </a:prstGeom>
          <a:solidFill>
            <a:srgbClr val="D7E6F5"/>
          </a:solidFill>
          <a:ln w="12700">
            <a:solidFill>
              <a:srgbClr val="142850"/>
            </a:solidFill>
            <a:prstDash val="solid"/>
          </a:ln>
        </p:spPr>
      </p:sp>
      <p:pic>
        <p:nvPicPr>
          <p:cNvPr id="9" name="Image 1" descr="preencoded.png">    </p:cNvPr>
          <p:cNvPicPr>
            <a:picLocks noChangeAspect="1"/>
          </p:cNvPicPr>
          <p:nvPr/>
        </p:nvPicPr>
        <p:blipFill>
          <a:blip r:embed="rId2"/>
          <a:stretch>
            <a:fillRect/>
          </a:stretch>
        </p:blipFill>
        <p:spPr>
          <a:xfrm>
            <a:off x="2669395" y="1527048"/>
            <a:ext cx="512064" cy="512064"/>
          </a:xfrm>
          <a:prstGeom prst="rect">
            <a:avLst/>
          </a:prstGeom>
        </p:spPr>
      </p:pic>
      <p:sp>
        <p:nvSpPr>
          <p:cNvPr id="10" name="Text 6"/>
          <p:cNvSpPr/>
          <p:nvPr/>
        </p:nvSpPr>
        <p:spPr>
          <a:xfrm>
            <a:off x="2178885" y="2331720"/>
            <a:ext cx="1493085" cy="640080"/>
          </a:xfrm>
          <a:prstGeom prst="rect">
            <a:avLst/>
          </a:prstGeom>
          <a:noFill/>
          <a:ln/>
        </p:spPr>
        <p:txBody>
          <a:bodyPr wrap="square" rtlCol="0" anchor="ctr"/>
          <a:lstStyle/>
          <a:p>
            <a:pPr algn="ctr" indent="0" marL="0">
              <a:buNone/>
            </a:pPr>
            <a:r>
              <a:rPr lang="en-US" sz="1200" b="1" dirty="0">
                <a:solidFill>
                  <a:srgbClr val="142850"/>
                </a:solidFill>
                <a:latin typeface="Calibri" pitchFamily="34" charset="0"/>
                <a:ea typeface="Calibri" pitchFamily="34" charset="-122"/>
                <a:cs typeface="Calibri" pitchFamily="34" charset="-120"/>
              </a:rPr>
              <a:t>Dataset Overview</a:t>
            </a:r>
            <a:endParaRPr lang="en-US" sz="1200" dirty="0"/>
          </a:p>
        </p:txBody>
      </p:sp>
      <p:sp>
        <p:nvSpPr>
          <p:cNvPr id="11" name="Text 7"/>
          <p:cNvSpPr/>
          <p:nvPr/>
        </p:nvSpPr>
        <p:spPr>
          <a:xfrm>
            <a:off x="3425081" y="1600200"/>
            <a:ext cx="457200" cy="548640"/>
          </a:xfrm>
          <a:prstGeom prst="rect">
            <a:avLst/>
          </a:prstGeom>
          <a:noFill/>
          <a:ln/>
        </p:spPr>
        <p:txBody>
          <a:bodyPr wrap="square" rtlCol="0" anchor="ctr"/>
          <a:lstStyle/>
          <a:p>
            <a:pPr algn="ctr" indent="0" marL="0">
              <a:buNone/>
            </a:pPr>
            <a:r>
              <a:rPr lang="en-US" sz="2000" dirty="0">
                <a:solidFill>
                  <a:srgbClr val="6E8CAE"/>
                </a:solidFill>
              </a:rPr>
              <a:t>→</a:t>
            </a:r>
            <a:endParaRPr lang="en-US" sz="2000" dirty="0"/>
          </a:p>
        </p:txBody>
      </p:sp>
      <p:sp>
        <p:nvSpPr>
          <p:cNvPr id="12" name="Shape 8"/>
          <p:cNvSpPr/>
          <p:nvPr/>
        </p:nvSpPr>
        <p:spPr>
          <a:xfrm>
            <a:off x="4098471" y="1371600"/>
            <a:ext cx="822960" cy="822960"/>
          </a:xfrm>
          <a:prstGeom prst="ellipse">
            <a:avLst/>
          </a:prstGeom>
          <a:solidFill>
            <a:srgbClr val="D7E6F5"/>
          </a:solidFill>
          <a:ln w="12700">
            <a:solidFill>
              <a:srgbClr val="142850"/>
            </a:solidFill>
            <a:prstDash val="solid"/>
          </a:ln>
        </p:spPr>
      </p:sp>
      <p:pic>
        <p:nvPicPr>
          <p:cNvPr id="13" name="Image 2" descr="preencoded.png">    </p:cNvPr>
          <p:cNvPicPr>
            <a:picLocks noChangeAspect="1"/>
          </p:cNvPicPr>
          <p:nvPr/>
        </p:nvPicPr>
        <p:blipFill>
          <a:blip r:embed="rId3"/>
          <a:stretch>
            <a:fillRect/>
          </a:stretch>
        </p:blipFill>
        <p:spPr>
          <a:xfrm>
            <a:off x="4253919" y="1527048"/>
            <a:ext cx="512064" cy="512064"/>
          </a:xfrm>
          <a:prstGeom prst="rect">
            <a:avLst/>
          </a:prstGeom>
        </p:spPr>
      </p:pic>
      <p:sp>
        <p:nvSpPr>
          <p:cNvPr id="14" name="Text 9"/>
          <p:cNvSpPr/>
          <p:nvPr/>
        </p:nvSpPr>
        <p:spPr>
          <a:xfrm>
            <a:off x="3763409" y="2331720"/>
            <a:ext cx="1493085" cy="640080"/>
          </a:xfrm>
          <a:prstGeom prst="rect">
            <a:avLst/>
          </a:prstGeom>
          <a:noFill/>
          <a:ln/>
        </p:spPr>
        <p:txBody>
          <a:bodyPr wrap="square" rtlCol="0" anchor="ctr"/>
          <a:lstStyle/>
          <a:p>
            <a:pPr algn="ctr" indent="0" marL="0">
              <a:buNone/>
            </a:pPr>
            <a:r>
              <a:rPr lang="en-US" sz="1200" b="1" dirty="0">
                <a:solidFill>
                  <a:srgbClr val="142850"/>
                </a:solidFill>
                <a:latin typeface="Calibri" pitchFamily="34" charset="0"/>
                <a:ea typeface="Calibri" pitchFamily="34" charset="-122"/>
                <a:cs typeface="Calibri" pitchFamily="34" charset="-120"/>
              </a:rPr>
              <a:t>Data Preparation</a:t>
            </a:r>
            <a:endParaRPr lang="en-US" sz="1200" dirty="0"/>
          </a:p>
        </p:txBody>
      </p:sp>
      <p:sp>
        <p:nvSpPr>
          <p:cNvPr id="15" name="Text 10"/>
          <p:cNvSpPr/>
          <p:nvPr/>
        </p:nvSpPr>
        <p:spPr>
          <a:xfrm>
            <a:off x="5009606" y="1600200"/>
            <a:ext cx="457200" cy="548640"/>
          </a:xfrm>
          <a:prstGeom prst="rect">
            <a:avLst/>
          </a:prstGeom>
          <a:noFill/>
          <a:ln/>
        </p:spPr>
        <p:txBody>
          <a:bodyPr wrap="square" rtlCol="0" anchor="ctr"/>
          <a:lstStyle/>
          <a:p>
            <a:pPr algn="ctr" indent="0" marL="0">
              <a:buNone/>
            </a:pPr>
            <a:r>
              <a:rPr lang="en-US" sz="2000" dirty="0">
                <a:solidFill>
                  <a:srgbClr val="6E8CAE"/>
                </a:solidFill>
              </a:rPr>
              <a:t>→</a:t>
            </a:r>
            <a:endParaRPr lang="en-US" sz="2000" dirty="0"/>
          </a:p>
        </p:txBody>
      </p:sp>
      <p:sp>
        <p:nvSpPr>
          <p:cNvPr id="16" name="Shape 11"/>
          <p:cNvSpPr/>
          <p:nvPr/>
        </p:nvSpPr>
        <p:spPr>
          <a:xfrm>
            <a:off x="5682996" y="1371600"/>
            <a:ext cx="822960" cy="822960"/>
          </a:xfrm>
          <a:prstGeom prst="ellipse">
            <a:avLst/>
          </a:prstGeom>
          <a:solidFill>
            <a:srgbClr val="D7E6F5"/>
          </a:solidFill>
          <a:ln w="12700">
            <a:solidFill>
              <a:srgbClr val="142850"/>
            </a:solidFill>
            <a:prstDash val="solid"/>
          </a:ln>
        </p:spPr>
      </p:sp>
      <p:pic>
        <p:nvPicPr>
          <p:cNvPr id="17" name="Image 3" descr="preencoded.png">    </p:cNvPr>
          <p:cNvPicPr>
            <a:picLocks noChangeAspect="1"/>
          </p:cNvPicPr>
          <p:nvPr/>
        </p:nvPicPr>
        <p:blipFill>
          <a:blip r:embed="rId4"/>
          <a:stretch>
            <a:fillRect/>
          </a:stretch>
        </p:blipFill>
        <p:spPr>
          <a:xfrm>
            <a:off x="5838444" y="1527048"/>
            <a:ext cx="512064" cy="512064"/>
          </a:xfrm>
          <a:prstGeom prst="rect">
            <a:avLst/>
          </a:prstGeom>
        </p:spPr>
      </p:pic>
      <p:sp>
        <p:nvSpPr>
          <p:cNvPr id="18" name="Text 12"/>
          <p:cNvSpPr/>
          <p:nvPr/>
        </p:nvSpPr>
        <p:spPr>
          <a:xfrm>
            <a:off x="5347934" y="2331720"/>
            <a:ext cx="1493085" cy="640080"/>
          </a:xfrm>
          <a:prstGeom prst="rect">
            <a:avLst/>
          </a:prstGeom>
          <a:noFill/>
          <a:ln/>
        </p:spPr>
        <p:txBody>
          <a:bodyPr wrap="square" rtlCol="0" anchor="ctr"/>
          <a:lstStyle/>
          <a:p>
            <a:pPr algn="ctr" indent="0" marL="0">
              <a:buNone/>
            </a:pPr>
            <a:r>
              <a:rPr lang="en-US" sz="1200" b="1" dirty="0">
                <a:solidFill>
                  <a:srgbClr val="142850"/>
                </a:solidFill>
                <a:latin typeface="Calibri" pitchFamily="34" charset="0"/>
                <a:ea typeface="Calibri" pitchFamily="34" charset="-122"/>
                <a:cs typeface="Calibri" pitchFamily="34" charset="-120"/>
              </a:rPr>
              <a:t>Exploratory Data Analysis</a:t>
            </a:r>
            <a:endParaRPr lang="en-US" sz="1200" dirty="0"/>
          </a:p>
        </p:txBody>
      </p:sp>
      <p:sp>
        <p:nvSpPr>
          <p:cNvPr id="19" name="Text 13"/>
          <p:cNvSpPr/>
          <p:nvPr/>
        </p:nvSpPr>
        <p:spPr>
          <a:xfrm>
            <a:off x="6594130" y="1600200"/>
            <a:ext cx="457200" cy="548640"/>
          </a:xfrm>
          <a:prstGeom prst="rect">
            <a:avLst/>
          </a:prstGeom>
          <a:noFill/>
          <a:ln/>
        </p:spPr>
        <p:txBody>
          <a:bodyPr wrap="square" rtlCol="0" anchor="ctr"/>
          <a:lstStyle/>
          <a:p>
            <a:pPr algn="ctr" indent="0" marL="0">
              <a:buNone/>
            </a:pPr>
            <a:r>
              <a:rPr lang="en-US" sz="2000" dirty="0">
                <a:solidFill>
                  <a:srgbClr val="6E8CAE"/>
                </a:solidFill>
              </a:rPr>
              <a:t>→</a:t>
            </a:r>
            <a:endParaRPr lang="en-US" sz="2000" dirty="0"/>
          </a:p>
        </p:txBody>
      </p:sp>
      <p:sp>
        <p:nvSpPr>
          <p:cNvPr id="20" name="Shape 14"/>
          <p:cNvSpPr/>
          <p:nvPr/>
        </p:nvSpPr>
        <p:spPr>
          <a:xfrm>
            <a:off x="7267521" y="1371600"/>
            <a:ext cx="822960" cy="822960"/>
          </a:xfrm>
          <a:prstGeom prst="ellipse">
            <a:avLst/>
          </a:prstGeom>
          <a:solidFill>
            <a:srgbClr val="D7E6F5"/>
          </a:solidFill>
          <a:ln w="12700">
            <a:solidFill>
              <a:srgbClr val="142850"/>
            </a:solidFill>
            <a:prstDash val="solid"/>
          </a:ln>
        </p:spPr>
      </p:sp>
      <p:pic>
        <p:nvPicPr>
          <p:cNvPr id="21" name="Image 4" descr="preencoded.png">    </p:cNvPr>
          <p:cNvPicPr>
            <a:picLocks noChangeAspect="1"/>
          </p:cNvPicPr>
          <p:nvPr/>
        </p:nvPicPr>
        <p:blipFill>
          <a:blip r:embed="rId5"/>
          <a:stretch>
            <a:fillRect/>
          </a:stretch>
        </p:blipFill>
        <p:spPr>
          <a:xfrm>
            <a:off x="7422969" y="1527048"/>
            <a:ext cx="512064" cy="512064"/>
          </a:xfrm>
          <a:prstGeom prst="rect">
            <a:avLst/>
          </a:prstGeom>
        </p:spPr>
      </p:pic>
      <p:sp>
        <p:nvSpPr>
          <p:cNvPr id="22" name="Text 15"/>
          <p:cNvSpPr/>
          <p:nvPr/>
        </p:nvSpPr>
        <p:spPr>
          <a:xfrm>
            <a:off x="6932458" y="2331720"/>
            <a:ext cx="1493085" cy="640080"/>
          </a:xfrm>
          <a:prstGeom prst="rect">
            <a:avLst/>
          </a:prstGeom>
          <a:noFill/>
          <a:ln/>
        </p:spPr>
        <p:txBody>
          <a:bodyPr wrap="square" rtlCol="0" anchor="ctr"/>
          <a:lstStyle/>
          <a:p>
            <a:pPr algn="ctr" indent="0" marL="0">
              <a:buNone/>
            </a:pPr>
            <a:r>
              <a:rPr lang="en-US" sz="1200" b="1" dirty="0">
                <a:solidFill>
                  <a:srgbClr val="142850"/>
                </a:solidFill>
                <a:latin typeface="Calibri" pitchFamily="34" charset="0"/>
                <a:ea typeface="Calibri" pitchFamily="34" charset="-122"/>
                <a:cs typeface="Calibri" pitchFamily="34" charset="-120"/>
              </a:rPr>
              <a:t>Machine Learning</a:t>
            </a:r>
            <a:endParaRPr lang="en-US" sz="1200" dirty="0"/>
          </a:p>
        </p:txBody>
      </p:sp>
      <p:sp>
        <p:nvSpPr>
          <p:cNvPr id="23" name="Text 16"/>
          <p:cNvSpPr/>
          <p:nvPr/>
        </p:nvSpPr>
        <p:spPr>
          <a:xfrm>
            <a:off x="8178655" y="1600200"/>
            <a:ext cx="457200" cy="548640"/>
          </a:xfrm>
          <a:prstGeom prst="rect">
            <a:avLst/>
          </a:prstGeom>
          <a:noFill/>
          <a:ln/>
        </p:spPr>
        <p:txBody>
          <a:bodyPr wrap="square" rtlCol="0" anchor="ctr"/>
          <a:lstStyle/>
          <a:p>
            <a:pPr algn="ctr" indent="0" marL="0">
              <a:buNone/>
            </a:pPr>
            <a:r>
              <a:rPr lang="en-US" sz="2000" dirty="0">
                <a:solidFill>
                  <a:srgbClr val="6E8CAE"/>
                </a:solidFill>
              </a:rPr>
              <a:t>→</a:t>
            </a:r>
            <a:endParaRPr lang="en-US" sz="2000" dirty="0"/>
          </a:p>
        </p:txBody>
      </p:sp>
      <p:sp>
        <p:nvSpPr>
          <p:cNvPr id="24" name="Shape 17"/>
          <p:cNvSpPr/>
          <p:nvPr/>
        </p:nvSpPr>
        <p:spPr>
          <a:xfrm>
            <a:off x="8852045" y="1371600"/>
            <a:ext cx="822960" cy="822960"/>
          </a:xfrm>
          <a:prstGeom prst="ellipse">
            <a:avLst/>
          </a:prstGeom>
          <a:solidFill>
            <a:srgbClr val="D7E6F5"/>
          </a:solidFill>
          <a:ln w="12700">
            <a:solidFill>
              <a:srgbClr val="142850"/>
            </a:solidFill>
            <a:prstDash val="solid"/>
          </a:ln>
        </p:spPr>
      </p:sp>
      <p:pic>
        <p:nvPicPr>
          <p:cNvPr id="25" name="Image 5" descr="preencoded.png">    </p:cNvPr>
          <p:cNvPicPr>
            <a:picLocks noChangeAspect="1"/>
          </p:cNvPicPr>
          <p:nvPr/>
        </p:nvPicPr>
        <p:blipFill>
          <a:blip r:embed="rId6"/>
          <a:stretch>
            <a:fillRect/>
          </a:stretch>
        </p:blipFill>
        <p:spPr>
          <a:xfrm>
            <a:off x="9007493" y="1527048"/>
            <a:ext cx="512064" cy="512064"/>
          </a:xfrm>
          <a:prstGeom prst="rect">
            <a:avLst/>
          </a:prstGeom>
        </p:spPr>
      </p:pic>
      <p:sp>
        <p:nvSpPr>
          <p:cNvPr id="26" name="Text 18"/>
          <p:cNvSpPr/>
          <p:nvPr/>
        </p:nvSpPr>
        <p:spPr>
          <a:xfrm>
            <a:off x="8516983" y="2331720"/>
            <a:ext cx="1493085" cy="640080"/>
          </a:xfrm>
          <a:prstGeom prst="rect">
            <a:avLst/>
          </a:prstGeom>
          <a:noFill/>
          <a:ln/>
        </p:spPr>
        <p:txBody>
          <a:bodyPr wrap="square" rtlCol="0" anchor="ctr"/>
          <a:lstStyle/>
          <a:p>
            <a:pPr algn="ctr" indent="0" marL="0">
              <a:buNone/>
            </a:pPr>
            <a:r>
              <a:rPr lang="en-US" sz="1200" b="1" dirty="0">
                <a:solidFill>
                  <a:srgbClr val="142850"/>
                </a:solidFill>
                <a:latin typeface="Calibri" pitchFamily="34" charset="0"/>
                <a:ea typeface="Calibri" pitchFamily="34" charset="-122"/>
                <a:cs typeface="Calibri" pitchFamily="34" charset="-120"/>
              </a:rPr>
              <a:t>BI Dashboard</a:t>
            </a:r>
            <a:endParaRPr lang="en-US" sz="1200" dirty="0"/>
          </a:p>
        </p:txBody>
      </p:sp>
      <p:sp>
        <p:nvSpPr>
          <p:cNvPr id="27" name="Text 19"/>
          <p:cNvSpPr/>
          <p:nvPr/>
        </p:nvSpPr>
        <p:spPr>
          <a:xfrm>
            <a:off x="9763179" y="1600200"/>
            <a:ext cx="457200" cy="548640"/>
          </a:xfrm>
          <a:prstGeom prst="rect">
            <a:avLst/>
          </a:prstGeom>
          <a:noFill/>
          <a:ln/>
        </p:spPr>
        <p:txBody>
          <a:bodyPr wrap="square" rtlCol="0" anchor="ctr"/>
          <a:lstStyle/>
          <a:p>
            <a:pPr algn="ctr" indent="0" marL="0">
              <a:buNone/>
            </a:pPr>
            <a:r>
              <a:rPr lang="en-US" sz="2000" dirty="0">
                <a:solidFill>
                  <a:srgbClr val="6E8CAE"/>
                </a:solidFill>
              </a:rPr>
              <a:t>→</a:t>
            </a:r>
            <a:endParaRPr lang="en-US" sz="2000" dirty="0"/>
          </a:p>
        </p:txBody>
      </p:sp>
      <p:sp>
        <p:nvSpPr>
          <p:cNvPr id="28" name="Shape 20"/>
          <p:cNvSpPr/>
          <p:nvPr/>
        </p:nvSpPr>
        <p:spPr>
          <a:xfrm>
            <a:off x="10436570" y="1371600"/>
            <a:ext cx="822960" cy="822960"/>
          </a:xfrm>
          <a:prstGeom prst="ellipse">
            <a:avLst/>
          </a:prstGeom>
          <a:solidFill>
            <a:srgbClr val="D7E6F5"/>
          </a:solidFill>
          <a:ln w="12700">
            <a:solidFill>
              <a:srgbClr val="142850"/>
            </a:solidFill>
            <a:prstDash val="solid"/>
          </a:ln>
        </p:spPr>
      </p:sp>
      <p:pic>
        <p:nvPicPr>
          <p:cNvPr id="29" name="Image 6" descr="preencoded.png">    </p:cNvPr>
          <p:cNvPicPr>
            <a:picLocks noChangeAspect="1"/>
          </p:cNvPicPr>
          <p:nvPr/>
        </p:nvPicPr>
        <p:blipFill>
          <a:blip r:embed="rId7"/>
          <a:stretch>
            <a:fillRect/>
          </a:stretch>
        </p:blipFill>
        <p:spPr>
          <a:xfrm>
            <a:off x="10592018" y="1527048"/>
            <a:ext cx="512064" cy="512064"/>
          </a:xfrm>
          <a:prstGeom prst="rect">
            <a:avLst/>
          </a:prstGeom>
        </p:spPr>
      </p:pic>
      <p:sp>
        <p:nvSpPr>
          <p:cNvPr id="30" name="Text 21"/>
          <p:cNvSpPr/>
          <p:nvPr/>
        </p:nvSpPr>
        <p:spPr>
          <a:xfrm>
            <a:off x="10101507" y="2331720"/>
            <a:ext cx="1493085" cy="640080"/>
          </a:xfrm>
          <a:prstGeom prst="rect">
            <a:avLst/>
          </a:prstGeom>
          <a:noFill/>
          <a:ln/>
        </p:spPr>
        <p:txBody>
          <a:bodyPr wrap="square" rtlCol="0" anchor="ctr"/>
          <a:lstStyle/>
          <a:p>
            <a:pPr algn="ctr" indent="0" marL="0">
              <a:buNone/>
            </a:pPr>
            <a:r>
              <a:rPr lang="en-US" sz="1200" b="1" dirty="0">
                <a:solidFill>
                  <a:srgbClr val="142850"/>
                </a:solidFill>
                <a:latin typeface="Calibri" pitchFamily="34" charset="0"/>
                <a:ea typeface="Calibri" pitchFamily="34" charset="-122"/>
                <a:cs typeface="Calibri" pitchFamily="34" charset="-120"/>
              </a:rPr>
              <a:t>Recommendations &amp; Conclusion</a:t>
            </a:r>
            <a:endParaRPr lang="en-US" sz="1200" dirty="0"/>
          </a:p>
        </p:txBody>
      </p:sp>
      <p:sp>
        <p:nvSpPr>
          <p:cNvPr id="31" name="Shape 22"/>
          <p:cNvSpPr/>
          <p:nvPr/>
        </p:nvSpPr>
        <p:spPr>
          <a:xfrm>
            <a:off x="548640" y="3383280"/>
            <a:ext cx="5394960" cy="2834640"/>
          </a:xfrm>
          <a:prstGeom prst="roundRect">
            <a:avLst>
              <a:gd name="adj" fmla="val 2258"/>
            </a:avLst>
          </a:prstGeom>
          <a:solidFill>
            <a:srgbClr val="F4F7FB"/>
          </a:solidFill>
          <a:ln/>
          <a:effectLst>
            <a:outerShdw sx="100000" sy="100000" kx="0" ky="0" algn="bl" rotWithShape="0" blurRad="76200" dist="25400" dir="2700000">
              <a:srgbClr val="000000">
                <a:alpha val="10000"/>
              </a:srgbClr>
            </a:outerShdw>
          </a:effectLst>
        </p:spPr>
      </p:sp>
      <p:sp>
        <p:nvSpPr>
          <p:cNvPr id="32" name="Text 23"/>
          <p:cNvSpPr/>
          <p:nvPr/>
        </p:nvSpPr>
        <p:spPr>
          <a:xfrm>
            <a:off x="822960" y="3566160"/>
            <a:ext cx="4572000" cy="320040"/>
          </a:xfrm>
          <a:prstGeom prst="rect">
            <a:avLst/>
          </a:prstGeom>
          <a:noFill/>
          <a:ln/>
        </p:spPr>
        <p:txBody>
          <a:bodyPr wrap="square" rtlCol="0" anchor="ctr"/>
          <a:lstStyle/>
          <a:p>
            <a:pPr indent="0" marL="0">
              <a:buNone/>
            </a:pPr>
            <a:r>
              <a:rPr lang="en-US" sz="1500" b="1" dirty="0">
                <a:solidFill>
                  <a:srgbClr val="142850"/>
                </a:solidFill>
                <a:latin typeface="Cambria" pitchFamily="34" charset="0"/>
                <a:ea typeface="Cambria" pitchFamily="34" charset="-122"/>
                <a:cs typeface="Cambria" pitchFamily="34" charset="-120"/>
              </a:rPr>
              <a:t>Sections Covered</a:t>
            </a:r>
            <a:endParaRPr lang="en-US" sz="1500" dirty="0"/>
          </a:p>
        </p:txBody>
      </p:sp>
      <p:sp>
        <p:nvSpPr>
          <p:cNvPr id="33" name="Text 24"/>
          <p:cNvSpPr/>
          <p:nvPr/>
        </p:nvSpPr>
        <p:spPr>
          <a:xfrm>
            <a:off x="822960" y="3931920"/>
            <a:ext cx="4937760" cy="2194560"/>
          </a:xfrm>
          <a:prstGeom prst="rect">
            <a:avLst/>
          </a:prstGeom>
          <a:noFill/>
          <a:ln/>
        </p:spPr>
        <p:txBody>
          <a:bodyPr wrap="square" rtlCol="0" anchor="t"/>
          <a:lstStyle/>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Business Problem &amp; Project Objectives</a:t>
            </a:r>
            <a:endParaRPr lang="en-US" sz="1250" dirty="0"/>
          </a:p>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Dataset Description &amp; Project Workflow</a:t>
            </a:r>
            <a:endParaRPr lang="en-US" sz="1250" dirty="0"/>
          </a:p>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Excel Cleaning &amp; SQL Exploratory Analysis</a:t>
            </a:r>
            <a:endParaRPr lang="en-US" sz="1250" dirty="0"/>
          </a:p>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Python Analysis &amp; Key Statistical Findings</a:t>
            </a:r>
            <a:endParaRPr lang="en-US" sz="1250" dirty="0"/>
          </a:p>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Model Development, Evaluation &amp; Comparison, Feature Importance</a:t>
            </a:r>
            <a:endParaRPr lang="en-US" sz="1250" dirty="0"/>
          </a:p>
        </p:txBody>
      </p:sp>
      <p:sp>
        <p:nvSpPr>
          <p:cNvPr id="34" name="Shape 25"/>
          <p:cNvSpPr/>
          <p:nvPr/>
        </p:nvSpPr>
        <p:spPr>
          <a:xfrm>
            <a:off x="6217920" y="3383280"/>
            <a:ext cx="5394960" cy="2834640"/>
          </a:xfrm>
          <a:prstGeom prst="roundRect">
            <a:avLst>
              <a:gd name="adj" fmla="val 2258"/>
            </a:avLst>
          </a:prstGeom>
          <a:solidFill>
            <a:srgbClr val="F4F7FB"/>
          </a:solidFill>
          <a:ln/>
          <a:effectLst>
            <a:outerShdw sx="100000" sy="100000" kx="0" ky="0" algn="bl" rotWithShape="0" blurRad="76200" dist="25400" dir="2700000">
              <a:srgbClr val="000000">
                <a:alpha val="10000"/>
              </a:srgbClr>
            </a:outerShdw>
          </a:effectLst>
        </p:spPr>
      </p:sp>
      <p:sp>
        <p:nvSpPr>
          <p:cNvPr id="35" name="Text 26"/>
          <p:cNvSpPr/>
          <p:nvPr/>
        </p:nvSpPr>
        <p:spPr>
          <a:xfrm>
            <a:off x="6492240" y="3566160"/>
            <a:ext cx="4572000" cy="320040"/>
          </a:xfrm>
          <a:prstGeom prst="rect">
            <a:avLst/>
          </a:prstGeom>
          <a:noFill/>
          <a:ln/>
        </p:spPr>
        <p:txBody>
          <a:bodyPr wrap="square" rtlCol="0" anchor="ctr"/>
          <a:lstStyle/>
          <a:p>
            <a:pPr indent="0" marL="0">
              <a:buNone/>
            </a:pPr>
            <a:r>
              <a:rPr lang="en-US" sz="1500" b="1" dirty="0">
                <a:solidFill>
                  <a:srgbClr val="142850"/>
                </a:solidFill>
                <a:latin typeface="Cambria" pitchFamily="34" charset="0"/>
                <a:ea typeface="Cambria" pitchFamily="34" charset="-122"/>
                <a:cs typeface="Cambria" pitchFamily="34" charset="-120"/>
              </a:rPr>
              <a:t>Sections Covered</a:t>
            </a:r>
            <a:endParaRPr lang="en-US" sz="1500" dirty="0"/>
          </a:p>
        </p:txBody>
      </p:sp>
      <p:sp>
        <p:nvSpPr>
          <p:cNvPr id="36" name="Text 27"/>
          <p:cNvSpPr/>
          <p:nvPr/>
        </p:nvSpPr>
        <p:spPr>
          <a:xfrm>
            <a:off x="6492240" y="3931920"/>
            <a:ext cx="4937760" cy="2194560"/>
          </a:xfrm>
          <a:prstGeom prst="rect">
            <a:avLst/>
          </a:prstGeom>
          <a:noFill/>
          <a:ln/>
        </p:spPr>
        <p:txBody>
          <a:bodyPr wrap="square" rtlCol="0" anchor="t"/>
          <a:lstStyle/>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Power BI Dashboard Walkthrough &amp; Portfolio Insights</a:t>
            </a:r>
            <a:endParaRPr lang="en-US" sz="1250" dirty="0"/>
          </a:p>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Key Findings &amp; Strategic Recommendations</a:t>
            </a:r>
            <a:endParaRPr lang="en-US" sz="1250" dirty="0"/>
          </a:p>
          <a:p>
            <a:pPr marL="342900" indent="-342900">
              <a:spcAft>
                <a:spcPts val="800"/>
              </a:spcAft>
              <a:buSzPct val="100000"/>
              <a:buChar char="•"/>
            </a:pPr>
            <a:r>
              <a:rPr lang="en-US" sz="1250" dirty="0">
                <a:solidFill>
                  <a:srgbClr val="1F2937"/>
                </a:solidFill>
                <a:latin typeface="Calibri" pitchFamily="34" charset="0"/>
                <a:ea typeface="Calibri" pitchFamily="34" charset="-122"/>
                <a:cs typeface="Calibri" pitchFamily="34" charset="-120"/>
              </a:rPr>
              <a:t>Conclusion &amp; Future Improvements</a:t>
            </a:r>
            <a:endParaRPr lang="en-US" sz="1250" dirty="0"/>
          </a:p>
        </p:txBody>
      </p:sp>
      <p:sp>
        <p:nvSpPr>
          <p:cNvPr id="37" name="Text 28"/>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Business Problem</a:t>
            </a:r>
            <a:endParaRPr lang="en-US" sz="3200" dirty="0"/>
          </a:p>
        </p:txBody>
      </p:sp>
      <p:sp>
        <p:nvSpPr>
          <p:cNvPr id="4" name="Text 2"/>
          <p:cNvSpPr/>
          <p:nvPr/>
        </p:nvSpPr>
        <p:spPr>
          <a:xfrm>
            <a:off x="548640" y="1417320"/>
            <a:ext cx="5577840" cy="320040"/>
          </a:xfrm>
          <a:prstGeom prst="rect">
            <a:avLst/>
          </a:prstGeom>
          <a:noFill/>
          <a:ln/>
        </p:spPr>
        <p:txBody>
          <a:bodyPr wrap="square" rtlCol="0" anchor="ctr"/>
          <a:lstStyle/>
          <a:p>
            <a:pPr indent="0" marL="0">
              <a:buNone/>
            </a:pPr>
            <a:r>
              <a:rPr lang="en-US" sz="1600" b="1" dirty="0">
                <a:solidFill>
                  <a:srgbClr val="142850"/>
                </a:solidFill>
                <a:latin typeface="Cambria" pitchFamily="34" charset="0"/>
                <a:ea typeface="Cambria" pitchFamily="34" charset="-122"/>
                <a:cs typeface="Cambria" pitchFamily="34" charset="-120"/>
              </a:rPr>
              <a:t>The Challenge</a:t>
            </a:r>
            <a:endParaRPr lang="en-US" sz="1600" dirty="0"/>
          </a:p>
        </p:txBody>
      </p:sp>
      <p:sp>
        <p:nvSpPr>
          <p:cNvPr id="5" name="Text 3"/>
          <p:cNvSpPr/>
          <p:nvPr/>
        </p:nvSpPr>
        <p:spPr>
          <a:xfrm>
            <a:off x="548640" y="1783080"/>
            <a:ext cx="5577840" cy="914400"/>
          </a:xfrm>
          <a:prstGeom prst="rect">
            <a:avLst/>
          </a:prstGeom>
          <a:noFill/>
          <a:ln/>
        </p:spPr>
        <p:txBody>
          <a:bodyPr wrap="square" rtlCol="0" anchor="ctr"/>
          <a:lstStyle/>
          <a:p>
            <a:pPr indent="0" marL="0">
              <a:buNone/>
            </a:pPr>
            <a:r>
              <a:rPr lang="en-US" sz="1250" dirty="0">
                <a:solidFill>
                  <a:srgbClr val="1F2937"/>
                </a:solidFill>
                <a:latin typeface="Calibri" pitchFamily="34" charset="0"/>
                <a:ea typeface="Calibri" pitchFamily="34" charset="-122"/>
                <a:cs typeface="Calibri" pitchFamily="34" charset="-120"/>
              </a:rPr>
              <a:t>Financial institutions face increasing pressure to expand lending while minimizing the risk of borrower default. Poor credit risk assessment can lead to financial losses, reduced portfolio quality, and inefficient lending decisions.</a:t>
            </a:r>
            <a:endParaRPr lang="en-US" sz="1250" dirty="0"/>
          </a:p>
        </p:txBody>
      </p:sp>
      <p:sp>
        <p:nvSpPr>
          <p:cNvPr id="6" name="Text 4"/>
          <p:cNvSpPr/>
          <p:nvPr/>
        </p:nvSpPr>
        <p:spPr>
          <a:xfrm>
            <a:off x="548640" y="2788920"/>
            <a:ext cx="5577840" cy="320040"/>
          </a:xfrm>
          <a:prstGeom prst="rect">
            <a:avLst/>
          </a:prstGeom>
          <a:noFill/>
          <a:ln/>
        </p:spPr>
        <p:txBody>
          <a:bodyPr wrap="square" rtlCol="0" anchor="ctr"/>
          <a:lstStyle/>
          <a:p>
            <a:pPr indent="0" marL="0">
              <a:buNone/>
            </a:pPr>
            <a:r>
              <a:rPr lang="en-US" sz="1600" b="1" dirty="0">
                <a:solidFill>
                  <a:srgbClr val="142850"/>
                </a:solidFill>
                <a:latin typeface="Cambria" pitchFamily="34" charset="0"/>
                <a:ea typeface="Cambria" pitchFamily="34" charset="-122"/>
                <a:cs typeface="Cambria" pitchFamily="34" charset="-120"/>
              </a:rPr>
              <a:t>Key Challenges</a:t>
            </a:r>
            <a:endParaRPr lang="en-US" sz="1600" dirty="0"/>
          </a:p>
        </p:txBody>
      </p:sp>
      <p:sp>
        <p:nvSpPr>
          <p:cNvPr id="7" name="Text 5"/>
          <p:cNvSpPr/>
          <p:nvPr/>
        </p:nvSpPr>
        <p:spPr>
          <a:xfrm>
            <a:off x="548640" y="3154680"/>
            <a:ext cx="5577840" cy="1920240"/>
          </a:xfrm>
          <a:prstGeom prst="rect">
            <a:avLst/>
          </a:prstGeom>
          <a:noFill/>
          <a:ln/>
        </p:spPr>
        <p:txBody>
          <a:bodyPr wrap="square" rtlCol="0" anchor="t"/>
          <a:lstStyle/>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Difficulty identifying high-risk borrowers before loan approval</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Highly imbalanced loan portfolios where default cases are rare but financially significant</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Traditional assessment methods may overlook important borrower and credit characteristics</a:t>
            </a:r>
            <a:endParaRPr lang="en-US" sz="1200" dirty="0"/>
          </a:p>
          <a:p>
            <a:pPr marL="342900" indent="-342900">
              <a:spcAft>
                <a:spcPts val="800"/>
              </a:spcAft>
              <a:buSzPct val="100000"/>
              <a:buChar char="•"/>
            </a:pPr>
            <a:r>
              <a:rPr lang="en-US" sz="1200" dirty="0">
                <a:solidFill>
                  <a:srgbClr val="1F2937"/>
                </a:solidFill>
                <a:latin typeface="Calibri" pitchFamily="34" charset="0"/>
                <a:ea typeface="Calibri" pitchFamily="34" charset="-122"/>
                <a:cs typeface="Calibri" pitchFamily="34" charset="-120"/>
              </a:rPr>
              <a:t>Need for data-driven insights to improve lending decisions and portfolio monitoring</a:t>
            </a:r>
            <a:endParaRPr lang="en-US" sz="1200" dirty="0"/>
          </a:p>
        </p:txBody>
      </p:sp>
      <p:sp>
        <p:nvSpPr>
          <p:cNvPr id="8" name="Shape 6"/>
          <p:cNvSpPr/>
          <p:nvPr/>
        </p:nvSpPr>
        <p:spPr>
          <a:xfrm>
            <a:off x="6675120" y="1417320"/>
            <a:ext cx="4937760" cy="658368"/>
          </a:xfrm>
          <a:prstGeom prst="roundRect">
            <a:avLst>
              <a:gd name="adj" fmla="val 9722"/>
            </a:avLst>
          </a:prstGeom>
          <a:solidFill>
            <a:srgbClr val="D7E6F5"/>
          </a:solidFill>
          <a:ln/>
          <a:effectLst>
            <a:outerShdw sx="100000" sy="100000" kx="0" ky="0" algn="bl" rotWithShape="0" blurRad="76200" dist="25400" dir="2700000">
              <a:srgbClr val="000000">
                <a:alpha val="10000"/>
              </a:srgbClr>
            </a:outerShdw>
          </a:effectLst>
        </p:spPr>
      </p:sp>
      <p:sp>
        <p:nvSpPr>
          <p:cNvPr id="9" name="Text 7"/>
          <p:cNvSpPr/>
          <p:nvPr/>
        </p:nvSpPr>
        <p:spPr>
          <a:xfrm>
            <a:off x="6675120" y="1417320"/>
            <a:ext cx="4937760" cy="658368"/>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Loan Application</a:t>
            </a:r>
            <a:endParaRPr lang="en-US" sz="1300" dirty="0"/>
          </a:p>
        </p:txBody>
      </p:sp>
      <p:sp>
        <p:nvSpPr>
          <p:cNvPr id="10" name="Text 8"/>
          <p:cNvSpPr/>
          <p:nvPr/>
        </p:nvSpPr>
        <p:spPr>
          <a:xfrm>
            <a:off x="8869680" y="2057400"/>
            <a:ext cx="548640" cy="292608"/>
          </a:xfrm>
          <a:prstGeom prst="rect">
            <a:avLst/>
          </a:prstGeom>
          <a:noFill/>
          <a:ln/>
        </p:spPr>
        <p:txBody>
          <a:bodyPr wrap="square" rtlCol="0" anchor="ctr"/>
          <a:lstStyle/>
          <a:p>
            <a:pPr algn="ctr" indent="0" marL="0">
              <a:buNone/>
            </a:pPr>
            <a:r>
              <a:rPr lang="en-US" sz="1600" dirty="0">
                <a:solidFill>
                  <a:srgbClr val="E08A2C"/>
                </a:solidFill>
              </a:rPr>
              <a:t>↓</a:t>
            </a:r>
            <a:endParaRPr lang="en-US" sz="1600" dirty="0"/>
          </a:p>
        </p:txBody>
      </p:sp>
      <p:sp>
        <p:nvSpPr>
          <p:cNvPr id="11" name="Shape 9"/>
          <p:cNvSpPr/>
          <p:nvPr/>
        </p:nvSpPr>
        <p:spPr>
          <a:xfrm>
            <a:off x="6675120" y="2276856"/>
            <a:ext cx="4937760" cy="658368"/>
          </a:xfrm>
          <a:prstGeom prst="roundRect">
            <a:avLst>
              <a:gd name="adj" fmla="val 9722"/>
            </a:avLst>
          </a:prstGeom>
          <a:solidFill>
            <a:srgbClr val="D7E6F5"/>
          </a:solidFill>
          <a:ln/>
          <a:effectLst>
            <a:outerShdw sx="100000" sy="100000" kx="0" ky="0" algn="bl" rotWithShape="0" blurRad="76200" dist="25400" dir="2700000">
              <a:srgbClr val="000000">
                <a:alpha val="10000"/>
              </a:srgbClr>
            </a:outerShdw>
          </a:effectLst>
        </p:spPr>
      </p:sp>
      <p:sp>
        <p:nvSpPr>
          <p:cNvPr id="12" name="Text 10"/>
          <p:cNvSpPr/>
          <p:nvPr/>
        </p:nvSpPr>
        <p:spPr>
          <a:xfrm>
            <a:off x="6675120" y="2276856"/>
            <a:ext cx="4937760" cy="658368"/>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Borrower Assessment</a:t>
            </a:r>
            <a:endParaRPr lang="en-US" sz="1300" dirty="0"/>
          </a:p>
        </p:txBody>
      </p:sp>
      <p:sp>
        <p:nvSpPr>
          <p:cNvPr id="13" name="Text 11"/>
          <p:cNvSpPr/>
          <p:nvPr/>
        </p:nvSpPr>
        <p:spPr>
          <a:xfrm>
            <a:off x="8869680" y="2916936"/>
            <a:ext cx="548640" cy="292608"/>
          </a:xfrm>
          <a:prstGeom prst="rect">
            <a:avLst/>
          </a:prstGeom>
          <a:noFill/>
          <a:ln/>
        </p:spPr>
        <p:txBody>
          <a:bodyPr wrap="square" rtlCol="0" anchor="ctr"/>
          <a:lstStyle/>
          <a:p>
            <a:pPr algn="ctr" indent="0" marL="0">
              <a:buNone/>
            </a:pPr>
            <a:r>
              <a:rPr lang="en-US" sz="1600" dirty="0">
                <a:solidFill>
                  <a:srgbClr val="E08A2C"/>
                </a:solidFill>
              </a:rPr>
              <a:t>↓</a:t>
            </a:r>
            <a:endParaRPr lang="en-US" sz="1600" dirty="0"/>
          </a:p>
        </p:txBody>
      </p:sp>
      <p:sp>
        <p:nvSpPr>
          <p:cNvPr id="14" name="Shape 12"/>
          <p:cNvSpPr/>
          <p:nvPr/>
        </p:nvSpPr>
        <p:spPr>
          <a:xfrm>
            <a:off x="6675120" y="3136392"/>
            <a:ext cx="4937760" cy="658368"/>
          </a:xfrm>
          <a:prstGeom prst="roundRect">
            <a:avLst>
              <a:gd name="adj" fmla="val 9722"/>
            </a:avLst>
          </a:prstGeom>
          <a:solidFill>
            <a:srgbClr val="D7E6F5"/>
          </a:solidFill>
          <a:ln/>
          <a:effectLst>
            <a:outerShdw sx="100000" sy="100000" kx="0" ky="0" algn="bl" rotWithShape="0" blurRad="76200" dist="25400" dir="2700000">
              <a:srgbClr val="000000">
                <a:alpha val="10000"/>
              </a:srgbClr>
            </a:outerShdw>
          </a:effectLst>
        </p:spPr>
      </p:sp>
      <p:sp>
        <p:nvSpPr>
          <p:cNvPr id="15" name="Text 13"/>
          <p:cNvSpPr/>
          <p:nvPr/>
        </p:nvSpPr>
        <p:spPr>
          <a:xfrm>
            <a:off x="6675120" y="3136392"/>
            <a:ext cx="4937760" cy="658368"/>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Credit Risk Analysis</a:t>
            </a:r>
            <a:endParaRPr lang="en-US" sz="1300" dirty="0"/>
          </a:p>
        </p:txBody>
      </p:sp>
      <p:sp>
        <p:nvSpPr>
          <p:cNvPr id="16" name="Text 14"/>
          <p:cNvSpPr/>
          <p:nvPr/>
        </p:nvSpPr>
        <p:spPr>
          <a:xfrm>
            <a:off x="8869680" y="3776472"/>
            <a:ext cx="548640" cy="292608"/>
          </a:xfrm>
          <a:prstGeom prst="rect">
            <a:avLst/>
          </a:prstGeom>
          <a:noFill/>
          <a:ln/>
        </p:spPr>
        <p:txBody>
          <a:bodyPr wrap="square" rtlCol="0" anchor="ctr"/>
          <a:lstStyle/>
          <a:p>
            <a:pPr algn="ctr" indent="0" marL="0">
              <a:buNone/>
            </a:pPr>
            <a:r>
              <a:rPr lang="en-US" sz="1600" dirty="0">
                <a:solidFill>
                  <a:srgbClr val="E08A2C"/>
                </a:solidFill>
              </a:rPr>
              <a:t>↓</a:t>
            </a:r>
            <a:endParaRPr lang="en-US" sz="1600" dirty="0"/>
          </a:p>
        </p:txBody>
      </p:sp>
      <p:sp>
        <p:nvSpPr>
          <p:cNvPr id="17" name="Shape 15"/>
          <p:cNvSpPr/>
          <p:nvPr/>
        </p:nvSpPr>
        <p:spPr>
          <a:xfrm>
            <a:off x="6675120" y="3995928"/>
            <a:ext cx="4937760" cy="658368"/>
          </a:xfrm>
          <a:prstGeom prst="roundRect">
            <a:avLst>
              <a:gd name="adj" fmla="val 9722"/>
            </a:avLst>
          </a:prstGeom>
          <a:solidFill>
            <a:srgbClr val="D7E6F5"/>
          </a:solidFill>
          <a:ln/>
          <a:effectLst>
            <a:outerShdw sx="100000" sy="100000" kx="0" ky="0" algn="bl" rotWithShape="0" blurRad="76200" dist="25400" dir="2700000">
              <a:srgbClr val="000000">
                <a:alpha val="10000"/>
              </a:srgbClr>
            </a:outerShdw>
          </a:effectLst>
        </p:spPr>
      </p:sp>
      <p:sp>
        <p:nvSpPr>
          <p:cNvPr id="18" name="Text 16"/>
          <p:cNvSpPr/>
          <p:nvPr/>
        </p:nvSpPr>
        <p:spPr>
          <a:xfrm>
            <a:off x="6675120" y="3995928"/>
            <a:ext cx="4937760" cy="658368"/>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Prediction</a:t>
            </a:r>
            <a:endParaRPr lang="en-US" sz="1300" dirty="0"/>
          </a:p>
        </p:txBody>
      </p:sp>
      <p:sp>
        <p:nvSpPr>
          <p:cNvPr id="19" name="Text 17"/>
          <p:cNvSpPr/>
          <p:nvPr/>
        </p:nvSpPr>
        <p:spPr>
          <a:xfrm>
            <a:off x="8869680" y="4636008"/>
            <a:ext cx="548640" cy="292608"/>
          </a:xfrm>
          <a:prstGeom prst="rect">
            <a:avLst/>
          </a:prstGeom>
          <a:noFill/>
          <a:ln/>
        </p:spPr>
        <p:txBody>
          <a:bodyPr wrap="square" rtlCol="0" anchor="ctr"/>
          <a:lstStyle/>
          <a:p>
            <a:pPr algn="ctr" indent="0" marL="0">
              <a:buNone/>
            </a:pPr>
            <a:r>
              <a:rPr lang="en-US" sz="1600" dirty="0">
                <a:solidFill>
                  <a:srgbClr val="E08A2C"/>
                </a:solidFill>
              </a:rPr>
              <a:t>↓</a:t>
            </a:r>
            <a:endParaRPr lang="en-US" sz="1600" dirty="0"/>
          </a:p>
        </p:txBody>
      </p:sp>
      <p:sp>
        <p:nvSpPr>
          <p:cNvPr id="20" name="Shape 18"/>
          <p:cNvSpPr/>
          <p:nvPr/>
        </p:nvSpPr>
        <p:spPr>
          <a:xfrm>
            <a:off x="6675120" y="4855464"/>
            <a:ext cx="4937760" cy="658368"/>
          </a:xfrm>
          <a:prstGeom prst="roundRect">
            <a:avLst>
              <a:gd name="adj" fmla="val 9722"/>
            </a:avLst>
          </a:prstGeom>
          <a:solidFill>
            <a:srgbClr val="142850"/>
          </a:solidFill>
          <a:ln/>
          <a:effectLst>
            <a:outerShdw sx="100000" sy="100000" kx="0" ky="0" algn="bl" rotWithShape="0" blurRad="76200" dist="25400" dir="2700000">
              <a:srgbClr val="000000">
                <a:alpha val="10000"/>
              </a:srgbClr>
            </a:outerShdw>
          </a:effectLst>
        </p:spPr>
      </p:sp>
      <p:sp>
        <p:nvSpPr>
          <p:cNvPr id="21" name="Text 19"/>
          <p:cNvSpPr/>
          <p:nvPr/>
        </p:nvSpPr>
        <p:spPr>
          <a:xfrm>
            <a:off x="6675120" y="4855464"/>
            <a:ext cx="4937760" cy="658368"/>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Approve / Decline</a:t>
            </a:r>
            <a:endParaRPr lang="en-US" sz="1300" dirty="0"/>
          </a:p>
        </p:txBody>
      </p:sp>
      <p:sp>
        <p:nvSpPr>
          <p:cNvPr id="22" name="Shape 20"/>
          <p:cNvSpPr/>
          <p:nvPr/>
        </p:nvSpPr>
        <p:spPr>
          <a:xfrm>
            <a:off x="548640" y="5623560"/>
            <a:ext cx="11064240" cy="777240"/>
          </a:xfrm>
          <a:prstGeom prst="roundRect">
            <a:avLst>
              <a:gd name="adj" fmla="val 7059"/>
            </a:avLst>
          </a:prstGeom>
          <a:solidFill>
            <a:srgbClr val="142850"/>
          </a:solidFill>
          <a:ln/>
          <a:effectLst>
            <a:outerShdw sx="100000" sy="100000" kx="0" ky="0" algn="bl" rotWithShape="0" blurRad="76200" dist="25400" dir="2700000">
              <a:srgbClr val="000000">
                <a:alpha val="15000"/>
              </a:srgbClr>
            </a:outerShdw>
          </a:effectLst>
        </p:spPr>
      </p:sp>
      <p:sp>
        <p:nvSpPr>
          <p:cNvPr id="23" name="Text 21"/>
          <p:cNvSpPr/>
          <p:nvPr/>
        </p:nvSpPr>
        <p:spPr>
          <a:xfrm>
            <a:off x="777240" y="5715000"/>
            <a:ext cx="10607040" cy="59436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Objective: Use historical loan data to improve credit risk assessment, identify high-risk borrowers, and support data-driven lending decisions.</a:t>
            </a:r>
            <a:endParaRPr lang="en-US" sz="1300" dirty="0"/>
          </a:p>
        </p:txBody>
      </p:sp>
      <p:sp>
        <p:nvSpPr>
          <p:cNvPr id="24" name="Text 22"/>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Project Objectives</a:t>
            </a:r>
            <a:endParaRPr lang="en-US" sz="3200" dirty="0"/>
          </a:p>
        </p:txBody>
      </p:sp>
      <p:sp>
        <p:nvSpPr>
          <p:cNvPr id="4" name="Shape 2"/>
          <p:cNvSpPr/>
          <p:nvPr/>
        </p:nvSpPr>
        <p:spPr>
          <a:xfrm>
            <a:off x="548640" y="1417320"/>
            <a:ext cx="4023360" cy="4206240"/>
          </a:xfrm>
          <a:prstGeom prst="roundRect">
            <a:avLst>
              <a:gd name="adj" fmla="val 1591"/>
            </a:avLst>
          </a:prstGeom>
          <a:solidFill>
            <a:srgbClr val="F4F7FB"/>
          </a:solidFill>
          <a:ln/>
          <a:effectLst>
            <a:outerShdw sx="100000" sy="100000" kx="0" ky="0" algn="bl" rotWithShape="0" blurRad="76200" dist="25400" dir="2700000">
              <a:srgbClr val="000000">
                <a:alpha val="10000"/>
              </a:srgbClr>
            </a:outerShdw>
          </a:effectLst>
        </p:spPr>
      </p:sp>
      <p:sp>
        <p:nvSpPr>
          <p:cNvPr id="5" name="Text 3"/>
          <p:cNvSpPr/>
          <p:nvPr/>
        </p:nvSpPr>
        <p:spPr>
          <a:xfrm>
            <a:off x="777240" y="1600200"/>
            <a:ext cx="3566160" cy="548640"/>
          </a:xfrm>
          <a:prstGeom prst="rect">
            <a:avLst/>
          </a:prstGeom>
          <a:noFill/>
          <a:ln/>
        </p:spPr>
        <p:txBody>
          <a:bodyPr wrap="square" rtlCol="0" anchor="ctr"/>
          <a:lstStyle/>
          <a:p>
            <a:pPr indent="0" marL="0">
              <a:buNone/>
            </a:pPr>
            <a:r>
              <a:rPr lang="en-US" sz="1400" b="1" dirty="0">
                <a:solidFill>
                  <a:srgbClr val="142850"/>
                </a:solidFill>
                <a:latin typeface="Cambria" pitchFamily="34" charset="0"/>
                <a:ea typeface="Cambria" pitchFamily="34" charset="-122"/>
                <a:cs typeface="Cambria" pitchFamily="34" charset="-120"/>
              </a:rPr>
              <a:t>Primary Objective</a:t>
            </a:r>
            <a:endParaRPr lang="en-US" sz="1400" dirty="0"/>
          </a:p>
        </p:txBody>
      </p:sp>
      <p:sp>
        <p:nvSpPr>
          <p:cNvPr id="6" name="Text 4"/>
          <p:cNvSpPr/>
          <p:nvPr/>
        </p:nvSpPr>
        <p:spPr>
          <a:xfrm>
            <a:off x="777240" y="2103120"/>
            <a:ext cx="3566160" cy="146304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Perform a comprehensive analysis of loan performance and credit risk by integrating data cleaning, exploratory data analysis, business intelligence, and machine learning techniques to support data-driven lending decisions.</a:t>
            </a:r>
            <a:endParaRPr lang="en-US" sz="1150" dirty="0"/>
          </a:p>
        </p:txBody>
      </p:sp>
      <p:sp>
        <p:nvSpPr>
          <p:cNvPr id="7" name="Text 5"/>
          <p:cNvSpPr/>
          <p:nvPr/>
        </p:nvSpPr>
        <p:spPr>
          <a:xfrm>
            <a:off x="868680" y="3657600"/>
            <a:ext cx="3383280" cy="292608"/>
          </a:xfrm>
          <a:prstGeom prst="rect">
            <a:avLst/>
          </a:prstGeom>
          <a:noFill/>
          <a:ln/>
        </p:spPr>
        <p:txBody>
          <a:bodyPr wrap="square" rtlCol="0" anchor="ctr"/>
          <a:lstStyle/>
          <a:p>
            <a:pPr indent="0" marL="0">
              <a:buNone/>
            </a:pPr>
            <a:r>
              <a:rPr lang="en-US" sz="1150" b="1" dirty="0">
                <a:solidFill>
                  <a:srgbClr val="142850"/>
                </a:solidFill>
                <a:latin typeface="Calibri" pitchFamily="34" charset="0"/>
                <a:ea typeface="Calibri" pitchFamily="34" charset="-122"/>
                <a:cs typeface="Calibri" pitchFamily="34" charset="-120"/>
              </a:rPr>
              <a:t>1.  Raw Data</a:t>
            </a:r>
            <a:endParaRPr lang="en-US" sz="1150" dirty="0"/>
          </a:p>
        </p:txBody>
      </p:sp>
      <p:sp>
        <p:nvSpPr>
          <p:cNvPr id="8" name="Text 6"/>
          <p:cNvSpPr/>
          <p:nvPr/>
        </p:nvSpPr>
        <p:spPr>
          <a:xfrm>
            <a:off x="868680" y="3977640"/>
            <a:ext cx="3383280" cy="292608"/>
          </a:xfrm>
          <a:prstGeom prst="rect">
            <a:avLst/>
          </a:prstGeom>
          <a:noFill/>
          <a:ln/>
        </p:spPr>
        <p:txBody>
          <a:bodyPr wrap="square" rtlCol="0" anchor="ctr"/>
          <a:lstStyle/>
          <a:p>
            <a:pPr indent="0" marL="0">
              <a:buNone/>
            </a:pPr>
            <a:r>
              <a:rPr lang="en-US" sz="1150" b="1" dirty="0">
                <a:solidFill>
                  <a:srgbClr val="142850"/>
                </a:solidFill>
                <a:latin typeface="Calibri" pitchFamily="34" charset="0"/>
                <a:ea typeface="Calibri" pitchFamily="34" charset="-122"/>
                <a:cs typeface="Calibri" pitchFamily="34" charset="-120"/>
              </a:rPr>
              <a:t>2.  Analysis</a:t>
            </a:r>
            <a:endParaRPr lang="en-US" sz="1150" dirty="0"/>
          </a:p>
        </p:txBody>
      </p:sp>
      <p:sp>
        <p:nvSpPr>
          <p:cNvPr id="9" name="Text 7"/>
          <p:cNvSpPr/>
          <p:nvPr/>
        </p:nvSpPr>
        <p:spPr>
          <a:xfrm>
            <a:off x="868680" y="4297680"/>
            <a:ext cx="3383280" cy="292608"/>
          </a:xfrm>
          <a:prstGeom prst="rect">
            <a:avLst/>
          </a:prstGeom>
          <a:noFill/>
          <a:ln/>
        </p:spPr>
        <p:txBody>
          <a:bodyPr wrap="square" rtlCol="0" anchor="ctr"/>
          <a:lstStyle/>
          <a:p>
            <a:pPr indent="0" marL="0">
              <a:buNone/>
            </a:pPr>
            <a:r>
              <a:rPr lang="en-US" sz="1150" b="1" dirty="0">
                <a:solidFill>
                  <a:srgbClr val="142850"/>
                </a:solidFill>
                <a:latin typeface="Calibri" pitchFamily="34" charset="0"/>
                <a:ea typeface="Calibri" pitchFamily="34" charset="-122"/>
                <a:cs typeface="Calibri" pitchFamily="34" charset="-120"/>
              </a:rPr>
              <a:t>3.  Insights</a:t>
            </a:r>
            <a:endParaRPr lang="en-US" sz="1150" dirty="0"/>
          </a:p>
        </p:txBody>
      </p:sp>
      <p:sp>
        <p:nvSpPr>
          <p:cNvPr id="10" name="Text 8"/>
          <p:cNvSpPr/>
          <p:nvPr/>
        </p:nvSpPr>
        <p:spPr>
          <a:xfrm>
            <a:off x="868680" y="4617720"/>
            <a:ext cx="3383280" cy="292608"/>
          </a:xfrm>
          <a:prstGeom prst="rect">
            <a:avLst/>
          </a:prstGeom>
          <a:noFill/>
          <a:ln/>
        </p:spPr>
        <p:txBody>
          <a:bodyPr wrap="square" rtlCol="0" anchor="ctr"/>
          <a:lstStyle/>
          <a:p>
            <a:pPr indent="0" marL="0">
              <a:buNone/>
            </a:pPr>
            <a:r>
              <a:rPr lang="en-US" sz="1150" b="1" dirty="0">
                <a:solidFill>
                  <a:srgbClr val="142850"/>
                </a:solidFill>
                <a:latin typeface="Calibri" pitchFamily="34" charset="0"/>
                <a:ea typeface="Calibri" pitchFamily="34" charset="-122"/>
                <a:cs typeface="Calibri" pitchFamily="34" charset="-120"/>
              </a:rPr>
              <a:t>4.  Predictions</a:t>
            </a:r>
            <a:endParaRPr lang="en-US" sz="1150" dirty="0"/>
          </a:p>
        </p:txBody>
      </p:sp>
      <p:sp>
        <p:nvSpPr>
          <p:cNvPr id="11" name="Text 9"/>
          <p:cNvSpPr/>
          <p:nvPr/>
        </p:nvSpPr>
        <p:spPr>
          <a:xfrm>
            <a:off x="868680" y="4937760"/>
            <a:ext cx="3383280" cy="292608"/>
          </a:xfrm>
          <a:prstGeom prst="rect">
            <a:avLst/>
          </a:prstGeom>
          <a:noFill/>
          <a:ln/>
        </p:spPr>
        <p:txBody>
          <a:bodyPr wrap="square" rtlCol="0" anchor="ctr"/>
          <a:lstStyle/>
          <a:p>
            <a:pPr indent="0" marL="0">
              <a:buNone/>
            </a:pPr>
            <a:r>
              <a:rPr lang="en-US" sz="1150" b="1" dirty="0">
                <a:solidFill>
                  <a:srgbClr val="142850"/>
                </a:solidFill>
                <a:latin typeface="Calibri" pitchFamily="34" charset="0"/>
                <a:ea typeface="Calibri" pitchFamily="34" charset="-122"/>
                <a:cs typeface="Calibri" pitchFamily="34" charset="-120"/>
              </a:rPr>
              <a:t>5.  Business Decisions</a:t>
            </a:r>
            <a:endParaRPr lang="en-US" sz="1150" dirty="0"/>
          </a:p>
        </p:txBody>
      </p:sp>
      <p:sp>
        <p:nvSpPr>
          <p:cNvPr id="12" name="Shape 10"/>
          <p:cNvSpPr/>
          <p:nvPr/>
        </p:nvSpPr>
        <p:spPr>
          <a:xfrm>
            <a:off x="4800600" y="1417320"/>
            <a:ext cx="6858000" cy="4206240"/>
          </a:xfrm>
          <a:prstGeom prst="roundRect">
            <a:avLst>
              <a:gd name="adj" fmla="val 1522"/>
            </a:avLst>
          </a:prstGeom>
          <a:solidFill>
            <a:srgbClr val="F4F7FB"/>
          </a:solidFill>
          <a:ln/>
          <a:effectLst>
            <a:outerShdw sx="100000" sy="100000" kx="0" ky="0" algn="bl" rotWithShape="0" blurRad="76200" dist="25400" dir="2700000">
              <a:srgbClr val="000000">
                <a:alpha val="10000"/>
              </a:srgbClr>
            </a:outerShdw>
          </a:effectLst>
        </p:spPr>
      </p:sp>
      <p:sp>
        <p:nvSpPr>
          <p:cNvPr id="13" name="Text 11"/>
          <p:cNvSpPr/>
          <p:nvPr/>
        </p:nvSpPr>
        <p:spPr>
          <a:xfrm>
            <a:off x="5029200" y="1600200"/>
            <a:ext cx="6309360" cy="365760"/>
          </a:xfrm>
          <a:prstGeom prst="rect">
            <a:avLst/>
          </a:prstGeom>
          <a:noFill/>
          <a:ln/>
        </p:spPr>
        <p:txBody>
          <a:bodyPr wrap="square" rtlCol="0" anchor="ctr"/>
          <a:lstStyle/>
          <a:p>
            <a:pPr indent="0" marL="0">
              <a:buNone/>
            </a:pPr>
            <a:r>
              <a:rPr lang="en-US" sz="1400" b="1" dirty="0">
                <a:solidFill>
                  <a:srgbClr val="142850"/>
                </a:solidFill>
                <a:latin typeface="Cambria" pitchFamily="34" charset="0"/>
                <a:ea typeface="Cambria" pitchFamily="34" charset="-122"/>
                <a:cs typeface="Cambria" pitchFamily="34" charset="-120"/>
              </a:rPr>
              <a:t>Specific Objectives</a:t>
            </a:r>
            <a:endParaRPr lang="en-US" sz="1400" dirty="0"/>
          </a:p>
        </p:txBody>
      </p:sp>
      <p:sp>
        <p:nvSpPr>
          <p:cNvPr id="14" name="Text 12"/>
          <p:cNvSpPr/>
          <p:nvPr/>
        </p:nvSpPr>
        <p:spPr>
          <a:xfrm>
            <a:off x="5029200" y="2011680"/>
            <a:ext cx="3063240" cy="3383280"/>
          </a:xfrm>
          <a:prstGeom prst="rect">
            <a:avLst/>
          </a:prstGeom>
          <a:noFill/>
          <a:ln/>
        </p:spPr>
        <p:txBody>
          <a:bodyPr wrap="square" rtlCol="0" anchor="t"/>
          <a:lstStyle/>
          <a:p>
            <a:pPr marL="342900" indent="-342900">
              <a:spcAft>
                <a:spcPts val="1000"/>
              </a:spcAft>
              <a:buSzPct val="100000"/>
              <a:buChar char="•"/>
            </a:pPr>
            <a:r>
              <a:rPr lang="en-US" sz="1080" dirty="0">
                <a:solidFill>
                  <a:srgbClr val="1F2937"/>
                </a:solidFill>
                <a:latin typeface="Calibri" pitchFamily="34" charset="0"/>
                <a:ea typeface="Calibri" pitchFamily="34" charset="-122"/>
                <a:cs typeface="Calibri" pitchFamily="34" charset="-120"/>
              </a:rPr>
              <a:t>Clean and preprocess the raw loan dataset to improve data quality and consistency</a:t>
            </a:r>
            <a:endParaRPr lang="en-US" sz="1080" dirty="0"/>
          </a:p>
          <a:p>
            <a:pPr marL="342900" indent="-342900">
              <a:spcAft>
                <a:spcPts val="1000"/>
              </a:spcAft>
              <a:buSzPct val="100000"/>
              <a:buChar char="•"/>
            </a:pPr>
            <a:r>
              <a:rPr lang="en-US" sz="1080" dirty="0">
                <a:solidFill>
                  <a:srgbClr val="1F2937"/>
                </a:solidFill>
                <a:latin typeface="Calibri" pitchFamily="34" charset="0"/>
                <a:ea typeface="Calibri" pitchFamily="34" charset="-122"/>
                <a:cs typeface="Calibri" pitchFamily="34" charset="-120"/>
              </a:rPr>
              <a:t>Perform EDA to understand borrower characteristics, loan performance, and credit behaviour</a:t>
            </a:r>
            <a:endParaRPr lang="en-US" sz="1080" dirty="0"/>
          </a:p>
          <a:p>
            <a:pPr marL="342900" indent="-342900">
              <a:spcAft>
                <a:spcPts val="1000"/>
              </a:spcAft>
              <a:buSzPct val="100000"/>
              <a:buChar char="•"/>
            </a:pPr>
            <a:r>
              <a:rPr lang="en-US" sz="1080" dirty="0">
                <a:solidFill>
                  <a:srgbClr val="1F2937"/>
                </a:solidFill>
                <a:latin typeface="Calibri" pitchFamily="34" charset="0"/>
                <a:ea typeface="Calibri" pitchFamily="34" charset="-122"/>
                <a:cs typeface="Calibri" pitchFamily="34" charset="-120"/>
              </a:rPr>
              <a:t>Analyze key factors: income, debt-to-income ratio, loan purpose, credit history, delinquency</a:t>
            </a:r>
            <a:endParaRPr lang="en-US" sz="1080" dirty="0"/>
          </a:p>
          <a:p>
            <a:pPr marL="342900" indent="-342900">
              <a:spcAft>
                <a:spcPts val="1000"/>
              </a:spcAft>
              <a:buSzPct val="100000"/>
              <a:buChar char="•"/>
            </a:pPr>
            <a:r>
              <a:rPr lang="en-US" sz="1080" dirty="0">
                <a:solidFill>
                  <a:srgbClr val="1F2937"/>
                </a:solidFill>
                <a:latin typeface="Calibri" pitchFamily="34" charset="0"/>
                <a:ea typeface="Calibri" pitchFamily="34" charset="-122"/>
                <a:cs typeface="Calibri" pitchFamily="34" charset="-120"/>
              </a:rPr>
              <a:t>Evaluate portfolio health through exposure, default rates, and risk analysis</a:t>
            </a:r>
            <a:endParaRPr lang="en-US" sz="1080" dirty="0"/>
          </a:p>
        </p:txBody>
      </p:sp>
      <p:sp>
        <p:nvSpPr>
          <p:cNvPr id="15" name="Text 13"/>
          <p:cNvSpPr/>
          <p:nvPr/>
        </p:nvSpPr>
        <p:spPr>
          <a:xfrm>
            <a:off x="8229600" y="2011680"/>
            <a:ext cx="3200400" cy="3383280"/>
          </a:xfrm>
          <a:prstGeom prst="rect">
            <a:avLst/>
          </a:prstGeom>
          <a:noFill/>
          <a:ln/>
        </p:spPr>
        <p:txBody>
          <a:bodyPr wrap="square" rtlCol="0" anchor="t"/>
          <a:lstStyle/>
          <a:p>
            <a:pPr marL="342900" indent="-342900">
              <a:spcAft>
                <a:spcPts val="1000"/>
              </a:spcAft>
              <a:buSzPct val="100000"/>
              <a:buChar char="•"/>
            </a:pPr>
            <a:r>
              <a:rPr lang="en-US" sz="1080" dirty="0">
                <a:solidFill>
                  <a:srgbClr val="1F2937"/>
                </a:solidFill>
                <a:latin typeface="Calibri" pitchFamily="34" charset="0"/>
                <a:ea typeface="Calibri" pitchFamily="34" charset="-122"/>
                <a:cs typeface="Calibri" pitchFamily="34" charset="-120"/>
              </a:rPr>
              <a:t>Develop interactive Power BI dashboards for executive decision-making</a:t>
            </a:r>
            <a:endParaRPr lang="en-US" sz="1080" dirty="0"/>
          </a:p>
          <a:p>
            <a:pPr marL="342900" indent="-342900">
              <a:spcAft>
                <a:spcPts val="1000"/>
              </a:spcAft>
              <a:buSzPct val="100000"/>
              <a:buChar char="•"/>
            </a:pPr>
            <a:r>
              <a:rPr lang="en-US" sz="1080" dirty="0">
                <a:solidFill>
                  <a:srgbClr val="1F2937"/>
                </a:solidFill>
                <a:latin typeface="Calibri" pitchFamily="34" charset="0"/>
                <a:ea typeface="Calibri" pitchFamily="34" charset="-122"/>
                <a:cs typeface="Calibri" pitchFamily="34" charset="-120"/>
              </a:rPr>
              <a:t>Build and compare multiple ML models for predicting loan performance</a:t>
            </a:r>
            <a:endParaRPr lang="en-US" sz="1080" dirty="0"/>
          </a:p>
          <a:p>
            <a:pPr marL="342900" indent="-342900">
              <a:spcAft>
                <a:spcPts val="1000"/>
              </a:spcAft>
              <a:buSzPct val="100000"/>
              <a:buChar char="•"/>
            </a:pPr>
            <a:r>
              <a:rPr lang="en-US" sz="1080" dirty="0">
                <a:solidFill>
                  <a:srgbClr val="1F2937"/>
                </a:solidFill>
                <a:latin typeface="Calibri" pitchFamily="34" charset="0"/>
                <a:ea typeface="Calibri" pitchFamily="34" charset="-122"/>
                <a:cs typeface="Calibri" pitchFamily="34" charset="-120"/>
              </a:rPr>
              <a:t>Identify the most influential factors via feature importance analysis</a:t>
            </a:r>
            <a:endParaRPr lang="en-US" sz="1080" dirty="0"/>
          </a:p>
          <a:p>
            <a:pPr marL="342900" indent="-342900">
              <a:spcAft>
                <a:spcPts val="1000"/>
              </a:spcAft>
              <a:buSzPct val="100000"/>
              <a:buChar char="•"/>
            </a:pPr>
            <a:r>
              <a:rPr lang="en-US" sz="1080" dirty="0">
                <a:solidFill>
                  <a:srgbClr val="1F2937"/>
                </a:solidFill>
                <a:latin typeface="Calibri" pitchFamily="34" charset="0"/>
                <a:ea typeface="Calibri" pitchFamily="34" charset="-122"/>
                <a:cs typeface="Calibri" pitchFamily="34" charset="-120"/>
              </a:rPr>
              <a:t>Provide actionable business recommendations for credit risk management</a:t>
            </a:r>
            <a:endParaRPr lang="en-US" sz="1080" dirty="0"/>
          </a:p>
        </p:txBody>
      </p:sp>
      <p:sp>
        <p:nvSpPr>
          <p:cNvPr id="16" name="Shape 14"/>
          <p:cNvSpPr/>
          <p:nvPr/>
        </p:nvSpPr>
        <p:spPr>
          <a:xfrm>
            <a:off x="548640" y="5806440"/>
            <a:ext cx="11064240" cy="640080"/>
          </a:xfrm>
          <a:prstGeom prst="roundRect">
            <a:avLst>
              <a:gd name="adj" fmla="val 8571"/>
            </a:avLst>
          </a:prstGeom>
          <a:solidFill>
            <a:srgbClr val="142850"/>
          </a:solidFill>
          <a:ln/>
          <a:effectLst>
            <a:outerShdw sx="100000" sy="100000" kx="0" ky="0" algn="bl" rotWithShape="0" blurRad="76200" dist="25400" dir="2700000">
              <a:srgbClr val="000000">
                <a:alpha val="15000"/>
              </a:srgbClr>
            </a:outerShdw>
          </a:effectLst>
        </p:spPr>
      </p:sp>
      <p:sp>
        <p:nvSpPr>
          <p:cNvPr id="17" name="Text 15"/>
          <p:cNvSpPr/>
          <p:nvPr/>
        </p:nvSpPr>
        <p:spPr>
          <a:xfrm>
            <a:off x="777240" y="5897880"/>
            <a:ext cx="10607040" cy="45720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Outcome: Build a reliable, data-driven framework for evaluating loan performance, predicting credit risk, and supporting strategic lending decisions.</a:t>
            </a:r>
            <a:endParaRPr lang="en-US" sz="1250" dirty="0"/>
          </a:p>
        </p:txBody>
      </p:sp>
      <p:sp>
        <p:nvSpPr>
          <p:cNvPr id="18" name="Text 16"/>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DATASET</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Dataset Overview</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303520" cy="2194560"/>
        </p:xfrm>
        <a:graphic>
          <a:graphicData uri="http://schemas.openxmlformats.org/drawingml/2006/table">
            <a:tbl>
              <a:tblPr/>
              <a:tblGrid>
                <a:gridCol w="1828800"/>
                <a:gridCol w="3474720"/>
              </a:tblGrid>
              <a:tr h="36576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Attribute</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Description</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6576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Dataset Type</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Historical Loan Performance Dataset</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6576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Total Records</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6576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Total Features</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59 Variables</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6576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Target Variable</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Loan Status (Performing / Non-Performing)</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6576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Analysis Tools</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Excel, MySQL, Python, Power BI</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
        <p:nvSpPr>
          <p:cNvPr id="5" name="Shape 2"/>
          <p:cNvSpPr/>
          <p:nvPr/>
        </p:nvSpPr>
        <p:spPr>
          <a:xfrm>
            <a:off x="548640" y="3794760"/>
            <a:ext cx="5303520" cy="658368"/>
          </a:xfrm>
          <a:prstGeom prst="roundRect">
            <a:avLst>
              <a:gd name="adj" fmla="val 9722"/>
            </a:avLst>
          </a:prstGeom>
          <a:solidFill>
            <a:srgbClr val="F4F7FB"/>
          </a:solidFill>
          <a:ln/>
          <a:effectLst>
            <a:outerShdw sx="100000" sy="100000" kx="0" ky="0" algn="bl" rotWithShape="0" blurRad="76200" dist="25400" dir="2700000">
              <a:srgbClr val="000000">
                <a:alpha val="10000"/>
              </a:srgbClr>
            </a:outerShdw>
          </a:effectLst>
        </p:spPr>
      </p:sp>
      <p:pic>
        <p:nvPicPr>
          <p:cNvPr id="6" name="Image 0" descr="preencoded.png">    </p:cNvPr>
          <p:cNvPicPr>
            <a:picLocks noChangeAspect="1"/>
          </p:cNvPicPr>
          <p:nvPr/>
        </p:nvPicPr>
        <p:blipFill>
          <a:blip r:embed="rId1"/>
          <a:stretch>
            <a:fillRect/>
          </a:stretch>
        </p:blipFill>
        <p:spPr>
          <a:xfrm>
            <a:off x="685800" y="3913632"/>
            <a:ext cx="420624" cy="420624"/>
          </a:xfrm>
          <a:prstGeom prst="rect">
            <a:avLst/>
          </a:prstGeom>
        </p:spPr>
      </p:pic>
      <p:sp>
        <p:nvSpPr>
          <p:cNvPr id="7" name="Text 3"/>
          <p:cNvSpPr/>
          <p:nvPr/>
        </p:nvSpPr>
        <p:spPr>
          <a:xfrm>
            <a:off x="1234440" y="3840480"/>
            <a:ext cx="4572000" cy="274320"/>
          </a:xfrm>
          <a:prstGeom prst="rect">
            <a:avLst/>
          </a:prstGeom>
          <a:noFill/>
          <a:ln/>
        </p:spPr>
        <p:txBody>
          <a:bodyPr wrap="square" rtlCol="0" anchor="ctr"/>
          <a:lstStyle/>
          <a:p>
            <a:pPr indent="0" marL="0">
              <a:buNone/>
            </a:pPr>
            <a:r>
              <a:rPr lang="en-US" sz="1200" b="1" dirty="0">
                <a:solidFill>
                  <a:srgbClr val="142850"/>
                </a:solidFill>
                <a:latin typeface="Calibri" pitchFamily="34" charset="0"/>
                <a:ea typeface="Calibri" pitchFamily="34" charset="-122"/>
                <a:cs typeface="Calibri" pitchFamily="34" charset="-120"/>
              </a:rPr>
              <a:t>Borrower Information</a:t>
            </a:r>
            <a:endParaRPr lang="en-US" sz="1200" dirty="0"/>
          </a:p>
        </p:txBody>
      </p:sp>
      <p:sp>
        <p:nvSpPr>
          <p:cNvPr id="8" name="Text 4"/>
          <p:cNvSpPr/>
          <p:nvPr/>
        </p:nvSpPr>
        <p:spPr>
          <a:xfrm>
            <a:off x="1234440" y="4105656"/>
            <a:ext cx="4572000" cy="329184"/>
          </a:xfrm>
          <a:prstGeom prst="rect">
            <a:avLst/>
          </a:prstGeom>
          <a:noFill/>
          <a:ln/>
        </p:spPr>
        <p:txBody>
          <a:bodyPr wrap="square" rtlCol="0" anchor="ctr"/>
          <a:lstStyle/>
          <a:p>
            <a:pPr indent="0" marL="0">
              <a:buNone/>
            </a:pPr>
            <a:r>
              <a:rPr lang="en-US" sz="950" dirty="0">
                <a:solidFill>
                  <a:srgbClr val="5B6B82"/>
                </a:solidFill>
                <a:latin typeface="Calibri" pitchFamily="34" charset="0"/>
                <a:ea typeface="Calibri" pitchFamily="34" charset="-122"/>
                <a:cs typeface="Calibri" pitchFamily="34" charset="-120"/>
              </a:rPr>
              <a:t>Annual Income, Homeownership, Employment Length, Verified Income</a:t>
            </a:r>
            <a:endParaRPr lang="en-US" sz="950" dirty="0"/>
          </a:p>
        </p:txBody>
      </p:sp>
      <p:sp>
        <p:nvSpPr>
          <p:cNvPr id="9" name="Shape 5"/>
          <p:cNvSpPr/>
          <p:nvPr/>
        </p:nvSpPr>
        <p:spPr>
          <a:xfrm>
            <a:off x="548640" y="4544568"/>
            <a:ext cx="5303520" cy="658368"/>
          </a:xfrm>
          <a:prstGeom prst="roundRect">
            <a:avLst>
              <a:gd name="adj" fmla="val 9722"/>
            </a:avLst>
          </a:prstGeom>
          <a:solidFill>
            <a:srgbClr val="F4F7FB"/>
          </a:solidFill>
          <a:ln/>
          <a:effectLst>
            <a:outerShdw sx="100000" sy="100000" kx="0" ky="0" algn="bl" rotWithShape="0" blurRad="76200" dist="25400" dir="2700000">
              <a:srgbClr val="000000">
                <a:alpha val="10000"/>
              </a:srgbClr>
            </a:outerShdw>
          </a:effectLst>
        </p:spPr>
      </p:sp>
      <p:pic>
        <p:nvPicPr>
          <p:cNvPr id="10" name="Image 1" descr="preencoded.png">    </p:cNvPr>
          <p:cNvPicPr>
            <a:picLocks noChangeAspect="1"/>
          </p:cNvPicPr>
          <p:nvPr/>
        </p:nvPicPr>
        <p:blipFill>
          <a:blip r:embed="rId2"/>
          <a:stretch>
            <a:fillRect/>
          </a:stretch>
        </p:blipFill>
        <p:spPr>
          <a:xfrm>
            <a:off x="685800" y="4663440"/>
            <a:ext cx="420624" cy="420624"/>
          </a:xfrm>
          <a:prstGeom prst="rect">
            <a:avLst/>
          </a:prstGeom>
        </p:spPr>
      </p:pic>
      <p:sp>
        <p:nvSpPr>
          <p:cNvPr id="11" name="Text 6"/>
          <p:cNvSpPr/>
          <p:nvPr/>
        </p:nvSpPr>
        <p:spPr>
          <a:xfrm>
            <a:off x="1234440" y="4590288"/>
            <a:ext cx="4572000" cy="274320"/>
          </a:xfrm>
          <a:prstGeom prst="rect">
            <a:avLst/>
          </a:prstGeom>
          <a:noFill/>
          <a:ln/>
        </p:spPr>
        <p:txBody>
          <a:bodyPr wrap="square" rtlCol="0" anchor="ctr"/>
          <a:lstStyle/>
          <a:p>
            <a:pPr indent="0" marL="0">
              <a:buNone/>
            </a:pPr>
            <a:r>
              <a:rPr lang="en-US" sz="1200" b="1" dirty="0">
                <a:solidFill>
                  <a:srgbClr val="142850"/>
                </a:solidFill>
                <a:latin typeface="Calibri" pitchFamily="34" charset="0"/>
                <a:ea typeface="Calibri" pitchFamily="34" charset="-122"/>
                <a:cs typeface="Calibri" pitchFamily="34" charset="-120"/>
              </a:rPr>
              <a:t>Loan Information</a:t>
            </a:r>
            <a:endParaRPr lang="en-US" sz="1200" dirty="0"/>
          </a:p>
        </p:txBody>
      </p:sp>
      <p:sp>
        <p:nvSpPr>
          <p:cNvPr id="12" name="Text 7"/>
          <p:cNvSpPr/>
          <p:nvPr/>
        </p:nvSpPr>
        <p:spPr>
          <a:xfrm>
            <a:off x="1234440" y="4855464"/>
            <a:ext cx="4572000" cy="329184"/>
          </a:xfrm>
          <a:prstGeom prst="rect">
            <a:avLst/>
          </a:prstGeom>
          <a:noFill/>
          <a:ln/>
        </p:spPr>
        <p:txBody>
          <a:bodyPr wrap="square" rtlCol="0" anchor="ctr"/>
          <a:lstStyle/>
          <a:p>
            <a:pPr indent="0" marL="0">
              <a:buNone/>
            </a:pPr>
            <a:r>
              <a:rPr lang="en-US" sz="950" dirty="0">
                <a:solidFill>
                  <a:srgbClr val="5B6B82"/>
                </a:solidFill>
                <a:latin typeface="Calibri" pitchFamily="34" charset="0"/>
                <a:ea typeface="Calibri" pitchFamily="34" charset="-122"/>
                <a:cs typeface="Calibri" pitchFamily="34" charset="-120"/>
              </a:rPr>
              <a:t>Loan Amount, Interest Rate, Loan Purpose, Grade, Term</a:t>
            </a:r>
            <a:endParaRPr lang="en-US" sz="950" dirty="0"/>
          </a:p>
        </p:txBody>
      </p:sp>
      <p:sp>
        <p:nvSpPr>
          <p:cNvPr id="13" name="Shape 8"/>
          <p:cNvSpPr/>
          <p:nvPr/>
        </p:nvSpPr>
        <p:spPr>
          <a:xfrm>
            <a:off x="548640" y="5294376"/>
            <a:ext cx="5303520" cy="658368"/>
          </a:xfrm>
          <a:prstGeom prst="roundRect">
            <a:avLst>
              <a:gd name="adj" fmla="val 9722"/>
            </a:avLst>
          </a:prstGeom>
          <a:solidFill>
            <a:srgbClr val="F4F7FB"/>
          </a:solidFill>
          <a:ln/>
          <a:effectLst>
            <a:outerShdw sx="100000" sy="100000" kx="0" ky="0" algn="bl" rotWithShape="0" blurRad="76200" dist="25400" dir="2700000">
              <a:srgbClr val="000000">
                <a:alpha val="10000"/>
              </a:srgbClr>
            </a:outerShdw>
          </a:effectLst>
        </p:spPr>
      </p:sp>
      <p:pic>
        <p:nvPicPr>
          <p:cNvPr id="14" name="Image 2" descr="preencoded.png">    </p:cNvPr>
          <p:cNvPicPr>
            <a:picLocks noChangeAspect="1"/>
          </p:cNvPicPr>
          <p:nvPr/>
        </p:nvPicPr>
        <p:blipFill>
          <a:blip r:embed="rId3"/>
          <a:stretch>
            <a:fillRect/>
          </a:stretch>
        </p:blipFill>
        <p:spPr>
          <a:xfrm>
            <a:off x="685800" y="5413248"/>
            <a:ext cx="420624" cy="420624"/>
          </a:xfrm>
          <a:prstGeom prst="rect">
            <a:avLst/>
          </a:prstGeom>
        </p:spPr>
      </p:pic>
      <p:sp>
        <p:nvSpPr>
          <p:cNvPr id="15" name="Text 9"/>
          <p:cNvSpPr/>
          <p:nvPr/>
        </p:nvSpPr>
        <p:spPr>
          <a:xfrm>
            <a:off x="1234440" y="5340096"/>
            <a:ext cx="4572000" cy="274320"/>
          </a:xfrm>
          <a:prstGeom prst="rect">
            <a:avLst/>
          </a:prstGeom>
          <a:noFill/>
          <a:ln/>
        </p:spPr>
        <p:txBody>
          <a:bodyPr wrap="square" rtlCol="0" anchor="ctr"/>
          <a:lstStyle/>
          <a:p>
            <a:pPr indent="0" marL="0">
              <a:buNone/>
            </a:pPr>
            <a:r>
              <a:rPr lang="en-US" sz="1200" b="1" dirty="0">
                <a:solidFill>
                  <a:srgbClr val="142850"/>
                </a:solidFill>
                <a:latin typeface="Calibri" pitchFamily="34" charset="0"/>
                <a:ea typeface="Calibri" pitchFamily="34" charset="-122"/>
                <a:cs typeface="Calibri" pitchFamily="34" charset="-120"/>
              </a:rPr>
              <a:t>Credit Profile</a:t>
            </a:r>
            <a:endParaRPr lang="en-US" sz="1200" dirty="0"/>
          </a:p>
        </p:txBody>
      </p:sp>
      <p:sp>
        <p:nvSpPr>
          <p:cNvPr id="16" name="Text 10"/>
          <p:cNvSpPr/>
          <p:nvPr/>
        </p:nvSpPr>
        <p:spPr>
          <a:xfrm>
            <a:off x="1234440" y="5605272"/>
            <a:ext cx="4572000" cy="329184"/>
          </a:xfrm>
          <a:prstGeom prst="rect">
            <a:avLst/>
          </a:prstGeom>
          <a:noFill/>
          <a:ln/>
        </p:spPr>
        <p:txBody>
          <a:bodyPr wrap="square" rtlCol="0" anchor="ctr"/>
          <a:lstStyle/>
          <a:p>
            <a:pPr indent="0" marL="0">
              <a:buNone/>
            </a:pPr>
            <a:r>
              <a:rPr lang="en-US" sz="950" dirty="0">
                <a:solidFill>
                  <a:srgbClr val="5B6B82"/>
                </a:solidFill>
                <a:latin typeface="Calibri" pitchFamily="34" charset="0"/>
                <a:ea typeface="Calibri" pitchFamily="34" charset="-122"/>
                <a:cs typeface="Calibri" pitchFamily="34" charset="-120"/>
              </a:rPr>
              <a:t>DTI Ratio, Credit Utilization, Inquiries, Delinquencies, Public Records</a:t>
            </a:r>
            <a:endParaRPr lang="en-US" sz="950" dirty="0"/>
          </a:p>
        </p:txBody>
      </p:sp>
      <p:sp>
        <p:nvSpPr>
          <p:cNvPr id="17" name="Shape 11"/>
          <p:cNvSpPr/>
          <p:nvPr/>
        </p:nvSpPr>
        <p:spPr>
          <a:xfrm>
            <a:off x="548640" y="6044184"/>
            <a:ext cx="5303520" cy="658368"/>
          </a:xfrm>
          <a:prstGeom prst="roundRect">
            <a:avLst>
              <a:gd name="adj" fmla="val 9722"/>
            </a:avLst>
          </a:prstGeom>
          <a:solidFill>
            <a:srgbClr val="F4F7FB"/>
          </a:solidFill>
          <a:ln/>
          <a:effectLst>
            <a:outerShdw sx="100000" sy="100000" kx="0" ky="0" algn="bl" rotWithShape="0" blurRad="76200" dist="25400" dir="2700000">
              <a:srgbClr val="000000">
                <a:alpha val="10000"/>
              </a:srgbClr>
            </a:outerShdw>
          </a:effectLst>
        </p:spPr>
      </p:sp>
      <p:pic>
        <p:nvPicPr>
          <p:cNvPr id="18" name="Image 3" descr="preencoded.png">    </p:cNvPr>
          <p:cNvPicPr>
            <a:picLocks noChangeAspect="1"/>
          </p:cNvPicPr>
          <p:nvPr/>
        </p:nvPicPr>
        <p:blipFill>
          <a:blip r:embed="rId4"/>
          <a:stretch>
            <a:fillRect/>
          </a:stretch>
        </p:blipFill>
        <p:spPr>
          <a:xfrm>
            <a:off x="685800" y="6163056"/>
            <a:ext cx="420624" cy="420624"/>
          </a:xfrm>
          <a:prstGeom prst="rect">
            <a:avLst/>
          </a:prstGeom>
        </p:spPr>
      </p:pic>
      <p:sp>
        <p:nvSpPr>
          <p:cNvPr id="19" name="Text 12"/>
          <p:cNvSpPr/>
          <p:nvPr/>
        </p:nvSpPr>
        <p:spPr>
          <a:xfrm>
            <a:off x="1234440" y="6089904"/>
            <a:ext cx="4572000" cy="274320"/>
          </a:xfrm>
          <a:prstGeom prst="rect">
            <a:avLst/>
          </a:prstGeom>
          <a:noFill/>
          <a:ln/>
        </p:spPr>
        <p:txBody>
          <a:bodyPr wrap="square" rtlCol="0" anchor="ctr"/>
          <a:lstStyle/>
          <a:p>
            <a:pPr indent="0" marL="0">
              <a:buNone/>
            </a:pPr>
            <a:r>
              <a:rPr lang="en-US" sz="1200" b="1" dirty="0">
                <a:solidFill>
                  <a:srgbClr val="142850"/>
                </a:solidFill>
                <a:latin typeface="Calibri" pitchFamily="34" charset="0"/>
                <a:ea typeface="Calibri" pitchFamily="34" charset="-122"/>
                <a:cs typeface="Calibri" pitchFamily="34" charset="-120"/>
              </a:rPr>
              <a:t>Target Variable</a:t>
            </a:r>
            <a:endParaRPr lang="en-US" sz="1200" dirty="0"/>
          </a:p>
        </p:txBody>
      </p:sp>
      <p:sp>
        <p:nvSpPr>
          <p:cNvPr id="20" name="Text 13"/>
          <p:cNvSpPr/>
          <p:nvPr/>
        </p:nvSpPr>
        <p:spPr>
          <a:xfrm>
            <a:off x="1234440" y="6355080"/>
            <a:ext cx="4572000" cy="329184"/>
          </a:xfrm>
          <a:prstGeom prst="rect">
            <a:avLst/>
          </a:prstGeom>
          <a:noFill/>
          <a:ln/>
        </p:spPr>
        <p:txBody>
          <a:bodyPr wrap="square" rtlCol="0" anchor="ctr"/>
          <a:lstStyle/>
          <a:p>
            <a:pPr indent="0" marL="0">
              <a:buNone/>
            </a:pPr>
            <a:r>
              <a:rPr lang="en-US" sz="950" dirty="0">
                <a:solidFill>
                  <a:srgbClr val="5B6B82"/>
                </a:solidFill>
                <a:latin typeface="Calibri" pitchFamily="34" charset="0"/>
                <a:ea typeface="Calibri" pitchFamily="34" charset="-122"/>
                <a:cs typeface="Calibri" pitchFamily="34" charset="-120"/>
              </a:rPr>
              <a:t>Loan Status: Performing / Non-Performing</a:t>
            </a:r>
            <a:endParaRPr lang="en-US" sz="950" dirty="0"/>
          </a:p>
        </p:txBody>
      </p:sp>
      <p:sp>
        <p:nvSpPr>
          <p:cNvPr id="21" name="Shape 14"/>
          <p:cNvSpPr/>
          <p:nvPr/>
        </p:nvSpPr>
        <p:spPr>
          <a:xfrm>
            <a:off x="6217920" y="1417320"/>
            <a:ext cx="5394960" cy="1051560"/>
          </a:xfrm>
          <a:prstGeom prst="roundRect">
            <a:avLst>
              <a:gd name="adj" fmla="val 6957"/>
            </a:avLst>
          </a:prstGeom>
          <a:solidFill>
            <a:srgbClr val="142850"/>
          </a:solidFill>
          <a:ln/>
          <a:effectLst>
            <a:outerShdw sx="100000" sy="100000" kx="0" ky="0" algn="bl" rotWithShape="0" blurRad="76200" dist="25400" dir="2700000">
              <a:srgbClr val="000000">
                <a:alpha val="12000"/>
              </a:srgbClr>
            </a:outerShdw>
          </a:effectLst>
        </p:spPr>
      </p:sp>
      <p:pic>
        <p:nvPicPr>
          <p:cNvPr id="22" name="Image 4" descr="preencoded.png">    </p:cNvPr>
          <p:cNvPicPr>
            <a:picLocks noChangeAspect="1"/>
          </p:cNvPicPr>
          <p:nvPr/>
        </p:nvPicPr>
        <p:blipFill>
          <a:blip r:embed="rId5"/>
          <a:stretch>
            <a:fillRect/>
          </a:stretch>
        </p:blipFill>
        <p:spPr>
          <a:xfrm>
            <a:off x="6492240" y="1650492"/>
            <a:ext cx="585216" cy="585216"/>
          </a:xfrm>
          <a:prstGeom prst="rect">
            <a:avLst/>
          </a:prstGeom>
        </p:spPr>
      </p:pic>
      <p:sp>
        <p:nvSpPr>
          <p:cNvPr id="23" name="Text 15"/>
          <p:cNvSpPr/>
          <p:nvPr/>
        </p:nvSpPr>
        <p:spPr>
          <a:xfrm>
            <a:off x="7315200" y="1417320"/>
            <a:ext cx="4114800" cy="10515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Borrower Information</a:t>
            </a:r>
            <a:endParaRPr lang="en-US" sz="1500" dirty="0"/>
          </a:p>
        </p:txBody>
      </p:sp>
      <p:sp>
        <p:nvSpPr>
          <p:cNvPr id="24" name="Shape 16"/>
          <p:cNvSpPr/>
          <p:nvPr/>
        </p:nvSpPr>
        <p:spPr>
          <a:xfrm>
            <a:off x="6217920" y="2670048"/>
            <a:ext cx="5394960" cy="1051560"/>
          </a:xfrm>
          <a:prstGeom prst="roundRect">
            <a:avLst>
              <a:gd name="adj" fmla="val 6957"/>
            </a:avLst>
          </a:prstGeom>
          <a:solidFill>
            <a:srgbClr val="142850"/>
          </a:solidFill>
          <a:ln/>
          <a:effectLst>
            <a:outerShdw sx="100000" sy="100000" kx="0" ky="0" algn="bl" rotWithShape="0" blurRad="76200" dist="25400" dir="2700000">
              <a:srgbClr val="000000">
                <a:alpha val="12000"/>
              </a:srgbClr>
            </a:outerShdw>
          </a:effectLst>
        </p:spPr>
      </p:sp>
      <p:pic>
        <p:nvPicPr>
          <p:cNvPr id="25" name="Image 5" descr="preencoded.png">    </p:cNvPr>
          <p:cNvPicPr>
            <a:picLocks noChangeAspect="1"/>
          </p:cNvPicPr>
          <p:nvPr/>
        </p:nvPicPr>
        <p:blipFill>
          <a:blip r:embed="rId6"/>
          <a:stretch>
            <a:fillRect/>
          </a:stretch>
        </p:blipFill>
        <p:spPr>
          <a:xfrm>
            <a:off x="6492240" y="2903220"/>
            <a:ext cx="585216" cy="585216"/>
          </a:xfrm>
          <a:prstGeom prst="rect">
            <a:avLst/>
          </a:prstGeom>
        </p:spPr>
      </p:pic>
      <p:sp>
        <p:nvSpPr>
          <p:cNvPr id="26" name="Text 17"/>
          <p:cNvSpPr/>
          <p:nvPr/>
        </p:nvSpPr>
        <p:spPr>
          <a:xfrm>
            <a:off x="7315200" y="2670048"/>
            <a:ext cx="4114800" cy="10515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Loan Information</a:t>
            </a:r>
            <a:endParaRPr lang="en-US" sz="1500" dirty="0"/>
          </a:p>
        </p:txBody>
      </p:sp>
      <p:sp>
        <p:nvSpPr>
          <p:cNvPr id="27" name="Shape 18"/>
          <p:cNvSpPr/>
          <p:nvPr/>
        </p:nvSpPr>
        <p:spPr>
          <a:xfrm>
            <a:off x="6217920" y="3922776"/>
            <a:ext cx="5394960" cy="1051560"/>
          </a:xfrm>
          <a:prstGeom prst="roundRect">
            <a:avLst>
              <a:gd name="adj" fmla="val 6957"/>
            </a:avLst>
          </a:prstGeom>
          <a:solidFill>
            <a:srgbClr val="142850"/>
          </a:solidFill>
          <a:ln/>
          <a:effectLst>
            <a:outerShdw sx="100000" sy="100000" kx="0" ky="0" algn="bl" rotWithShape="0" blurRad="76200" dist="25400" dir="2700000">
              <a:srgbClr val="000000">
                <a:alpha val="12000"/>
              </a:srgbClr>
            </a:outerShdw>
          </a:effectLst>
        </p:spPr>
      </p:sp>
      <p:pic>
        <p:nvPicPr>
          <p:cNvPr id="28" name="Image 6" descr="preencoded.png">    </p:cNvPr>
          <p:cNvPicPr>
            <a:picLocks noChangeAspect="1"/>
          </p:cNvPicPr>
          <p:nvPr/>
        </p:nvPicPr>
        <p:blipFill>
          <a:blip r:embed="rId7"/>
          <a:stretch>
            <a:fillRect/>
          </a:stretch>
        </p:blipFill>
        <p:spPr>
          <a:xfrm>
            <a:off x="6492240" y="4155948"/>
            <a:ext cx="585216" cy="585216"/>
          </a:xfrm>
          <a:prstGeom prst="rect">
            <a:avLst/>
          </a:prstGeom>
        </p:spPr>
      </p:pic>
      <p:sp>
        <p:nvSpPr>
          <p:cNvPr id="29" name="Text 19"/>
          <p:cNvSpPr/>
          <p:nvPr/>
        </p:nvSpPr>
        <p:spPr>
          <a:xfrm>
            <a:off x="7315200" y="3922776"/>
            <a:ext cx="4114800" cy="10515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Credit Profile</a:t>
            </a:r>
            <a:endParaRPr lang="en-US" sz="1500" dirty="0"/>
          </a:p>
        </p:txBody>
      </p:sp>
      <p:sp>
        <p:nvSpPr>
          <p:cNvPr id="30" name="Shape 20"/>
          <p:cNvSpPr/>
          <p:nvPr/>
        </p:nvSpPr>
        <p:spPr>
          <a:xfrm>
            <a:off x="6217920" y="5175504"/>
            <a:ext cx="5394960" cy="1051560"/>
          </a:xfrm>
          <a:prstGeom prst="roundRect">
            <a:avLst>
              <a:gd name="adj" fmla="val 6957"/>
            </a:avLst>
          </a:prstGeom>
          <a:solidFill>
            <a:srgbClr val="142850"/>
          </a:solidFill>
          <a:ln/>
          <a:effectLst>
            <a:outerShdw sx="100000" sy="100000" kx="0" ky="0" algn="bl" rotWithShape="0" blurRad="76200" dist="25400" dir="2700000">
              <a:srgbClr val="000000">
                <a:alpha val="12000"/>
              </a:srgbClr>
            </a:outerShdw>
          </a:effectLst>
        </p:spPr>
      </p:sp>
      <p:pic>
        <p:nvPicPr>
          <p:cNvPr id="31" name="Image 7" descr="preencoded.png">    </p:cNvPr>
          <p:cNvPicPr>
            <a:picLocks noChangeAspect="1"/>
          </p:cNvPicPr>
          <p:nvPr/>
        </p:nvPicPr>
        <p:blipFill>
          <a:blip r:embed="rId8"/>
          <a:stretch>
            <a:fillRect/>
          </a:stretch>
        </p:blipFill>
        <p:spPr>
          <a:xfrm>
            <a:off x="6492240" y="5408676"/>
            <a:ext cx="585216" cy="585216"/>
          </a:xfrm>
          <a:prstGeom prst="rect">
            <a:avLst/>
          </a:prstGeom>
        </p:spPr>
      </p:pic>
      <p:sp>
        <p:nvSpPr>
          <p:cNvPr id="32" name="Text 21"/>
          <p:cNvSpPr/>
          <p:nvPr/>
        </p:nvSpPr>
        <p:spPr>
          <a:xfrm>
            <a:off x="7315200" y="5175504"/>
            <a:ext cx="4114800" cy="105156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Loan Performance</a:t>
            </a:r>
            <a:endParaRPr lang="en-US" sz="1500" dirty="0"/>
          </a:p>
        </p:txBody>
      </p:sp>
      <p:sp>
        <p:nvSpPr>
          <p:cNvPr id="33" name="Shape 22"/>
          <p:cNvSpPr/>
          <p:nvPr/>
        </p:nvSpPr>
        <p:spPr>
          <a:xfrm>
            <a:off x="548640" y="5806440"/>
            <a:ext cx="11064240" cy="685800"/>
          </a:xfrm>
          <a:prstGeom prst="roundRect">
            <a:avLst>
              <a:gd name="adj" fmla="val 8000"/>
            </a:avLst>
          </a:prstGeom>
          <a:solidFill>
            <a:srgbClr val="142850"/>
          </a:solidFill>
          <a:ln/>
          <a:effectLst>
            <a:outerShdw sx="100000" sy="100000" kx="0" ky="0" algn="bl" rotWithShape="0" blurRad="76200" dist="25400" dir="2700000">
              <a:srgbClr val="000000">
                <a:alpha val="15000"/>
              </a:srgbClr>
            </a:outerShdw>
          </a:effectLst>
        </p:spPr>
      </p:sp>
      <p:sp>
        <p:nvSpPr>
          <p:cNvPr id="34" name="Text 23"/>
          <p:cNvSpPr/>
          <p:nvPr/>
        </p:nvSpPr>
        <p:spPr>
          <a:xfrm>
            <a:off x="777240" y="5897880"/>
            <a:ext cx="10607040" cy="50292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The dataset combines borrower demographics, financial characteristics, loan details, and credit history to support comprehensive credit risk analysis and predictive modeling.</a:t>
            </a:r>
            <a:endParaRPr lang="en-US" sz="1250" dirty="0"/>
          </a:p>
        </p:txBody>
      </p:sp>
      <p:sp>
        <p:nvSpPr>
          <p:cNvPr id="35" name="Text 24"/>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DATASET</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Project Methodology</a:t>
            </a:r>
            <a:endParaRPr lang="en-US" sz="3200" dirty="0"/>
          </a:p>
        </p:txBody>
      </p:sp>
      <p:sp>
        <p:nvSpPr>
          <p:cNvPr id="4" name="Shape 2"/>
          <p:cNvSpPr/>
          <p:nvPr/>
        </p:nvSpPr>
        <p:spPr>
          <a:xfrm>
            <a:off x="756095" y="1508760"/>
            <a:ext cx="731520" cy="731520"/>
          </a:xfrm>
          <a:prstGeom prst="ellipse">
            <a:avLst/>
          </a:prstGeom>
          <a:solidFill>
            <a:srgbClr val="D7E6F5"/>
          </a:solidFill>
          <a:ln w="12700">
            <a:solidFill>
              <a:srgbClr val="142850"/>
            </a:solidFill>
            <a:prstDash val="solid"/>
          </a:ln>
        </p:spPr>
      </p:sp>
      <p:pic>
        <p:nvPicPr>
          <p:cNvPr id="5" name="Image 0" descr="preencoded.png">    </p:cNvPr>
          <p:cNvPicPr>
            <a:picLocks noChangeAspect="1"/>
          </p:cNvPicPr>
          <p:nvPr/>
        </p:nvPicPr>
        <p:blipFill>
          <a:blip r:embed="rId1"/>
          <a:stretch>
            <a:fillRect/>
          </a:stretch>
        </p:blipFill>
        <p:spPr>
          <a:xfrm>
            <a:off x="893255" y="1645920"/>
            <a:ext cx="457200" cy="457200"/>
          </a:xfrm>
          <a:prstGeom prst="rect">
            <a:avLst/>
          </a:prstGeom>
        </p:spPr>
      </p:pic>
      <p:sp>
        <p:nvSpPr>
          <p:cNvPr id="6" name="Text 3"/>
          <p:cNvSpPr/>
          <p:nvPr/>
        </p:nvSpPr>
        <p:spPr>
          <a:xfrm>
            <a:off x="457200" y="2331720"/>
            <a:ext cx="1329309" cy="502920"/>
          </a:xfrm>
          <a:prstGeom prst="rect">
            <a:avLst/>
          </a:prstGeom>
          <a:noFill/>
          <a:ln/>
        </p:spPr>
        <p:txBody>
          <a:bodyPr wrap="square" rtlCol="0" anchor="ctr"/>
          <a:lstStyle/>
          <a:p>
            <a:pPr algn="ctr" indent="0" marL="0">
              <a:buNone/>
            </a:pPr>
            <a:r>
              <a:rPr lang="en-US" sz="950" b="1" dirty="0">
                <a:solidFill>
                  <a:srgbClr val="142850"/>
                </a:solidFill>
                <a:latin typeface="Calibri" pitchFamily="34" charset="0"/>
                <a:ea typeface="Calibri" pitchFamily="34" charset="-122"/>
                <a:cs typeface="Calibri" pitchFamily="34" charset="-120"/>
              </a:rPr>
              <a:t>Business</a:t>
            </a:r>
            <a:endParaRPr lang="en-US" sz="950" dirty="0"/>
          </a:p>
          <a:p>
            <a:pPr algn="ctr" indent="0" marL="0">
              <a:buNone/>
            </a:pPr>
            <a:r>
              <a:rPr lang="en-US" sz="950" b="1" dirty="0">
                <a:solidFill>
                  <a:srgbClr val="142850"/>
                </a:solidFill>
                <a:latin typeface="Calibri" pitchFamily="34" charset="0"/>
                <a:ea typeface="Calibri" pitchFamily="34" charset="-122"/>
                <a:cs typeface="Calibri" pitchFamily="34" charset="-120"/>
              </a:rPr>
              <a:t>Problem</a:t>
            </a:r>
            <a:endParaRPr lang="en-US" sz="950" dirty="0"/>
          </a:p>
        </p:txBody>
      </p:sp>
      <p:sp>
        <p:nvSpPr>
          <p:cNvPr id="7" name="Text 4"/>
          <p:cNvSpPr/>
          <p:nvPr/>
        </p:nvSpPr>
        <p:spPr>
          <a:xfrm>
            <a:off x="1585341" y="1627632"/>
            <a:ext cx="384048" cy="502920"/>
          </a:xfrm>
          <a:prstGeom prst="rect">
            <a:avLst/>
          </a:prstGeom>
          <a:noFill/>
          <a:ln/>
        </p:spPr>
        <p:txBody>
          <a:bodyPr wrap="square" rtlCol="0" anchor="ctr"/>
          <a:lstStyle/>
          <a:p>
            <a:pPr algn="ctr" indent="0" marL="0">
              <a:buNone/>
            </a:pPr>
            <a:r>
              <a:rPr lang="en-US" sz="1400" dirty="0">
                <a:solidFill>
                  <a:srgbClr val="E08A2C"/>
                </a:solidFill>
              </a:rPr>
              <a:t>→</a:t>
            </a:r>
            <a:endParaRPr lang="en-US" sz="1400" dirty="0"/>
          </a:p>
        </p:txBody>
      </p:sp>
      <p:sp>
        <p:nvSpPr>
          <p:cNvPr id="8" name="Shape 5"/>
          <p:cNvSpPr/>
          <p:nvPr/>
        </p:nvSpPr>
        <p:spPr>
          <a:xfrm>
            <a:off x="2176844" y="1508760"/>
            <a:ext cx="731520" cy="731520"/>
          </a:xfrm>
          <a:prstGeom prst="ellipse">
            <a:avLst/>
          </a:prstGeom>
          <a:solidFill>
            <a:srgbClr val="D7E6F5"/>
          </a:solidFill>
          <a:ln w="12700">
            <a:solidFill>
              <a:srgbClr val="142850"/>
            </a:solidFill>
            <a:prstDash val="solid"/>
          </a:ln>
        </p:spPr>
      </p:sp>
      <p:pic>
        <p:nvPicPr>
          <p:cNvPr id="9" name="Image 1" descr="preencoded.png">    </p:cNvPr>
          <p:cNvPicPr>
            <a:picLocks noChangeAspect="1"/>
          </p:cNvPicPr>
          <p:nvPr/>
        </p:nvPicPr>
        <p:blipFill>
          <a:blip r:embed="rId2"/>
          <a:stretch>
            <a:fillRect/>
          </a:stretch>
        </p:blipFill>
        <p:spPr>
          <a:xfrm>
            <a:off x="2314004" y="1645920"/>
            <a:ext cx="457200" cy="457200"/>
          </a:xfrm>
          <a:prstGeom prst="rect">
            <a:avLst/>
          </a:prstGeom>
        </p:spPr>
      </p:pic>
      <p:sp>
        <p:nvSpPr>
          <p:cNvPr id="10" name="Text 6"/>
          <p:cNvSpPr/>
          <p:nvPr/>
        </p:nvSpPr>
        <p:spPr>
          <a:xfrm>
            <a:off x="1877949" y="2331720"/>
            <a:ext cx="1329309" cy="502920"/>
          </a:xfrm>
          <a:prstGeom prst="rect">
            <a:avLst/>
          </a:prstGeom>
          <a:noFill/>
          <a:ln/>
        </p:spPr>
        <p:txBody>
          <a:bodyPr wrap="square" rtlCol="0" anchor="ctr"/>
          <a:lstStyle/>
          <a:p>
            <a:pPr algn="ctr" indent="0" marL="0">
              <a:buNone/>
            </a:pPr>
            <a:r>
              <a:rPr lang="en-US" sz="950" b="1" dirty="0">
                <a:solidFill>
                  <a:srgbClr val="142850"/>
                </a:solidFill>
                <a:latin typeface="Calibri" pitchFamily="34" charset="0"/>
                <a:ea typeface="Calibri" pitchFamily="34" charset="-122"/>
                <a:cs typeface="Calibri" pitchFamily="34" charset="-120"/>
              </a:rPr>
              <a:t>Data</a:t>
            </a:r>
            <a:endParaRPr lang="en-US" sz="950" dirty="0"/>
          </a:p>
          <a:p>
            <a:pPr algn="ctr" indent="0" marL="0">
              <a:buNone/>
            </a:pPr>
            <a:r>
              <a:rPr lang="en-US" sz="950" b="1" dirty="0">
                <a:solidFill>
                  <a:srgbClr val="142850"/>
                </a:solidFill>
                <a:latin typeface="Calibri" pitchFamily="34" charset="0"/>
                <a:ea typeface="Calibri" pitchFamily="34" charset="-122"/>
                <a:cs typeface="Calibri" pitchFamily="34" charset="-120"/>
              </a:rPr>
              <a:t>Collection</a:t>
            </a:r>
            <a:endParaRPr lang="en-US" sz="950" dirty="0"/>
          </a:p>
        </p:txBody>
      </p:sp>
      <p:sp>
        <p:nvSpPr>
          <p:cNvPr id="11" name="Text 7"/>
          <p:cNvSpPr/>
          <p:nvPr/>
        </p:nvSpPr>
        <p:spPr>
          <a:xfrm>
            <a:off x="3006090" y="1627632"/>
            <a:ext cx="384048" cy="502920"/>
          </a:xfrm>
          <a:prstGeom prst="rect">
            <a:avLst/>
          </a:prstGeom>
          <a:noFill/>
          <a:ln/>
        </p:spPr>
        <p:txBody>
          <a:bodyPr wrap="square" rtlCol="0" anchor="ctr"/>
          <a:lstStyle/>
          <a:p>
            <a:pPr algn="ctr" indent="0" marL="0">
              <a:buNone/>
            </a:pPr>
            <a:r>
              <a:rPr lang="en-US" sz="1400" dirty="0">
                <a:solidFill>
                  <a:srgbClr val="E08A2C"/>
                </a:solidFill>
              </a:rPr>
              <a:t>→</a:t>
            </a:r>
            <a:endParaRPr lang="en-US" sz="1400" dirty="0"/>
          </a:p>
        </p:txBody>
      </p:sp>
      <p:sp>
        <p:nvSpPr>
          <p:cNvPr id="12" name="Shape 8"/>
          <p:cNvSpPr/>
          <p:nvPr/>
        </p:nvSpPr>
        <p:spPr>
          <a:xfrm>
            <a:off x="3597593" y="1508760"/>
            <a:ext cx="731520" cy="731520"/>
          </a:xfrm>
          <a:prstGeom prst="ellipse">
            <a:avLst/>
          </a:prstGeom>
          <a:solidFill>
            <a:srgbClr val="D7E6F5"/>
          </a:solidFill>
          <a:ln w="12700">
            <a:solidFill>
              <a:srgbClr val="142850"/>
            </a:solidFill>
            <a:prstDash val="solid"/>
          </a:ln>
        </p:spPr>
      </p:sp>
      <p:pic>
        <p:nvPicPr>
          <p:cNvPr id="13" name="Image 2" descr="preencoded.png">    </p:cNvPr>
          <p:cNvPicPr>
            <a:picLocks noChangeAspect="1"/>
          </p:cNvPicPr>
          <p:nvPr/>
        </p:nvPicPr>
        <p:blipFill>
          <a:blip r:embed="rId3"/>
          <a:stretch>
            <a:fillRect/>
          </a:stretch>
        </p:blipFill>
        <p:spPr>
          <a:xfrm>
            <a:off x="3734753" y="1645920"/>
            <a:ext cx="457200" cy="457200"/>
          </a:xfrm>
          <a:prstGeom prst="rect">
            <a:avLst/>
          </a:prstGeom>
        </p:spPr>
      </p:pic>
      <p:sp>
        <p:nvSpPr>
          <p:cNvPr id="14" name="Text 9"/>
          <p:cNvSpPr/>
          <p:nvPr/>
        </p:nvSpPr>
        <p:spPr>
          <a:xfrm>
            <a:off x="3298698" y="2331720"/>
            <a:ext cx="1329309" cy="502920"/>
          </a:xfrm>
          <a:prstGeom prst="rect">
            <a:avLst/>
          </a:prstGeom>
          <a:noFill/>
          <a:ln/>
        </p:spPr>
        <p:txBody>
          <a:bodyPr wrap="square" rtlCol="0" anchor="ctr"/>
          <a:lstStyle/>
          <a:p>
            <a:pPr algn="ctr" indent="0" marL="0">
              <a:buNone/>
            </a:pPr>
            <a:r>
              <a:rPr lang="en-US" sz="950" b="1" dirty="0">
                <a:solidFill>
                  <a:srgbClr val="142850"/>
                </a:solidFill>
                <a:latin typeface="Calibri" pitchFamily="34" charset="0"/>
                <a:ea typeface="Calibri" pitchFamily="34" charset="-122"/>
                <a:cs typeface="Calibri" pitchFamily="34" charset="-120"/>
              </a:rPr>
              <a:t>Excel</a:t>
            </a:r>
            <a:endParaRPr lang="en-US" sz="950" dirty="0"/>
          </a:p>
          <a:p>
            <a:pPr algn="ctr" indent="0" marL="0">
              <a:buNone/>
            </a:pPr>
            <a:r>
              <a:rPr lang="en-US" sz="950" b="1" dirty="0">
                <a:solidFill>
                  <a:srgbClr val="142850"/>
                </a:solidFill>
                <a:latin typeface="Calibri" pitchFamily="34" charset="0"/>
                <a:ea typeface="Calibri" pitchFamily="34" charset="-122"/>
                <a:cs typeface="Calibri" pitchFamily="34" charset="-120"/>
              </a:rPr>
              <a:t>Cleaning</a:t>
            </a:r>
            <a:endParaRPr lang="en-US" sz="950" dirty="0"/>
          </a:p>
        </p:txBody>
      </p:sp>
      <p:sp>
        <p:nvSpPr>
          <p:cNvPr id="15" name="Text 10"/>
          <p:cNvSpPr/>
          <p:nvPr/>
        </p:nvSpPr>
        <p:spPr>
          <a:xfrm>
            <a:off x="4426839" y="1627632"/>
            <a:ext cx="384048" cy="502920"/>
          </a:xfrm>
          <a:prstGeom prst="rect">
            <a:avLst/>
          </a:prstGeom>
          <a:noFill/>
          <a:ln/>
        </p:spPr>
        <p:txBody>
          <a:bodyPr wrap="square" rtlCol="0" anchor="ctr"/>
          <a:lstStyle/>
          <a:p>
            <a:pPr algn="ctr" indent="0" marL="0">
              <a:buNone/>
            </a:pPr>
            <a:r>
              <a:rPr lang="en-US" sz="1400" dirty="0">
                <a:solidFill>
                  <a:srgbClr val="E08A2C"/>
                </a:solidFill>
              </a:rPr>
              <a:t>→</a:t>
            </a:r>
            <a:endParaRPr lang="en-US" sz="1400" dirty="0"/>
          </a:p>
        </p:txBody>
      </p:sp>
      <p:sp>
        <p:nvSpPr>
          <p:cNvPr id="16" name="Shape 11"/>
          <p:cNvSpPr/>
          <p:nvPr/>
        </p:nvSpPr>
        <p:spPr>
          <a:xfrm>
            <a:off x="5018342" y="1508760"/>
            <a:ext cx="731520" cy="731520"/>
          </a:xfrm>
          <a:prstGeom prst="ellipse">
            <a:avLst/>
          </a:prstGeom>
          <a:solidFill>
            <a:srgbClr val="D7E6F5"/>
          </a:solidFill>
          <a:ln w="12700">
            <a:solidFill>
              <a:srgbClr val="142850"/>
            </a:solidFill>
            <a:prstDash val="solid"/>
          </a:ln>
        </p:spPr>
      </p:sp>
      <p:pic>
        <p:nvPicPr>
          <p:cNvPr id="17" name="Image 3" descr="preencoded.png">    </p:cNvPr>
          <p:cNvPicPr>
            <a:picLocks noChangeAspect="1"/>
          </p:cNvPicPr>
          <p:nvPr/>
        </p:nvPicPr>
        <p:blipFill>
          <a:blip r:embed="rId4"/>
          <a:stretch>
            <a:fillRect/>
          </a:stretch>
        </p:blipFill>
        <p:spPr>
          <a:xfrm>
            <a:off x="5155502" y="1645920"/>
            <a:ext cx="457200" cy="457200"/>
          </a:xfrm>
          <a:prstGeom prst="rect">
            <a:avLst/>
          </a:prstGeom>
        </p:spPr>
      </p:pic>
      <p:sp>
        <p:nvSpPr>
          <p:cNvPr id="18" name="Text 12"/>
          <p:cNvSpPr/>
          <p:nvPr/>
        </p:nvSpPr>
        <p:spPr>
          <a:xfrm>
            <a:off x="4719447" y="2331720"/>
            <a:ext cx="1329309" cy="502920"/>
          </a:xfrm>
          <a:prstGeom prst="rect">
            <a:avLst/>
          </a:prstGeom>
          <a:noFill/>
          <a:ln/>
        </p:spPr>
        <p:txBody>
          <a:bodyPr wrap="square" rtlCol="0" anchor="ctr"/>
          <a:lstStyle/>
          <a:p>
            <a:pPr algn="ctr" indent="0" marL="0">
              <a:buNone/>
            </a:pPr>
            <a:r>
              <a:rPr lang="en-US" sz="950" b="1" dirty="0">
                <a:solidFill>
                  <a:srgbClr val="142850"/>
                </a:solidFill>
                <a:latin typeface="Calibri" pitchFamily="34" charset="0"/>
                <a:ea typeface="Calibri" pitchFamily="34" charset="-122"/>
                <a:cs typeface="Calibri" pitchFamily="34" charset="-120"/>
              </a:rPr>
              <a:t>SQL</a:t>
            </a:r>
            <a:endParaRPr lang="en-US" sz="950" dirty="0"/>
          </a:p>
          <a:p>
            <a:pPr algn="ctr" indent="0" marL="0">
              <a:buNone/>
            </a:pPr>
            <a:r>
              <a:rPr lang="en-US" sz="950" b="1" dirty="0">
                <a:solidFill>
                  <a:srgbClr val="142850"/>
                </a:solidFill>
                <a:latin typeface="Calibri" pitchFamily="34" charset="0"/>
                <a:ea typeface="Calibri" pitchFamily="34" charset="-122"/>
                <a:cs typeface="Calibri" pitchFamily="34" charset="-120"/>
              </a:rPr>
              <a:t>Analysis</a:t>
            </a:r>
            <a:endParaRPr lang="en-US" sz="950" dirty="0"/>
          </a:p>
        </p:txBody>
      </p:sp>
      <p:sp>
        <p:nvSpPr>
          <p:cNvPr id="19" name="Text 13"/>
          <p:cNvSpPr/>
          <p:nvPr/>
        </p:nvSpPr>
        <p:spPr>
          <a:xfrm>
            <a:off x="5847588" y="1627632"/>
            <a:ext cx="384048" cy="502920"/>
          </a:xfrm>
          <a:prstGeom prst="rect">
            <a:avLst/>
          </a:prstGeom>
          <a:noFill/>
          <a:ln/>
        </p:spPr>
        <p:txBody>
          <a:bodyPr wrap="square" rtlCol="0" anchor="ctr"/>
          <a:lstStyle/>
          <a:p>
            <a:pPr algn="ctr" indent="0" marL="0">
              <a:buNone/>
            </a:pPr>
            <a:r>
              <a:rPr lang="en-US" sz="1400" dirty="0">
                <a:solidFill>
                  <a:srgbClr val="E08A2C"/>
                </a:solidFill>
              </a:rPr>
              <a:t>→</a:t>
            </a:r>
            <a:endParaRPr lang="en-US" sz="1400" dirty="0"/>
          </a:p>
        </p:txBody>
      </p:sp>
      <p:sp>
        <p:nvSpPr>
          <p:cNvPr id="20" name="Shape 14"/>
          <p:cNvSpPr/>
          <p:nvPr/>
        </p:nvSpPr>
        <p:spPr>
          <a:xfrm>
            <a:off x="6439091" y="1508760"/>
            <a:ext cx="731520" cy="731520"/>
          </a:xfrm>
          <a:prstGeom prst="ellipse">
            <a:avLst/>
          </a:prstGeom>
          <a:solidFill>
            <a:srgbClr val="D7E6F5"/>
          </a:solidFill>
          <a:ln w="12700">
            <a:solidFill>
              <a:srgbClr val="142850"/>
            </a:solidFill>
            <a:prstDash val="solid"/>
          </a:ln>
        </p:spPr>
      </p:sp>
      <p:pic>
        <p:nvPicPr>
          <p:cNvPr id="21" name="Image 4" descr="preencoded.png">    </p:cNvPr>
          <p:cNvPicPr>
            <a:picLocks noChangeAspect="1"/>
          </p:cNvPicPr>
          <p:nvPr/>
        </p:nvPicPr>
        <p:blipFill>
          <a:blip r:embed="rId5"/>
          <a:stretch>
            <a:fillRect/>
          </a:stretch>
        </p:blipFill>
        <p:spPr>
          <a:xfrm>
            <a:off x="6576251" y="1645920"/>
            <a:ext cx="457200" cy="457200"/>
          </a:xfrm>
          <a:prstGeom prst="rect">
            <a:avLst/>
          </a:prstGeom>
        </p:spPr>
      </p:pic>
      <p:sp>
        <p:nvSpPr>
          <p:cNvPr id="22" name="Text 15"/>
          <p:cNvSpPr/>
          <p:nvPr/>
        </p:nvSpPr>
        <p:spPr>
          <a:xfrm>
            <a:off x="6140196" y="2331720"/>
            <a:ext cx="1329309" cy="502920"/>
          </a:xfrm>
          <a:prstGeom prst="rect">
            <a:avLst/>
          </a:prstGeom>
          <a:noFill/>
          <a:ln/>
        </p:spPr>
        <p:txBody>
          <a:bodyPr wrap="square" rtlCol="0" anchor="ctr"/>
          <a:lstStyle/>
          <a:p>
            <a:pPr algn="ctr" indent="0" marL="0">
              <a:buNone/>
            </a:pPr>
            <a:r>
              <a:rPr lang="en-US" sz="950" b="1" dirty="0">
                <a:solidFill>
                  <a:srgbClr val="142850"/>
                </a:solidFill>
                <a:latin typeface="Calibri" pitchFamily="34" charset="0"/>
                <a:ea typeface="Calibri" pitchFamily="34" charset="-122"/>
                <a:cs typeface="Calibri" pitchFamily="34" charset="-120"/>
              </a:rPr>
              <a:t>Python</a:t>
            </a:r>
            <a:endParaRPr lang="en-US" sz="950" dirty="0"/>
          </a:p>
          <a:p>
            <a:pPr algn="ctr" indent="0" marL="0">
              <a:buNone/>
            </a:pPr>
            <a:r>
              <a:rPr lang="en-US" sz="950" b="1" dirty="0">
                <a:solidFill>
                  <a:srgbClr val="142850"/>
                </a:solidFill>
                <a:latin typeface="Calibri" pitchFamily="34" charset="0"/>
                <a:ea typeface="Calibri" pitchFamily="34" charset="-122"/>
                <a:cs typeface="Calibri" pitchFamily="34" charset="-120"/>
              </a:rPr>
              <a:t>Analysis</a:t>
            </a:r>
            <a:endParaRPr lang="en-US" sz="950" dirty="0"/>
          </a:p>
        </p:txBody>
      </p:sp>
      <p:sp>
        <p:nvSpPr>
          <p:cNvPr id="23" name="Text 16"/>
          <p:cNvSpPr/>
          <p:nvPr/>
        </p:nvSpPr>
        <p:spPr>
          <a:xfrm>
            <a:off x="7268337" y="1627632"/>
            <a:ext cx="384048" cy="502920"/>
          </a:xfrm>
          <a:prstGeom prst="rect">
            <a:avLst/>
          </a:prstGeom>
          <a:noFill/>
          <a:ln/>
        </p:spPr>
        <p:txBody>
          <a:bodyPr wrap="square" rtlCol="0" anchor="ctr"/>
          <a:lstStyle/>
          <a:p>
            <a:pPr algn="ctr" indent="0" marL="0">
              <a:buNone/>
            </a:pPr>
            <a:r>
              <a:rPr lang="en-US" sz="1400" dirty="0">
                <a:solidFill>
                  <a:srgbClr val="E08A2C"/>
                </a:solidFill>
              </a:rPr>
              <a:t>→</a:t>
            </a:r>
            <a:endParaRPr lang="en-US" sz="1400" dirty="0"/>
          </a:p>
        </p:txBody>
      </p:sp>
      <p:sp>
        <p:nvSpPr>
          <p:cNvPr id="24" name="Shape 17"/>
          <p:cNvSpPr/>
          <p:nvPr/>
        </p:nvSpPr>
        <p:spPr>
          <a:xfrm>
            <a:off x="7859840" y="1508760"/>
            <a:ext cx="731520" cy="731520"/>
          </a:xfrm>
          <a:prstGeom prst="ellipse">
            <a:avLst/>
          </a:prstGeom>
          <a:solidFill>
            <a:srgbClr val="D7E6F5"/>
          </a:solidFill>
          <a:ln w="12700">
            <a:solidFill>
              <a:srgbClr val="142850"/>
            </a:solidFill>
            <a:prstDash val="solid"/>
          </a:ln>
        </p:spPr>
      </p:sp>
      <p:pic>
        <p:nvPicPr>
          <p:cNvPr id="25" name="Image 5" descr="preencoded.png">    </p:cNvPr>
          <p:cNvPicPr>
            <a:picLocks noChangeAspect="1"/>
          </p:cNvPicPr>
          <p:nvPr/>
        </p:nvPicPr>
        <p:blipFill>
          <a:blip r:embed="rId6"/>
          <a:stretch>
            <a:fillRect/>
          </a:stretch>
        </p:blipFill>
        <p:spPr>
          <a:xfrm>
            <a:off x="7997000" y="1645920"/>
            <a:ext cx="457200" cy="457200"/>
          </a:xfrm>
          <a:prstGeom prst="rect">
            <a:avLst/>
          </a:prstGeom>
        </p:spPr>
      </p:pic>
      <p:sp>
        <p:nvSpPr>
          <p:cNvPr id="26" name="Text 18"/>
          <p:cNvSpPr/>
          <p:nvPr/>
        </p:nvSpPr>
        <p:spPr>
          <a:xfrm>
            <a:off x="7560945" y="2331720"/>
            <a:ext cx="1329309" cy="502920"/>
          </a:xfrm>
          <a:prstGeom prst="rect">
            <a:avLst/>
          </a:prstGeom>
          <a:noFill/>
          <a:ln/>
        </p:spPr>
        <p:txBody>
          <a:bodyPr wrap="square" rtlCol="0" anchor="ctr"/>
          <a:lstStyle/>
          <a:p>
            <a:pPr algn="ctr" indent="0" marL="0">
              <a:buNone/>
            </a:pPr>
            <a:r>
              <a:rPr lang="en-US" sz="950" b="1" dirty="0">
                <a:solidFill>
                  <a:srgbClr val="142850"/>
                </a:solidFill>
                <a:latin typeface="Calibri" pitchFamily="34" charset="0"/>
                <a:ea typeface="Calibri" pitchFamily="34" charset="-122"/>
                <a:cs typeface="Calibri" pitchFamily="34" charset="-120"/>
              </a:rPr>
              <a:t>Machine</a:t>
            </a:r>
            <a:endParaRPr lang="en-US" sz="950" dirty="0"/>
          </a:p>
          <a:p>
            <a:pPr algn="ctr" indent="0" marL="0">
              <a:buNone/>
            </a:pPr>
            <a:r>
              <a:rPr lang="en-US" sz="950" b="1" dirty="0">
                <a:solidFill>
                  <a:srgbClr val="142850"/>
                </a:solidFill>
                <a:latin typeface="Calibri" pitchFamily="34" charset="0"/>
                <a:ea typeface="Calibri" pitchFamily="34" charset="-122"/>
                <a:cs typeface="Calibri" pitchFamily="34" charset="-120"/>
              </a:rPr>
              <a:t>Learning</a:t>
            </a:r>
            <a:endParaRPr lang="en-US" sz="950" dirty="0"/>
          </a:p>
        </p:txBody>
      </p:sp>
      <p:sp>
        <p:nvSpPr>
          <p:cNvPr id="27" name="Text 19"/>
          <p:cNvSpPr/>
          <p:nvPr/>
        </p:nvSpPr>
        <p:spPr>
          <a:xfrm>
            <a:off x="8689086" y="1627632"/>
            <a:ext cx="384048" cy="502920"/>
          </a:xfrm>
          <a:prstGeom prst="rect">
            <a:avLst/>
          </a:prstGeom>
          <a:noFill/>
          <a:ln/>
        </p:spPr>
        <p:txBody>
          <a:bodyPr wrap="square" rtlCol="0" anchor="ctr"/>
          <a:lstStyle/>
          <a:p>
            <a:pPr algn="ctr" indent="0" marL="0">
              <a:buNone/>
            </a:pPr>
            <a:r>
              <a:rPr lang="en-US" sz="1400" dirty="0">
                <a:solidFill>
                  <a:srgbClr val="E08A2C"/>
                </a:solidFill>
              </a:rPr>
              <a:t>→</a:t>
            </a:r>
            <a:endParaRPr lang="en-US" sz="1400" dirty="0"/>
          </a:p>
        </p:txBody>
      </p:sp>
      <p:sp>
        <p:nvSpPr>
          <p:cNvPr id="28" name="Shape 20"/>
          <p:cNvSpPr/>
          <p:nvPr/>
        </p:nvSpPr>
        <p:spPr>
          <a:xfrm>
            <a:off x="9280589" y="1508760"/>
            <a:ext cx="731520" cy="731520"/>
          </a:xfrm>
          <a:prstGeom prst="ellipse">
            <a:avLst/>
          </a:prstGeom>
          <a:solidFill>
            <a:srgbClr val="D7E6F5"/>
          </a:solidFill>
          <a:ln w="12700">
            <a:solidFill>
              <a:srgbClr val="142850"/>
            </a:solidFill>
            <a:prstDash val="solid"/>
          </a:ln>
        </p:spPr>
      </p:sp>
      <p:pic>
        <p:nvPicPr>
          <p:cNvPr id="29" name="Image 6" descr="preencoded.png">    </p:cNvPr>
          <p:cNvPicPr>
            <a:picLocks noChangeAspect="1"/>
          </p:cNvPicPr>
          <p:nvPr/>
        </p:nvPicPr>
        <p:blipFill>
          <a:blip r:embed="rId7"/>
          <a:stretch>
            <a:fillRect/>
          </a:stretch>
        </p:blipFill>
        <p:spPr>
          <a:xfrm>
            <a:off x="9417749" y="1645920"/>
            <a:ext cx="457200" cy="457200"/>
          </a:xfrm>
          <a:prstGeom prst="rect">
            <a:avLst/>
          </a:prstGeom>
        </p:spPr>
      </p:pic>
      <p:sp>
        <p:nvSpPr>
          <p:cNvPr id="30" name="Text 21"/>
          <p:cNvSpPr/>
          <p:nvPr/>
        </p:nvSpPr>
        <p:spPr>
          <a:xfrm>
            <a:off x="8981694" y="2331720"/>
            <a:ext cx="1329309" cy="502920"/>
          </a:xfrm>
          <a:prstGeom prst="rect">
            <a:avLst/>
          </a:prstGeom>
          <a:noFill/>
          <a:ln/>
        </p:spPr>
        <p:txBody>
          <a:bodyPr wrap="square" rtlCol="0" anchor="ctr"/>
          <a:lstStyle/>
          <a:p>
            <a:pPr algn="ctr" indent="0" marL="0">
              <a:buNone/>
            </a:pPr>
            <a:r>
              <a:rPr lang="en-US" sz="950" b="1" dirty="0">
                <a:solidFill>
                  <a:srgbClr val="142850"/>
                </a:solidFill>
                <a:latin typeface="Calibri" pitchFamily="34" charset="0"/>
                <a:ea typeface="Calibri" pitchFamily="34" charset="-122"/>
                <a:cs typeface="Calibri" pitchFamily="34" charset="-120"/>
              </a:rPr>
              <a:t>Power BI</a:t>
            </a:r>
            <a:endParaRPr lang="en-US" sz="950" dirty="0"/>
          </a:p>
          <a:p>
            <a:pPr algn="ctr" indent="0" marL="0">
              <a:buNone/>
            </a:pPr>
            <a:r>
              <a:rPr lang="en-US" sz="950" b="1" dirty="0">
                <a:solidFill>
                  <a:srgbClr val="142850"/>
                </a:solidFill>
                <a:latin typeface="Calibri" pitchFamily="34" charset="0"/>
                <a:ea typeface="Calibri" pitchFamily="34" charset="-122"/>
                <a:cs typeface="Calibri" pitchFamily="34" charset="-120"/>
              </a:rPr>
              <a:t>Dashboard</a:t>
            </a:r>
            <a:endParaRPr lang="en-US" sz="950" dirty="0"/>
          </a:p>
        </p:txBody>
      </p:sp>
      <p:sp>
        <p:nvSpPr>
          <p:cNvPr id="31" name="Text 22"/>
          <p:cNvSpPr/>
          <p:nvPr/>
        </p:nvSpPr>
        <p:spPr>
          <a:xfrm>
            <a:off x="10109835" y="1627632"/>
            <a:ext cx="384048" cy="502920"/>
          </a:xfrm>
          <a:prstGeom prst="rect">
            <a:avLst/>
          </a:prstGeom>
          <a:noFill/>
          <a:ln/>
        </p:spPr>
        <p:txBody>
          <a:bodyPr wrap="square" rtlCol="0" anchor="ctr"/>
          <a:lstStyle/>
          <a:p>
            <a:pPr algn="ctr" indent="0" marL="0">
              <a:buNone/>
            </a:pPr>
            <a:r>
              <a:rPr lang="en-US" sz="1400" dirty="0">
                <a:solidFill>
                  <a:srgbClr val="E08A2C"/>
                </a:solidFill>
              </a:rPr>
              <a:t>→</a:t>
            </a:r>
            <a:endParaRPr lang="en-US" sz="1400" dirty="0"/>
          </a:p>
        </p:txBody>
      </p:sp>
      <p:sp>
        <p:nvSpPr>
          <p:cNvPr id="32" name="Shape 23"/>
          <p:cNvSpPr/>
          <p:nvPr/>
        </p:nvSpPr>
        <p:spPr>
          <a:xfrm>
            <a:off x="10701338" y="1508760"/>
            <a:ext cx="731520" cy="731520"/>
          </a:xfrm>
          <a:prstGeom prst="ellipse">
            <a:avLst/>
          </a:prstGeom>
          <a:solidFill>
            <a:srgbClr val="D7E6F5"/>
          </a:solidFill>
          <a:ln w="12700">
            <a:solidFill>
              <a:srgbClr val="142850"/>
            </a:solidFill>
            <a:prstDash val="solid"/>
          </a:ln>
        </p:spPr>
      </p:sp>
      <p:pic>
        <p:nvPicPr>
          <p:cNvPr id="33" name="Image 7" descr="preencoded.png">    </p:cNvPr>
          <p:cNvPicPr>
            <a:picLocks noChangeAspect="1"/>
          </p:cNvPicPr>
          <p:nvPr/>
        </p:nvPicPr>
        <p:blipFill>
          <a:blip r:embed="rId8"/>
          <a:stretch>
            <a:fillRect/>
          </a:stretch>
        </p:blipFill>
        <p:spPr>
          <a:xfrm>
            <a:off x="10838498" y="1645920"/>
            <a:ext cx="457200" cy="457200"/>
          </a:xfrm>
          <a:prstGeom prst="rect">
            <a:avLst/>
          </a:prstGeom>
        </p:spPr>
      </p:pic>
      <p:sp>
        <p:nvSpPr>
          <p:cNvPr id="34" name="Text 24"/>
          <p:cNvSpPr/>
          <p:nvPr/>
        </p:nvSpPr>
        <p:spPr>
          <a:xfrm>
            <a:off x="10402443" y="2331720"/>
            <a:ext cx="1329309" cy="502920"/>
          </a:xfrm>
          <a:prstGeom prst="rect">
            <a:avLst/>
          </a:prstGeom>
          <a:noFill/>
          <a:ln/>
        </p:spPr>
        <p:txBody>
          <a:bodyPr wrap="square" rtlCol="0" anchor="ctr"/>
          <a:lstStyle/>
          <a:p>
            <a:pPr algn="ctr" indent="0" marL="0">
              <a:buNone/>
            </a:pPr>
            <a:r>
              <a:rPr lang="en-US" sz="950" b="1" dirty="0">
                <a:solidFill>
                  <a:srgbClr val="142850"/>
                </a:solidFill>
                <a:latin typeface="Calibri" pitchFamily="34" charset="0"/>
                <a:ea typeface="Calibri" pitchFamily="34" charset="-122"/>
                <a:cs typeface="Calibri" pitchFamily="34" charset="-120"/>
              </a:rPr>
              <a:t>Business</a:t>
            </a:r>
            <a:endParaRPr lang="en-US" sz="950" dirty="0"/>
          </a:p>
          <a:p>
            <a:pPr algn="ctr" indent="0" marL="0">
              <a:buNone/>
            </a:pPr>
            <a:r>
              <a:rPr lang="en-US" sz="950" b="1" dirty="0">
                <a:solidFill>
                  <a:srgbClr val="142850"/>
                </a:solidFill>
                <a:latin typeface="Calibri" pitchFamily="34" charset="0"/>
                <a:ea typeface="Calibri" pitchFamily="34" charset="-122"/>
                <a:cs typeface="Calibri" pitchFamily="34" charset="-120"/>
              </a:rPr>
              <a:t>Recommendations</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200400"/>
          <a:ext cx="11064240" cy="2331720"/>
        </p:xfrm>
        <a:graphic>
          <a:graphicData uri="http://schemas.openxmlformats.org/drawingml/2006/table">
            <a:tbl>
              <a:tblPr/>
              <a:tblGrid>
                <a:gridCol w="2926080"/>
                <a:gridCol w="8138160"/>
              </a:tblGrid>
              <a:tr h="333103">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Objective</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33103">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Business Understanding</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Define the lending problem and project objectives</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33103">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Data Preparation</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Clean, preprocess, and validate the dataset</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33103">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Exploratory Analysis</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Identify patterns, trends, and borrower characteristics</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33103">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Predictive Modeling</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Develop and evaluate machine learning models</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33103">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Business Intelligence</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Build interactive Power BI dashboards</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33103">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Decision Support</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Generate actionable business insights and recommendations</a:t>
                      </a:r>
                      <a:endParaRPr lang="en-US" sz="11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
        <p:nvSpPr>
          <p:cNvPr id="36" name="Shape 25"/>
          <p:cNvSpPr/>
          <p:nvPr/>
        </p:nvSpPr>
        <p:spPr>
          <a:xfrm>
            <a:off x="548640" y="5806440"/>
            <a:ext cx="11064240" cy="685800"/>
          </a:xfrm>
          <a:prstGeom prst="roundRect">
            <a:avLst>
              <a:gd name="adj" fmla="val 8000"/>
            </a:avLst>
          </a:prstGeom>
          <a:solidFill>
            <a:srgbClr val="142850"/>
          </a:solidFill>
          <a:ln/>
          <a:effectLst>
            <a:outerShdw sx="100000" sy="100000" kx="0" ky="0" algn="bl" rotWithShape="0" blurRad="76200" dist="25400" dir="2700000">
              <a:srgbClr val="000000">
                <a:alpha val="15000"/>
              </a:srgbClr>
            </a:outerShdw>
          </a:effectLst>
        </p:spPr>
      </p:sp>
      <p:sp>
        <p:nvSpPr>
          <p:cNvPr id="37" name="Text 26"/>
          <p:cNvSpPr/>
          <p:nvPr/>
        </p:nvSpPr>
        <p:spPr>
          <a:xfrm>
            <a:off x="777240" y="5897880"/>
            <a:ext cx="10607040" cy="50292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A structured analytics workflow ensured that each stage — from data preparation to predictive modeling and business reporting — contributed to reliable, actionable insights.</a:t>
            </a:r>
            <a:endParaRPr lang="en-US" sz="1250" dirty="0"/>
          </a:p>
        </p:txBody>
      </p:sp>
      <p:sp>
        <p:nvSpPr>
          <p:cNvPr id="38" name="Text 27"/>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DATA PREPARATION</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Excel Data Cleaning &amp; Preprocessing</a:t>
            </a:r>
            <a:endParaRPr lang="en-US" sz="3200" dirty="0"/>
          </a:p>
        </p:txBody>
      </p:sp>
      <p:sp>
        <p:nvSpPr>
          <p:cNvPr id="4" name="Text 2"/>
          <p:cNvSpPr/>
          <p:nvPr/>
        </p:nvSpPr>
        <p:spPr>
          <a:xfrm>
            <a:off x="548640" y="1371600"/>
            <a:ext cx="5486400" cy="274320"/>
          </a:xfrm>
          <a:prstGeom prst="rect">
            <a:avLst/>
          </a:prstGeom>
          <a:noFill/>
          <a:ln/>
        </p:spPr>
        <p:txBody>
          <a:bodyPr wrap="square" rtlCol="0" anchor="ctr"/>
          <a:lstStyle/>
          <a:p>
            <a:pPr indent="0" marL="0">
              <a:buNone/>
            </a:pPr>
            <a:r>
              <a:rPr lang="en-US" sz="1400" b="1" dirty="0">
                <a:solidFill>
                  <a:srgbClr val="142850"/>
                </a:solidFill>
                <a:latin typeface="Cambria" pitchFamily="34" charset="0"/>
                <a:ea typeface="Cambria" pitchFamily="34" charset="-122"/>
                <a:cs typeface="Cambria" pitchFamily="34" charset="-120"/>
              </a:rPr>
              <a:t>Objective</a:t>
            </a:r>
            <a:endParaRPr lang="en-US" sz="1400" dirty="0"/>
          </a:p>
        </p:txBody>
      </p:sp>
      <p:sp>
        <p:nvSpPr>
          <p:cNvPr id="5" name="Text 3"/>
          <p:cNvSpPr/>
          <p:nvPr/>
        </p:nvSpPr>
        <p:spPr>
          <a:xfrm>
            <a:off x="548640" y="1691640"/>
            <a:ext cx="5577840" cy="777240"/>
          </a:xfrm>
          <a:prstGeom prst="rect">
            <a:avLst/>
          </a:prstGeom>
          <a:noFill/>
          <a:ln/>
        </p:spPr>
        <p:txBody>
          <a:bodyPr wrap="square" rtlCol="0" anchor="ctr"/>
          <a:lstStyle/>
          <a:p>
            <a:pPr indent="0" marL="0">
              <a:buNone/>
            </a:pPr>
            <a:r>
              <a:rPr lang="en-US" sz="1200" dirty="0">
                <a:solidFill>
                  <a:srgbClr val="1F2937"/>
                </a:solidFill>
                <a:latin typeface="Calibri" pitchFamily="34" charset="0"/>
                <a:ea typeface="Calibri" pitchFamily="34" charset="-122"/>
                <a:cs typeface="Calibri" pitchFamily="34" charset="-120"/>
              </a:rPr>
              <a:t>Prepare the raw loan dataset by improving data quality, handling missing values, and ensuring consistency before analysis and predictive modeling.</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5577840" cy="2651760"/>
        </p:xfrm>
        <a:graphic>
          <a:graphicData uri="http://schemas.openxmlformats.org/drawingml/2006/table">
            <a:tbl>
              <a:tblPr/>
              <a:tblGrid>
                <a:gridCol w="1737360"/>
                <a:gridCol w="3840480"/>
              </a:tblGrid>
              <a:tr h="378823">
                <a:tc>
                  <a:txBody>
                    <a:bodyPr/>
                    <a:lstStyle/>
                    <a:p>
                      <a:pPr indent="0" marL="0">
                        <a:buNone/>
                      </a:pPr>
                      <a:r>
                        <a:rPr lang="en-US" sz="980" b="1" dirty="0">
                          <a:solidFill>
                            <a:srgbClr val="FFFFFF"/>
                          </a:solidFill>
                          <a:latin typeface="Calibri" pitchFamily="34" charset="0"/>
                          <a:ea typeface="Calibri" pitchFamily="34" charset="-122"/>
                          <a:cs typeface="Calibri" pitchFamily="34" charset="-120"/>
                        </a:rPr>
                        <a:t>Task</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980" b="1" dirty="0">
                          <a:solidFill>
                            <a:srgbClr val="FFFFFF"/>
                          </a:solidFill>
                          <a:latin typeface="Calibri" pitchFamily="34" charset="0"/>
                          <a:ea typeface="Calibri" pitchFamily="34" charset="-122"/>
                          <a:cs typeface="Calibri" pitchFamily="34" charset="-120"/>
                        </a:rPr>
                        <a:t>Action Taken</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78823">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Missing Values</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Treated missing values in employment info and delinquency history</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78823">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Duplicate Records</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Removed duplicate observations to maintain data integrity</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78823">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Placeholder Values</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Replaced missing delinquency values with 999 (No Prior Event)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78823">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Numeric Replacement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Replaced missing num_accounts_120d_past_due with 0</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78823">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Data Validation</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Reviewed data types and checked for inconsistencies</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78823">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Final Dataset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Generated a clean dataset ready for SQL, Python, Power BI</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
        <p:nvSpPr>
          <p:cNvPr id="7" name="Shape 4"/>
          <p:cNvSpPr/>
          <p:nvPr/>
        </p:nvSpPr>
        <p:spPr>
          <a:xfrm>
            <a:off x="6492240" y="1417320"/>
            <a:ext cx="5120640" cy="621792"/>
          </a:xfrm>
          <a:prstGeom prst="roundRect">
            <a:avLst>
              <a:gd name="adj" fmla="val 10294"/>
            </a:avLst>
          </a:prstGeom>
          <a:solidFill>
            <a:srgbClr val="D7E6F5"/>
          </a:solidFill>
          <a:ln/>
          <a:effectLst>
            <a:outerShdw sx="100000" sy="100000" kx="0" ky="0" algn="bl" rotWithShape="0" blurRad="76200" dist="25400" dir="2700000">
              <a:srgbClr val="000000">
                <a:alpha val="10000"/>
              </a:srgbClr>
            </a:outerShdw>
          </a:effectLst>
        </p:spPr>
      </p:sp>
      <p:sp>
        <p:nvSpPr>
          <p:cNvPr id="8" name="Text 5"/>
          <p:cNvSpPr/>
          <p:nvPr/>
        </p:nvSpPr>
        <p:spPr>
          <a:xfrm>
            <a:off x="6492240" y="1417320"/>
            <a:ext cx="5120640" cy="621792"/>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Raw Dataset</a:t>
            </a:r>
            <a:endParaRPr lang="en-US" sz="1300" dirty="0"/>
          </a:p>
        </p:txBody>
      </p:sp>
      <p:sp>
        <p:nvSpPr>
          <p:cNvPr id="9" name="Text 6"/>
          <p:cNvSpPr/>
          <p:nvPr/>
        </p:nvSpPr>
        <p:spPr>
          <a:xfrm>
            <a:off x="8869680" y="2020824"/>
            <a:ext cx="548640" cy="274320"/>
          </a:xfrm>
          <a:prstGeom prst="rect">
            <a:avLst/>
          </a:prstGeom>
          <a:noFill/>
          <a:ln/>
        </p:spPr>
        <p:txBody>
          <a:bodyPr wrap="square" rtlCol="0" anchor="ctr"/>
          <a:lstStyle/>
          <a:p>
            <a:pPr algn="ctr" indent="0" marL="0">
              <a:buNone/>
            </a:pPr>
            <a:r>
              <a:rPr lang="en-US" sz="1500" dirty="0">
                <a:solidFill>
                  <a:srgbClr val="E08A2C"/>
                </a:solidFill>
              </a:rPr>
              <a:t>↓</a:t>
            </a:r>
            <a:endParaRPr lang="en-US" sz="1500" dirty="0"/>
          </a:p>
        </p:txBody>
      </p:sp>
      <p:sp>
        <p:nvSpPr>
          <p:cNvPr id="10" name="Shape 7"/>
          <p:cNvSpPr/>
          <p:nvPr/>
        </p:nvSpPr>
        <p:spPr>
          <a:xfrm>
            <a:off x="6492240" y="2221992"/>
            <a:ext cx="5120640" cy="621792"/>
          </a:xfrm>
          <a:prstGeom prst="roundRect">
            <a:avLst>
              <a:gd name="adj" fmla="val 10294"/>
            </a:avLst>
          </a:prstGeom>
          <a:solidFill>
            <a:srgbClr val="D7E6F5"/>
          </a:solidFill>
          <a:ln/>
          <a:effectLst>
            <a:outerShdw sx="100000" sy="100000" kx="0" ky="0" algn="bl" rotWithShape="0" blurRad="76200" dist="25400" dir="2700000">
              <a:srgbClr val="000000">
                <a:alpha val="10000"/>
              </a:srgbClr>
            </a:outerShdw>
          </a:effectLst>
        </p:spPr>
      </p:sp>
      <p:sp>
        <p:nvSpPr>
          <p:cNvPr id="11" name="Text 8"/>
          <p:cNvSpPr/>
          <p:nvPr/>
        </p:nvSpPr>
        <p:spPr>
          <a:xfrm>
            <a:off x="6492240" y="2221992"/>
            <a:ext cx="5120640" cy="621792"/>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Missing Value Treatment</a:t>
            </a:r>
            <a:endParaRPr lang="en-US" sz="1300" dirty="0"/>
          </a:p>
        </p:txBody>
      </p:sp>
      <p:sp>
        <p:nvSpPr>
          <p:cNvPr id="12" name="Text 9"/>
          <p:cNvSpPr/>
          <p:nvPr/>
        </p:nvSpPr>
        <p:spPr>
          <a:xfrm>
            <a:off x="8869680" y="2825496"/>
            <a:ext cx="548640" cy="274320"/>
          </a:xfrm>
          <a:prstGeom prst="rect">
            <a:avLst/>
          </a:prstGeom>
          <a:noFill/>
          <a:ln/>
        </p:spPr>
        <p:txBody>
          <a:bodyPr wrap="square" rtlCol="0" anchor="ctr"/>
          <a:lstStyle/>
          <a:p>
            <a:pPr algn="ctr" indent="0" marL="0">
              <a:buNone/>
            </a:pPr>
            <a:r>
              <a:rPr lang="en-US" sz="1500" dirty="0">
                <a:solidFill>
                  <a:srgbClr val="E08A2C"/>
                </a:solidFill>
              </a:rPr>
              <a:t>↓</a:t>
            </a:r>
            <a:endParaRPr lang="en-US" sz="1500" dirty="0"/>
          </a:p>
        </p:txBody>
      </p:sp>
      <p:sp>
        <p:nvSpPr>
          <p:cNvPr id="13" name="Shape 10"/>
          <p:cNvSpPr/>
          <p:nvPr/>
        </p:nvSpPr>
        <p:spPr>
          <a:xfrm>
            <a:off x="6492240" y="3026664"/>
            <a:ext cx="5120640" cy="621792"/>
          </a:xfrm>
          <a:prstGeom prst="roundRect">
            <a:avLst>
              <a:gd name="adj" fmla="val 10294"/>
            </a:avLst>
          </a:prstGeom>
          <a:solidFill>
            <a:srgbClr val="D7E6F5"/>
          </a:solidFill>
          <a:ln/>
          <a:effectLst>
            <a:outerShdw sx="100000" sy="100000" kx="0" ky="0" algn="bl" rotWithShape="0" blurRad="76200" dist="25400" dir="2700000">
              <a:srgbClr val="000000">
                <a:alpha val="10000"/>
              </a:srgbClr>
            </a:outerShdw>
          </a:effectLst>
        </p:spPr>
      </p:sp>
      <p:sp>
        <p:nvSpPr>
          <p:cNvPr id="14" name="Text 11"/>
          <p:cNvSpPr/>
          <p:nvPr/>
        </p:nvSpPr>
        <p:spPr>
          <a:xfrm>
            <a:off x="6492240" y="3026664"/>
            <a:ext cx="5120640" cy="621792"/>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Duplicate Removal</a:t>
            </a:r>
            <a:endParaRPr lang="en-US" sz="1300" dirty="0"/>
          </a:p>
        </p:txBody>
      </p:sp>
      <p:sp>
        <p:nvSpPr>
          <p:cNvPr id="15" name="Text 12"/>
          <p:cNvSpPr/>
          <p:nvPr/>
        </p:nvSpPr>
        <p:spPr>
          <a:xfrm>
            <a:off x="8869680" y="3630168"/>
            <a:ext cx="548640" cy="274320"/>
          </a:xfrm>
          <a:prstGeom prst="rect">
            <a:avLst/>
          </a:prstGeom>
          <a:noFill/>
          <a:ln/>
        </p:spPr>
        <p:txBody>
          <a:bodyPr wrap="square" rtlCol="0" anchor="ctr"/>
          <a:lstStyle/>
          <a:p>
            <a:pPr algn="ctr" indent="0" marL="0">
              <a:buNone/>
            </a:pPr>
            <a:r>
              <a:rPr lang="en-US" sz="1500" dirty="0">
                <a:solidFill>
                  <a:srgbClr val="E08A2C"/>
                </a:solidFill>
              </a:rPr>
              <a:t>↓</a:t>
            </a:r>
            <a:endParaRPr lang="en-US" sz="1500" dirty="0"/>
          </a:p>
        </p:txBody>
      </p:sp>
      <p:sp>
        <p:nvSpPr>
          <p:cNvPr id="16" name="Shape 13"/>
          <p:cNvSpPr/>
          <p:nvPr/>
        </p:nvSpPr>
        <p:spPr>
          <a:xfrm>
            <a:off x="6492240" y="3831336"/>
            <a:ext cx="5120640" cy="621792"/>
          </a:xfrm>
          <a:prstGeom prst="roundRect">
            <a:avLst>
              <a:gd name="adj" fmla="val 10294"/>
            </a:avLst>
          </a:prstGeom>
          <a:solidFill>
            <a:srgbClr val="D7E6F5"/>
          </a:solidFill>
          <a:ln/>
          <a:effectLst>
            <a:outerShdw sx="100000" sy="100000" kx="0" ky="0" algn="bl" rotWithShape="0" blurRad="76200" dist="25400" dir="2700000">
              <a:srgbClr val="000000">
                <a:alpha val="10000"/>
              </a:srgbClr>
            </a:outerShdw>
          </a:effectLst>
        </p:spPr>
      </p:sp>
      <p:sp>
        <p:nvSpPr>
          <p:cNvPr id="17" name="Text 14"/>
          <p:cNvSpPr/>
          <p:nvPr/>
        </p:nvSpPr>
        <p:spPr>
          <a:xfrm>
            <a:off x="6492240" y="3831336"/>
            <a:ext cx="5120640" cy="621792"/>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Data Validation</a:t>
            </a:r>
            <a:endParaRPr lang="en-US" sz="1300" dirty="0"/>
          </a:p>
        </p:txBody>
      </p:sp>
      <p:sp>
        <p:nvSpPr>
          <p:cNvPr id="18" name="Text 15"/>
          <p:cNvSpPr/>
          <p:nvPr/>
        </p:nvSpPr>
        <p:spPr>
          <a:xfrm>
            <a:off x="8869680" y="4434840"/>
            <a:ext cx="548640" cy="274320"/>
          </a:xfrm>
          <a:prstGeom prst="rect">
            <a:avLst/>
          </a:prstGeom>
          <a:noFill/>
          <a:ln/>
        </p:spPr>
        <p:txBody>
          <a:bodyPr wrap="square" rtlCol="0" anchor="ctr"/>
          <a:lstStyle/>
          <a:p>
            <a:pPr algn="ctr" indent="0" marL="0">
              <a:buNone/>
            </a:pPr>
            <a:r>
              <a:rPr lang="en-US" sz="1500" dirty="0">
                <a:solidFill>
                  <a:srgbClr val="E08A2C"/>
                </a:solidFill>
              </a:rPr>
              <a:t>↓</a:t>
            </a:r>
            <a:endParaRPr lang="en-US" sz="1500" dirty="0"/>
          </a:p>
        </p:txBody>
      </p:sp>
      <p:sp>
        <p:nvSpPr>
          <p:cNvPr id="19" name="Shape 16"/>
          <p:cNvSpPr/>
          <p:nvPr/>
        </p:nvSpPr>
        <p:spPr>
          <a:xfrm>
            <a:off x="6492240" y="4636008"/>
            <a:ext cx="5120640" cy="621792"/>
          </a:xfrm>
          <a:prstGeom prst="roundRect">
            <a:avLst>
              <a:gd name="adj" fmla="val 10294"/>
            </a:avLst>
          </a:prstGeom>
          <a:solidFill>
            <a:srgbClr val="142850"/>
          </a:solidFill>
          <a:ln/>
          <a:effectLst>
            <a:outerShdw sx="100000" sy="100000" kx="0" ky="0" algn="bl" rotWithShape="0" blurRad="76200" dist="25400" dir="2700000">
              <a:srgbClr val="000000">
                <a:alpha val="10000"/>
              </a:srgbClr>
            </a:outerShdw>
          </a:effectLst>
        </p:spPr>
      </p:sp>
      <p:sp>
        <p:nvSpPr>
          <p:cNvPr id="20" name="Text 17"/>
          <p:cNvSpPr/>
          <p:nvPr/>
        </p:nvSpPr>
        <p:spPr>
          <a:xfrm>
            <a:off x="6492240" y="4636008"/>
            <a:ext cx="5120640" cy="6217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Clean Dataset</a:t>
            </a:r>
            <a:endParaRPr lang="en-US" sz="1300" dirty="0"/>
          </a:p>
        </p:txBody>
      </p:sp>
      <p:sp>
        <p:nvSpPr>
          <p:cNvPr id="21" name="Shape 18"/>
          <p:cNvSpPr/>
          <p:nvPr/>
        </p:nvSpPr>
        <p:spPr>
          <a:xfrm>
            <a:off x="548640" y="5349240"/>
            <a:ext cx="11064240" cy="777240"/>
          </a:xfrm>
          <a:prstGeom prst="roundRect">
            <a:avLst>
              <a:gd name="adj" fmla="val 7059"/>
            </a:avLst>
          </a:prstGeom>
          <a:solidFill>
            <a:srgbClr val="142850"/>
          </a:solidFill>
          <a:ln/>
          <a:effectLst>
            <a:outerShdw sx="100000" sy="100000" kx="0" ky="0" algn="bl" rotWithShape="0" blurRad="76200" dist="25400" dir="2700000">
              <a:srgbClr val="000000">
                <a:alpha val="15000"/>
              </a:srgbClr>
            </a:outerShdw>
          </a:effectLst>
        </p:spPr>
      </p:sp>
      <p:sp>
        <p:nvSpPr>
          <p:cNvPr id="22" name="Text 19"/>
          <p:cNvSpPr/>
          <p:nvPr/>
        </p:nvSpPr>
        <p:spPr>
          <a:xfrm>
            <a:off x="777240" y="5440680"/>
            <a:ext cx="10607040" cy="59436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High-quality data is the foundation of reliable analysis. Proper data cleaning improves model accuracy, strengthens business insights, and enhances decision-making.</a:t>
            </a:r>
            <a:endParaRPr lang="en-US" sz="1250" dirty="0"/>
          </a:p>
        </p:txBody>
      </p:sp>
      <p:sp>
        <p:nvSpPr>
          <p:cNvPr id="23" name="Text 20"/>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DATA PREPARATION</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SQL Exploratory Data Analysis</a:t>
            </a:r>
            <a:endParaRPr lang="en-US" sz="3200" dirty="0"/>
          </a:p>
        </p:txBody>
      </p:sp>
      <p:sp>
        <p:nvSpPr>
          <p:cNvPr id="4" name="Text 2"/>
          <p:cNvSpPr/>
          <p:nvPr/>
        </p:nvSpPr>
        <p:spPr>
          <a:xfrm>
            <a:off x="548640" y="1325880"/>
            <a:ext cx="5303520" cy="274320"/>
          </a:xfrm>
          <a:prstGeom prst="rect">
            <a:avLst/>
          </a:prstGeom>
          <a:noFill/>
          <a:ln/>
        </p:spPr>
        <p:txBody>
          <a:bodyPr wrap="square" rtlCol="0" anchor="ctr"/>
          <a:lstStyle/>
          <a:p>
            <a:pPr indent="0" marL="0">
              <a:buNone/>
            </a:pPr>
            <a:r>
              <a:rPr lang="en-US" sz="1350" b="1" dirty="0">
                <a:solidFill>
                  <a:srgbClr val="142850"/>
                </a:solidFill>
                <a:latin typeface="Cambria" pitchFamily="34" charset="0"/>
                <a:ea typeface="Cambria" pitchFamily="34" charset="-122"/>
                <a:cs typeface="Cambria" pitchFamily="34" charset="-120"/>
              </a:rPr>
              <a:t>Business Questions Addressed</a:t>
            </a:r>
            <a:endParaRPr lang="en-US" sz="1350" dirty="0"/>
          </a:p>
        </p:txBody>
      </p:sp>
      <p:sp>
        <p:nvSpPr>
          <p:cNvPr id="5" name="Text 3"/>
          <p:cNvSpPr/>
          <p:nvPr/>
        </p:nvSpPr>
        <p:spPr>
          <a:xfrm>
            <a:off x="548640" y="1645920"/>
            <a:ext cx="5303520" cy="1920240"/>
          </a:xfrm>
          <a:prstGeom prst="rect">
            <a:avLst/>
          </a:prstGeom>
          <a:noFill/>
          <a:ln/>
        </p:spPr>
        <p:txBody>
          <a:bodyPr wrap="square" rtlCol="0" anchor="t"/>
          <a:lstStyle/>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What is the overall composition of the loan portfolio?</a:t>
            </a:r>
            <a:endParaRPr lang="en-US" sz="1100" dirty="0"/>
          </a:p>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Which loan purposes account for the largest share of lending?</a:t>
            </a:r>
            <a:endParaRPr lang="en-US" sz="1100" dirty="0"/>
          </a:p>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How are loans distributed across borrower income groups?</a:t>
            </a:r>
            <a:endParaRPr lang="en-US" sz="1100" dirty="0"/>
          </a:p>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Which loan grades carry the highest credit risk?</a:t>
            </a:r>
            <a:endParaRPr lang="en-US" sz="1100" dirty="0"/>
          </a:p>
          <a:p>
            <a:pPr marL="342900" indent="-342900">
              <a:spcAft>
                <a:spcPts val="800"/>
              </a:spcAft>
              <a:buSzPct val="100000"/>
              <a:buChar char="•"/>
            </a:pPr>
            <a:r>
              <a:rPr lang="en-US" sz="1100" dirty="0">
                <a:solidFill>
                  <a:srgbClr val="1F2937"/>
                </a:solidFill>
                <a:latin typeface="Calibri" pitchFamily="34" charset="0"/>
                <a:ea typeface="Calibri" pitchFamily="34" charset="-122"/>
                <a:cs typeface="Calibri" pitchFamily="34" charset="-120"/>
              </a:rPr>
              <a:t>What is the relationship between interest rates and loan performance?</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2606040" cy="1554480"/>
        </p:xfrm>
        <a:graphic>
          <a:graphicData uri="http://schemas.openxmlformats.org/drawingml/2006/table">
            <a:tbl>
              <a:tblPr/>
              <a:tblGrid>
                <a:gridCol w="1463040"/>
                <a:gridCol w="1143000"/>
              </a:tblGrid>
              <a:tr h="31089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Income Group</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Borrowers</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10896">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Low Income</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2,245</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10896">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Lower Middle</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4,689</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10896">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Upper Middle</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2,610</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10896">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High Income</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456</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3337560" y="3657600"/>
          <a:ext cx="2788920" cy="1554480"/>
        </p:xfrm>
        <a:graphic>
          <a:graphicData uri="http://schemas.openxmlformats.org/drawingml/2006/table">
            <a:tbl>
              <a:tblPr/>
              <a:tblGrid>
                <a:gridCol w="1417320"/>
                <a:gridCol w="640080"/>
                <a:gridCol w="731520"/>
              </a:tblGrid>
              <a:tr h="31089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Loan Purpose</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Loans</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Funding</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10896">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Debt Consolidation</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5,144</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$90.8M</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10896">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Credit Card</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2,249</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$35.0M</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10896">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Other</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914</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$11.8M</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10896">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Home Improvement</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680</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00" dirty="0">
                          <a:solidFill>
                            <a:srgbClr val="000000"/>
                          </a:solidFill>
                          <a:latin typeface="Calibri" pitchFamily="34" charset="0"/>
                          <a:ea typeface="Calibri" pitchFamily="34" charset="-122"/>
                          <a:cs typeface="Calibri" pitchFamily="34" charset="-120"/>
                        </a:rPr>
                        <a:t>$11.7M</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6263640" y="1325880"/>
          <a:ext cx="5349240" cy="2011680"/>
        </p:xfrm>
        <a:graphic>
          <a:graphicData uri="http://schemas.openxmlformats.org/drawingml/2006/table">
            <a:tbl>
              <a:tblPr/>
              <a:tblGrid>
                <a:gridCol w="2148840"/>
                <a:gridCol w="1371600"/>
                <a:gridCol w="1828800"/>
              </a:tblGrid>
              <a:tr h="287383">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Loan Status</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Loans</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Exposure</a:t>
                      </a:r>
                      <a:endParaRPr lang="en-US" sz="9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287383">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Current</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9,375</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$153.4M</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287383">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Fully Paid</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447</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$7.0M</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287383">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In Grace Period</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67</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$1.2M</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287383">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Late (31-120d)</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66</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$1.2M</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287383">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Late (16-30d)</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38</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$0.6M</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287383">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Charged Off</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7</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20" dirty="0">
                          <a:solidFill>
                            <a:srgbClr val="000000"/>
                          </a:solidFill>
                          <a:latin typeface="Calibri" pitchFamily="34" charset="0"/>
                          <a:ea typeface="Calibri" pitchFamily="34" charset="-122"/>
                          <a:cs typeface="Calibri" pitchFamily="34" charset="-120"/>
                        </a:rPr>
                        <a:t>$0.09M</a:t>
                      </a:r>
                      <a:endParaRPr lang="en-US" sz="92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
        <p:nvSpPr>
          <p:cNvPr id="9" name="Shape 4"/>
          <p:cNvSpPr/>
          <p:nvPr/>
        </p:nvSpPr>
        <p:spPr>
          <a:xfrm>
            <a:off x="6263640" y="3520440"/>
            <a:ext cx="5349240" cy="1691640"/>
          </a:xfrm>
          <a:prstGeom prst="roundRect">
            <a:avLst>
              <a:gd name="adj" fmla="val 3784"/>
            </a:avLst>
          </a:prstGeom>
          <a:solidFill>
            <a:srgbClr val="F4F7FB"/>
          </a:solidFill>
          <a:ln/>
          <a:effectLst>
            <a:outerShdw sx="100000" sy="100000" kx="0" ky="0" algn="bl" rotWithShape="0" blurRad="76200" dist="25400" dir="2700000">
              <a:srgbClr val="000000">
                <a:alpha val="10000"/>
              </a:srgbClr>
            </a:outerShdw>
          </a:effectLst>
        </p:spPr>
      </p:sp>
      <p:sp>
        <p:nvSpPr>
          <p:cNvPr id="10" name="Text 5"/>
          <p:cNvSpPr/>
          <p:nvPr/>
        </p:nvSpPr>
        <p:spPr>
          <a:xfrm>
            <a:off x="6492240" y="3657600"/>
            <a:ext cx="4846320" cy="274320"/>
          </a:xfrm>
          <a:prstGeom prst="rect">
            <a:avLst/>
          </a:prstGeom>
          <a:noFill/>
          <a:ln/>
        </p:spPr>
        <p:txBody>
          <a:bodyPr wrap="square" rtlCol="0" anchor="ctr"/>
          <a:lstStyle/>
          <a:p>
            <a:pPr indent="0" marL="0">
              <a:buNone/>
            </a:pPr>
            <a:r>
              <a:rPr lang="en-US" sz="1250" b="1" dirty="0">
                <a:solidFill>
                  <a:srgbClr val="142850"/>
                </a:solidFill>
                <a:latin typeface="Cambria" pitchFamily="34" charset="0"/>
                <a:ea typeface="Cambria" pitchFamily="34" charset="-122"/>
                <a:cs typeface="Cambria" pitchFamily="34" charset="-120"/>
              </a:rPr>
              <a:t>SQL → Insight Workflow</a:t>
            </a:r>
            <a:endParaRPr lang="en-US" sz="1250" dirty="0"/>
          </a:p>
        </p:txBody>
      </p:sp>
      <p:sp>
        <p:nvSpPr>
          <p:cNvPr id="11" name="Text 6"/>
          <p:cNvSpPr/>
          <p:nvPr/>
        </p:nvSpPr>
        <p:spPr>
          <a:xfrm>
            <a:off x="6492240" y="4023360"/>
            <a:ext cx="4892040" cy="100584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Clean Dataset  →  SQL Queries  →  Business Analysis  →  Insights  →  Decision Support</a:t>
            </a:r>
            <a:endParaRPr lang="en-US" sz="1150" dirty="0"/>
          </a:p>
        </p:txBody>
      </p:sp>
      <p:sp>
        <p:nvSpPr>
          <p:cNvPr id="12" name="Shape 7"/>
          <p:cNvSpPr/>
          <p:nvPr/>
        </p:nvSpPr>
        <p:spPr>
          <a:xfrm>
            <a:off x="548640" y="5440680"/>
            <a:ext cx="11064240" cy="685800"/>
          </a:xfrm>
          <a:prstGeom prst="roundRect">
            <a:avLst>
              <a:gd name="adj" fmla="val 8000"/>
            </a:avLst>
          </a:prstGeom>
          <a:solidFill>
            <a:srgbClr val="142850"/>
          </a:solidFill>
          <a:ln/>
          <a:effectLst>
            <a:outerShdw sx="100000" sy="100000" kx="0" ky="0" algn="bl" rotWithShape="0" blurRad="76200" dist="25400" dir="2700000">
              <a:srgbClr val="000000">
                <a:alpha val="15000"/>
              </a:srgbClr>
            </a:outerShdw>
          </a:effectLst>
        </p:spPr>
      </p:sp>
      <p:sp>
        <p:nvSpPr>
          <p:cNvPr id="13" name="Text 8"/>
          <p:cNvSpPr/>
          <p:nvPr/>
        </p:nvSpPr>
        <p:spPr>
          <a:xfrm>
            <a:off x="777240" y="5532120"/>
            <a:ext cx="10607040" cy="50292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SQL transformed raw loan records into meaningful business insights, providing the analytical foundation for predictive modeling and dashboard reporting.</a:t>
            </a:r>
            <a:endParaRPr lang="en-US" sz="1200" dirty="0"/>
          </a:p>
        </p:txBody>
      </p:sp>
      <p:sp>
        <p:nvSpPr>
          <p:cNvPr id="14" name="Text 9"/>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DATA PREPARATION</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Key SQL Insights</a:t>
            </a:r>
            <a:endParaRPr lang="en-US" sz="3200" dirty="0"/>
          </a:p>
        </p:txBody>
      </p:sp>
      <p:pic>
        <p:nvPicPr>
          <p:cNvPr id="4" name="Image 0" descr="preencoded.png">    </p:cNvPr>
          <p:cNvPicPr>
            <a:picLocks noChangeAspect="1"/>
          </p:cNvPicPr>
          <p:nvPr/>
        </p:nvPicPr>
        <p:blipFill>
          <a:blip r:embed="rId1"/>
          <a:stretch>
            <a:fillRect/>
          </a:stretch>
        </p:blipFill>
        <p:spPr>
          <a:xfrm>
            <a:off x="548640" y="1389888"/>
            <a:ext cx="365760" cy="365760"/>
          </a:xfrm>
          <a:prstGeom prst="rect">
            <a:avLst/>
          </a:prstGeom>
        </p:spPr>
      </p:pic>
      <p:sp>
        <p:nvSpPr>
          <p:cNvPr id="5" name="Text 2"/>
          <p:cNvSpPr/>
          <p:nvPr/>
        </p:nvSpPr>
        <p:spPr>
          <a:xfrm>
            <a:off x="1005840" y="1325880"/>
            <a:ext cx="5029200" cy="274320"/>
          </a:xfrm>
          <a:prstGeom prst="rect">
            <a:avLst/>
          </a:prstGeom>
          <a:noFill/>
          <a:ln/>
        </p:spPr>
        <p:txBody>
          <a:bodyPr wrap="square" rtlCol="0" anchor="ctr"/>
          <a:lstStyle/>
          <a:p>
            <a:pPr indent="0" marL="0">
              <a:buNone/>
            </a:pPr>
            <a:r>
              <a:rPr lang="en-US" sz="1250" b="1" dirty="0">
                <a:solidFill>
                  <a:srgbClr val="142850"/>
                </a:solidFill>
                <a:latin typeface="Calibri" pitchFamily="34" charset="0"/>
                <a:ea typeface="Calibri" pitchFamily="34" charset="-122"/>
                <a:cs typeface="Calibri" pitchFamily="34" charset="-120"/>
              </a:rPr>
              <a:t>Portfolio Composition</a:t>
            </a:r>
            <a:endParaRPr lang="en-US" sz="1250" dirty="0"/>
          </a:p>
        </p:txBody>
      </p:sp>
      <p:sp>
        <p:nvSpPr>
          <p:cNvPr id="6" name="Text 3"/>
          <p:cNvSpPr/>
          <p:nvPr/>
        </p:nvSpPr>
        <p:spPr>
          <a:xfrm>
            <a:off x="1005840" y="1609344"/>
            <a:ext cx="502920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Portfolio is predominantly performing loans — a small, financially significant non-performing share drives an imbalanced dataset.</a:t>
            </a:r>
            <a:endParaRPr lang="en-US" sz="1000" dirty="0"/>
          </a:p>
        </p:txBody>
      </p:sp>
      <p:pic>
        <p:nvPicPr>
          <p:cNvPr id="7" name="Image 1" descr="preencoded.png">    </p:cNvPr>
          <p:cNvPicPr>
            <a:picLocks noChangeAspect="1"/>
          </p:cNvPicPr>
          <p:nvPr/>
        </p:nvPicPr>
        <p:blipFill>
          <a:blip r:embed="rId2"/>
          <a:stretch>
            <a:fillRect/>
          </a:stretch>
        </p:blipFill>
        <p:spPr>
          <a:xfrm>
            <a:off x="548640" y="2258568"/>
            <a:ext cx="365760" cy="365760"/>
          </a:xfrm>
          <a:prstGeom prst="rect">
            <a:avLst/>
          </a:prstGeom>
        </p:spPr>
      </p:pic>
      <p:sp>
        <p:nvSpPr>
          <p:cNvPr id="8" name="Text 4"/>
          <p:cNvSpPr/>
          <p:nvPr/>
        </p:nvSpPr>
        <p:spPr>
          <a:xfrm>
            <a:off x="1005840" y="2194560"/>
            <a:ext cx="5029200" cy="274320"/>
          </a:xfrm>
          <a:prstGeom prst="rect">
            <a:avLst/>
          </a:prstGeom>
          <a:noFill/>
          <a:ln/>
        </p:spPr>
        <p:txBody>
          <a:bodyPr wrap="square" rtlCol="0" anchor="ctr"/>
          <a:lstStyle/>
          <a:p>
            <a:pPr indent="0" marL="0">
              <a:buNone/>
            </a:pPr>
            <a:r>
              <a:rPr lang="en-US" sz="1250" b="1" dirty="0">
                <a:solidFill>
                  <a:srgbClr val="142850"/>
                </a:solidFill>
                <a:latin typeface="Calibri" pitchFamily="34" charset="0"/>
                <a:ea typeface="Calibri" pitchFamily="34" charset="-122"/>
                <a:cs typeface="Calibri" pitchFamily="34" charset="-120"/>
              </a:rPr>
              <a:t>Borrower Income Analysis</a:t>
            </a:r>
            <a:endParaRPr lang="en-US" sz="1250" dirty="0"/>
          </a:p>
        </p:txBody>
      </p:sp>
      <p:sp>
        <p:nvSpPr>
          <p:cNvPr id="9" name="Text 5"/>
          <p:cNvSpPr/>
          <p:nvPr/>
        </p:nvSpPr>
        <p:spPr>
          <a:xfrm>
            <a:off x="1005840" y="2478024"/>
            <a:ext cx="502920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Most borrowers fall in middle-income categories; higher income did not necessarily mean lower credit risk.</a:t>
            </a:r>
            <a:endParaRPr lang="en-US" sz="1000" dirty="0"/>
          </a:p>
        </p:txBody>
      </p:sp>
      <p:pic>
        <p:nvPicPr>
          <p:cNvPr id="10" name="Image 2" descr="preencoded.png">    </p:cNvPr>
          <p:cNvPicPr>
            <a:picLocks noChangeAspect="1"/>
          </p:cNvPicPr>
          <p:nvPr/>
        </p:nvPicPr>
        <p:blipFill>
          <a:blip r:embed="rId3"/>
          <a:stretch>
            <a:fillRect/>
          </a:stretch>
        </p:blipFill>
        <p:spPr>
          <a:xfrm>
            <a:off x="548640" y="3127248"/>
            <a:ext cx="365760" cy="365760"/>
          </a:xfrm>
          <a:prstGeom prst="rect">
            <a:avLst/>
          </a:prstGeom>
        </p:spPr>
      </p:pic>
      <p:sp>
        <p:nvSpPr>
          <p:cNvPr id="11" name="Text 6"/>
          <p:cNvSpPr/>
          <p:nvPr/>
        </p:nvSpPr>
        <p:spPr>
          <a:xfrm>
            <a:off x="1005840" y="3063240"/>
            <a:ext cx="5029200" cy="274320"/>
          </a:xfrm>
          <a:prstGeom prst="rect">
            <a:avLst/>
          </a:prstGeom>
          <a:noFill/>
          <a:ln/>
        </p:spPr>
        <p:txBody>
          <a:bodyPr wrap="square" rtlCol="0" anchor="ctr"/>
          <a:lstStyle/>
          <a:p>
            <a:pPr indent="0" marL="0">
              <a:buNone/>
            </a:pPr>
            <a:r>
              <a:rPr lang="en-US" sz="1250" b="1" dirty="0">
                <a:solidFill>
                  <a:srgbClr val="142850"/>
                </a:solidFill>
                <a:latin typeface="Calibri" pitchFamily="34" charset="0"/>
                <a:ea typeface="Calibri" pitchFamily="34" charset="-122"/>
                <a:cs typeface="Calibri" pitchFamily="34" charset="-120"/>
              </a:rPr>
              <a:t>Loan Characteristics</a:t>
            </a:r>
            <a:endParaRPr lang="en-US" sz="1250" dirty="0"/>
          </a:p>
        </p:txBody>
      </p:sp>
      <p:sp>
        <p:nvSpPr>
          <p:cNvPr id="12" name="Text 7"/>
          <p:cNvSpPr/>
          <p:nvPr/>
        </p:nvSpPr>
        <p:spPr>
          <a:xfrm>
            <a:off x="1005840" y="3346704"/>
            <a:ext cx="502920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Debt consolidation is the most common purpose; loans concentrate in Grades B and C (moderate risk).</a:t>
            </a:r>
            <a:endParaRPr lang="en-US" sz="1000" dirty="0"/>
          </a:p>
        </p:txBody>
      </p:sp>
      <p:pic>
        <p:nvPicPr>
          <p:cNvPr id="13" name="Image 3" descr="preencoded.png">    </p:cNvPr>
          <p:cNvPicPr>
            <a:picLocks noChangeAspect="1"/>
          </p:cNvPicPr>
          <p:nvPr/>
        </p:nvPicPr>
        <p:blipFill>
          <a:blip r:embed="rId4"/>
          <a:stretch>
            <a:fillRect/>
          </a:stretch>
        </p:blipFill>
        <p:spPr>
          <a:xfrm>
            <a:off x="548640" y="3995928"/>
            <a:ext cx="365760" cy="365760"/>
          </a:xfrm>
          <a:prstGeom prst="rect">
            <a:avLst/>
          </a:prstGeom>
        </p:spPr>
      </p:pic>
      <p:sp>
        <p:nvSpPr>
          <p:cNvPr id="14" name="Text 8"/>
          <p:cNvSpPr/>
          <p:nvPr/>
        </p:nvSpPr>
        <p:spPr>
          <a:xfrm>
            <a:off x="1005840" y="3931920"/>
            <a:ext cx="5029200" cy="274320"/>
          </a:xfrm>
          <a:prstGeom prst="rect">
            <a:avLst/>
          </a:prstGeom>
          <a:noFill/>
          <a:ln/>
        </p:spPr>
        <p:txBody>
          <a:bodyPr wrap="square" rtlCol="0" anchor="ctr"/>
          <a:lstStyle/>
          <a:p>
            <a:pPr indent="0" marL="0">
              <a:buNone/>
            </a:pPr>
            <a:r>
              <a:rPr lang="en-US" sz="1250" b="1" dirty="0">
                <a:solidFill>
                  <a:srgbClr val="142850"/>
                </a:solidFill>
                <a:latin typeface="Calibri" pitchFamily="34" charset="0"/>
                <a:ea typeface="Calibri" pitchFamily="34" charset="-122"/>
                <a:cs typeface="Calibri" pitchFamily="34" charset="-120"/>
              </a:rPr>
              <a:t>Credit Risk Indicators</a:t>
            </a:r>
            <a:endParaRPr lang="en-US" sz="1250" dirty="0"/>
          </a:p>
        </p:txBody>
      </p:sp>
      <p:sp>
        <p:nvSpPr>
          <p:cNvPr id="15" name="Text 9"/>
          <p:cNvSpPr/>
          <p:nvPr/>
        </p:nvSpPr>
        <p:spPr>
          <a:xfrm>
            <a:off x="1005840" y="4215384"/>
            <a:ext cx="502920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Higher DTI, prior delinquencies, and higher interest rates were linked with greater credit risk.</a:t>
            </a:r>
            <a:endParaRPr lang="en-US" sz="1000" dirty="0"/>
          </a:p>
        </p:txBody>
      </p:sp>
      <p:pic>
        <p:nvPicPr>
          <p:cNvPr id="16" name="Image 4" descr="preencoded.png">    </p:cNvPr>
          <p:cNvPicPr>
            <a:picLocks noChangeAspect="1"/>
          </p:cNvPicPr>
          <p:nvPr/>
        </p:nvPicPr>
        <p:blipFill>
          <a:blip r:embed="rId5"/>
          <a:stretch>
            <a:fillRect/>
          </a:stretch>
        </p:blipFill>
        <p:spPr>
          <a:xfrm>
            <a:off x="548640" y="4864608"/>
            <a:ext cx="365760" cy="365760"/>
          </a:xfrm>
          <a:prstGeom prst="rect">
            <a:avLst/>
          </a:prstGeom>
        </p:spPr>
      </p:pic>
      <p:sp>
        <p:nvSpPr>
          <p:cNvPr id="17" name="Text 10"/>
          <p:cNvSpPr/>
          <p:nvPr/>
        </p:nvSpPr>
        <p:spPr>
          <a:xfrm>
            <a:off x="1005840" y="4800600"/>
            <a:ext cx="5029200" cy="274320"/>
          </a:xfrm>
          <a:prstGeom prst="rect">
            <a:avLst/>
          </a:prstGeom>
          <a:noFill/>
          <a:ln/>
        </p:spPr>
        <p:txBody>
          <a:bodyPr wrap="square" rtlCol="0" anchor="ctr"/>
          <a:lstStyle/>
          <a:p>
            <a:pPr indent="0" marL="0">
              <a:buNone/>
            </a:pPr>
            <a:r>
              <a:rPr lang="en-US" sz="1250" b="1" dirty="0">
                <a:solidFill>
                  <a:srgbClr val="142850"/>
                </a:solidFill>
                <a:latin typeface="Calibri" pitchFamily="34" charset="0"/>
                <a:ea typeface="Calibri" pitchFamily="34" charset="-122"/>
                <a:cs typeface="Calibri" pitchFamily="34" charset="-120"/>
              </a:rPr>
              <a:t>Portfolio Health</a:t>
            </a:r>
            <a:endParaRPr lang="en-US" sz="1250" dirty="0"/>
          </a:p>
        </p:txBody>
      </p:sp>
      <p:sp>
        <p:nvSpPr>
          <p:cNvPr id="18" name="Text 11"/>
          <p:cNvSpPr/>
          <p:nvPr/>
        </p:nvSpPr>
        <p:spPr>
          <a:xfrm>
            <a:off x="1005840" y="5084064"/>
            <a:ext cx="502920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The portfolio was generally healthy, though the small share of high-risk loans remains critical to monitor.</a:t>
            </a:r>
            <a:endParaRPr lang="en-US" sz="1000" dirty="0"/>
          </a:p>
        </p:txBody>
      </p:sp>
      <p:sp>
        <p:nvSpPr>
          <p:cNvPr id="19" name="Shape 12"/>
          <p:cNvSpPr/>
          <p:nvPr/>
        </p:nvSpPr>
        <p:spPr>
          <a:xfrm>
            <a:off x="6675120" y="1371600"/>
            <a:ext cx="4937760" cy="621792"/>
          </a:xfrm>
          <a:prstGeom prst="roundRect">
            <a:avLst>
              <a:gd name="adj" fmla="val 10294"/>
            </a:avLst>
          </a:prstGeom>
          <a:solidFill>
            <a:srgbClr val="D7E6F5"/>
          </a:solidFill>
          <a:ln/>
          <a:effectLst>
            <a:outerShdw sx="100000" sy="100000" kx="0" ky="0" algn="bl" rotWithShape="0" blurRad="76200" dist="25400" dir="2700000">
              <a:srgbClr val="000000">
                <a:alpha val="10000"/>
              </a:srgbClr>
            </a:outerShdw>
          </a:effectLst>
        </p:spPr>
      </p:sp>
      <p:sp>
        <p:nvSpPr>
          <p:cNvPr id="20" name="Text 13"/>
          <p:cNvSpPr/>
          <p:nvPr/>
        </p:nvSpPr>
        <p:spPr>
          <a:xfrm>
            <a:off x="6675120" y="1371600"/>
            <a:ext cx="4937760" cy="621792"/>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SQL Analysis</a:t>
            </a:r>
            <a:endParaRPr lang="en-US" sz="1300" dirty="0"/>
          </a:p>
        </p:txBody>
      </p:sp>
      <p:sp>
        <p:nvSpPr>
          <p:cNvPr id="21" name="Text 14"/>
          <p:cNvSpPr/>
          <p:nvPr/>
        </p:nvSpPr>
        <p:spPr>
          <a:xfrm>
            <a:off x="8869680" y="1975104"/>
            <a:ext cx="548640" cy="274320"/>
          </a:xfrm>
          <a:prstGeom prst="rect">
            <a:avLst/>
          </a:prstGeom>
          <a:noFill/>
          <a:ln/>
        </p:spPr>
        <p:txBody>
          <a:bodyPr wrap="square" rtlCol="0" anchor="ctr"/>
          <a:lstStyle/>
          <a:p>
            <a:pPr algn="ctr" indent="0" marL="0">
              <a:buNone/>
            </a:pPr>
            <a:r>
              <a:rPr lang="en-US" sz="1500" dirty="0">
                <a:solidFill>
                  <a:srgbClr val="E08A2C"/>
                </a:solidFill>
              </a:rPr>
              <a:t>↓</a:t>
            </a:r>
            <a:endParaRPr lang="en-US" sz="1500" dirty="0"/>
          </a:p>
        </p:txBody>
      </p:sp>
      <p:sp>
        <p:nvSpPr>
          <p:cNvPr id="22" name="Shape 15"/>
          <p:cNvSpPr/>
          <p:nvPr/>
        </p:nvSpPr>
        <p:spPr>
          <a:xfrm>
            <a:off x="6675120" y="2176272"/>
            <a:ext cx="4937760" cy="621792"/>
          </a:xfrm>
          <a:prstGeom prst="roundRect">
            <a:avLst>
              <a:gd name="adj" fmla="val 10294"/>
            </a:avLst>
          </a:prstGeom>
          <a:solidFill>
            <a:srgbClr val="D7E6F5"/>
          </a:solidFill>
          <a:ln/>
          <a:effectLst>
            <a:outerShdw sx="100000" sy="100000" kx="0" ky="0" algn="bl" rotWithShape="0" blurRad="76200" dist="25400" dir="2700000">
              <a:srgbClr val="000000">
                <a:alpha val="10000"/>
              </a:srgbClr>
            </a:outerShdw>
          </a:effectLst>
        </p:spPr>
      </p:sp>
      <p:sp>
        <p:nvSpPr>
          <p:cNvPr id="23" name="Text 16"/>
          <p:cNvSpPr/>
          <p:nvPr/>
        </p:nvSpPr>
        <p:spPr>
          <a:xfrm>
            <a:off x="6675120" y="2176272"/>
            <a:ext cx="4937760" cy="621792"/>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Portfolio Insights</a:t>
            </a:r>
            <a:endParaRPr lang="en-US" sz="1300" dirty="0"/>
          </a:p>
        </p:txBody>
      </p:sp>
      <p:sp>
        <p:nvSpPr>
          <p:cNvPr id="24" name="Text 17"/>
          <p:cNvSpPr/>
          <p:nvPr/>
        </p:nvSpPr>
        <p:spPr>
          <a:xfrm>
            <a:off x="8869680" y="2779776"/>
            <a:ext cx="548640" cy="274320"/>
          </a:xfrm>
          <a:prstGeom prst="rect">
            <a:avLst/>
          </a:prstGeom>
          <a:noFill/>
          <a:ln/>
        </p:spPr>
        <p:txBody>
          <a:bodyPr wrap="square" rtlCol="0" anchor="ctr"/>
          <a:lstStyle/>
          <a:p>
            <a:pPr algn="ctr" indent="0" marL="0">
              <a:buNone/>
            </a:pPr>
            <a:r>
              <a:rPr lang="en-US" sz="1500" dirty="0">
                <a:solidFill>
                  <a:srgbClr val="E08A2C"/>
                </a:solidFill>
              </a:rPr>
              <a:t>↓</a:t>
            </a:r>
            <a:endParaRPr lang="en-US" sz="1500" dirty="0"/>
          </a:p>
        </p:txBody>
      </p:sp>
      <p:sp>
        <p:nvSpPr>
          <p:cNvPr id="25" name="Shape 18"/>
          <p:cNvSpPr/>
          <p:nvPr/>
        </p:nvSpPr>
        <p:spPr>
          <a:xfrm>
            <a:off x="6675120" y="2980944"/>
            <a:ext cx="4937760" cy="621792"/>
          </a:xfrm>
          <a:prstGeom prst="roundRect">
            <a:avLst>
              <a:gd name="adj" fmla="val 10294"/>
            </a:avLst>
          </a:prstGeom>
          <a:solidFill>
            <a:srgbClr val="D7E6F5"/>
          </a:solidFill>
          <a:ln/>
          <a:effectLst>
            <a:outerShdw sx="100000" sy="100000" kx="0" ky="0" algn="bl" rotWithShape="0" blurRad="76200" dist="25400" dir="2700000">
              <a:srgbClr val="000000">
                <a:alpha val="10000"/>
              </a:srgbClr>
            </a:outerShdw>
          </a:effectLst>
        </p:spPr>
      </p:sp>
      <p:sp>
        <p:nvSpPr>
          <p:cNvPr id="26" name="Text 19"/>
          <p:cNvSpPr/>
          <p:nvPr/>
        </p:nvSpPr>
        <p:spPr>
          <a:xfrm>
            <a:off x="6675120" y="2980944"/>
            <a:ext cx="4937760" cy="621792"/>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Borrower Behaviour</a:t>
            </a:r>
            <a:endParaRPr lang="en-US" sz="1300" dirty="0"/>
          </a:p>
        </p:txBody>
      </p:sp>
      <p:sp>
        <p:nvSpPr>
          <p:cNvPr id="27" name="Text 20"/>
          <p:cNvSpPr/>
          <p:nvPr/>
        </p:nvSpPr>
        <p:spPr>
          <a:xfrm>
            <a:off x="8869680" y="3584448"/>
            <a:ext cx="548640" cy="274320"/>
          </a:xfrm>
          <a:prstGeom prst="rect">
            <a:avLst/>
          </a:prstGeom>
          <a:noFill/>
          <a:ln/>
        </p:spPr>
        <p:txBody>
          <a:bodyPr wrap="square" rtlCol="0" anchor="ctr"/>
          <a:lstStyle/>
          <a:p>
            <a:pPr algn="ctr" indent="0" marL="0">
              <a:buNone/>
            </a:pPr>
            <a:r>
              <a:rPr lang="en-US" sz="1500" dirty="0">
                <a:solidFill>
                  <a:srgbClr val="E08A2C"/>
                </a:solidFill>
              </a:rPr>
              <a:t>↓</a:t>
            </a:r>
            <a:endParaRPr lang="en-US" sz="1500" dirty="0"/>
          </a:p>
        </p:txBody>
      </p:sp>
      <p:sp>
        <p:nvSpPr>
          <p:cNvPr id="28" name="Shape 21"/>
          <p:cNvSpPr/>
          <p:nvPr/>
        </p:nvSpPr>
        <p:spPr>
          <a:xfrm>
            <a:off x="6675120" y="3785616"/>
            <a:ext cx="4937760" cy="621792"/>
          </a:xfrm>
          <a:prstGeom prst="roundRect">
            <a:avLst>
              <a:gd name="adj" fmla="val 10294"/>
            </a:avLst>
          </a:prstGeom>
          <a:solidFill>
            <a:srgbClr val="D7E6F5"/>
          </a:solidFill>
          <a:ln/>
          <a:effectLst>
            <a:outerShdw sx="100000" sy="100000" kx="0" ky="0" algn="bl" rotWithShape="0" blurRad="76200" dist="25400" dir="2700000">
              <a:srgbClr val="000000">
                <a:alpha val="10000"/>
              </a:srgbClr>
            </a:outerShdw>
          </a:effectLst>
        </p:spPr>
      </p:sp>
      <p:sp>
        <p:nvSpPr>
          <p:cNvPr id="29" name="Text 22"/>
          <p:cNvSpPr/>
          <p:nvPr/>
        </p:nvSpPr>
        <p:spPr>
          <a:xfrm>
            <a:off x="6675120" y="3785616"/>
            <a:ext cx="4937760" cy="621792"/>
          </a:xfrm>
          <a:prstGeom prst="rect">
            <a:avLst/>
          </a:prstGeom>
          <a:noFill/>
          <a:ln/>
        </p:spPr>
        <p:txBody>
          <a:bodyPr wrap="square" rtlCol="0" anchor="ctr"/>
          <a:lstStyle/>
          <a:p>
            <a:pPr algn="ctr" indent="0" marL="0">
              <a:buNone/>
            </a:pPr>
            <a:r>
              <a:rPr lang="en-US" sz="1300" b="1" dirty="0">
                <a:solidFill>
                  <a:srgbClr val="142850"/>
                </a:solidFill>
                <a:latin typeface="Calibri" pitchFamily="34" charset="0"/>
                <a:ea typeface="Calibri" pitchFamily="34" charset="-122"/>
                <a:cs typeface="Calibri" pitchFamily="34" charset="-120"/>
              </a:rPr>
              <a:t>Credit Risk Factors</a:t>
            </a:r>
            <a:endParaRPr lang="en-US" sz="1300" dirty="0"/>
          </a:p>
        </p:txBody>
      </p:sp>
      <p:sp>
        <p:nvSpPr>
          <p:cNvPr id="30" name="Text 23"/>
          <p:cNvSpPr/>
          <p:nvPr/>
        </p:nvSpPr>
        <p:spPr>
          <a:xfrm>
            <a:off x="8869680" y="4389120"/>
            <a:ext cx="548640" cy="274320"/>
          </a:xfrm>
          <a:prstGeom prst="rect">
            <a:avLst/>
          </a:prstGeom>
          <a:noFill/>
          <a:ln/>
        </p:spPr>
        <p:txBody>
          <a:bodyPr wrap="square" rtlCol="0" anchor="ctr"/>
          <a:lstStyle/>
          <a:p>
            <a:pPr algn="ctr" indent="0" marL="0">
              <a:buNone/>
            </a:pPr>
            <a:r>
              <a:rPr lang="en-US" sz="1500" dirty="0">
                <a:solidFill>
                  <a:srgbClr val="E08A2C"/>
                </a:solidFill>
              </a:rPr>
              <a:t>↓</a:t>
            </a:r>
            <a:endParaRPr lang="en-US" sz="1500" dirty="0"/>
          </a:p>
        </p:txBody>
      </p:sp>
      <p:sp>
        <p:nvSpPr>
          <p:cNvPr id="31" name="Shape 24"/>
          <p:cNvSpPr/>
          <p:nvPr/>
        </p:nvSpPr>
        <p:spPr>
          <a:xfrm>
            <a:off x="6675120" y="4590288"/>
            <a:ext cx="4937760" cy="621792"/>
          </a:xfrm>
          <a:prstGeom prst="roundRect">
            <a:avLst>
              <a:gd name="adj" fmla="val 10294"/>
            </a:avLst>
          </a:prstGeom>
          <a:solidFill>
            <a:srgbClr val="142850"/>
          </a:solidFill>
          <a:ln/>
          <a:effectLst>
            <a:outerShdw sx="100000" sy="100000" kx="0" ky="0" algn="bl" rotWithShape="0" blurRad="76200" dist="25400" dir="2700000">
              <a:srgbClr val="000000">
                <a:alpha val="10000"/>
              </a:srgbClr>
            </a:outerShdw>
          </a:effectLst>
        </p:spPr>
      </p:sp>
      <p:sp>
        <p:nvSpPr>
          <p:cNvPr id="32" name="Text 25"/>
          <p:cNvSpPr/>
          <p:nvPr/>
        </p:nvSpPr>
        <p:spPr>
          <a:xfrm>
            <a:off x="6675120" y="4590288"/>
            <a:ext cx="4937760" cy="62179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Machine Learning</a:t>
            </a:r>
            <a:endParaRPr lang="en-US" sz="1300" dirty="0"/>
          </a:p>
        </p:txBody>
      </p:sp>
      <p:sp>
        <p:nvSpPr>
          <p:cNvPr id="33" name="Shape 26"/>
          <p:cNvSpPr/>
          <p:nvPr/>
        </p:nvSpPr>
        <p:spPr>
          <a:xfrm>
            <a:off x="548640" y="5760720"/>
            <a:ext cx="11064240" cy="731520"/>
          </a:xfrm>
          <a:prstGeom prst="roundRect">
            <a:avLst>
              <a:gd name="adj" fmla="val 7500"/>
            </a:avLst>
          </a:prstGeom>
          <a:solidFill>
            <a:srgbClr val="142850"/>
          </a:solidFill>
          <a:ln/>
          <a:effectLst>
            <a:outerShdw sx="100000" sy="100000" kx="0" ky="0" algn="bl" rotWithShape="0" blurRad="76200" dist="25400" dir="2700000">
              <a:srgbClr val="000000">
                <a:alpha val="15000"/>
              </a:srgbClr>
            </a:outerShdw>
          </a:effectLst>
        </p:spPr>
      </p:sp>
      <p:sp>
        <p:nvSpPr>
          <p:cNvPr id="34" name="Text 27"/>
          <p:cNvSpPr/>
          <p:nvPr/>
        </p:nvSpPr>
        <p:spPr>
          <a:xfrm>
            <a:off x="777240" y="5852160"/>
            <a:ext cx="10607040" cy="54864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SQL analysis transformed the cleaned data into actionable business insights and identified the variables most likely to influence loan performance, laying the foundation for the predictive models.</a:t>
            </a:r>
            <a:endParaRPr lang="en-US" sz="1250" dirty="0"/>
          </a:p>
        </p:txBody>
      </p:sp>
      <p:sp>
        <p:nvSpPr>
          <p:cNvPr id="35" name="Text 28"/>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EXPLORATORY DATA ANALYSIS</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Python Exploratory Data Analysis (EDA)</a:t>
            </a:r>
            <a:endParaRPr lang="en-US" sz="3200" dirty="0"/>
          </a:p>
        </p:txBody>
      </p:sp>
      <p:sp>
        <p:nvSpPr>
          <p:cNvPr id="4" name="Text 2"/>
          <p:cNvSpPr/>
          <p:nvPr/>
        </p:nvSpPr>
        <p:spPr>
          <a:xfrm>
            <a:off x="548640" y="1325880"/>
            <a:ext cx="5120640" cy="274320"/>
          </a:xfrm>
          <a:prstGeom prst="rect">
            <a:avLst/>
          </a:prstGeom>
          <a:noFill/>
          <a:ln/>
        </p:spPr>
        <p:txBody>
          <a:bodyPr wrap="square" rtlCol="0" anchor="ctr"/>
          <a:lstStyle/>
          <a:p>
            <a:pPr indent="0" marL="0">
              <a:buNone/>
            </a:pPr>
            <a:r>
              <a:rPr lang="en-US" sz="1350" b="1" dirty="0">
                <a:solidFill>
                  <a:srgbClr val="142850"/>
                </a:solidFill>
                <a:latin typeface="Cambria" pitchFamily="34" charset="0"/>
                <a:ea typeface="Cambria" pitchFamily="34" charset="-122"/>
                <a:cs typeface="Cambria" pitchFamily="34" charset="-120"/>
              </a:rPr>
              <a:t>Objective</a:t>
            </a:r>
            <a:endParaRPr lang="en-US" sz="1350" dirty="0"/>
          </a:p>
        </p:txBody>
      </p:sp>
      <p:sp>
        <p:nvSpPr>
          <p:cNvPr id="5" name="Text 3"/>
          <p:cNvSpPr/>
          <p:nvPr/>
        </p:nvSpPr>
        <p:spPr>
          <a:xfrm>
            <a:off x="548640" y="1627632"/>
            <a:ext cx="5120640" cy="77724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Perform statistical analysis and data visualization to understand borrower characteristics, loan performance, and relationships between key financial variables.</a:t>
            </a:r>
            <a:endParaRPr lang="en-US" sz="1150" dirty="0"/>
          </a:p>
        </p:txBody>
      </p:sp>
      <p:sp>
        <p:nvSpPr>
          <p:cNvPr id="6" name="Text 4"/>
          <p:cNvSpPr/>
          <p:nvPr/>
        </p:nvSpPr>
        <p:spPr>
          <a:xfrm>
            <a:off x="548640" y="2514600"/>
            <a:ext cx="5120640" cy="256032"/>
          </a:xfrm>
          <a:prstGeom prst="rect">
            <a:avLst/>
          </a:prstGeom>
          <a:noFill/>
          <a:ln/>
        </p:spPr>
        <p:txBody>
          <a:bodyPr wrap="square" rtlCol="0" anchor="ctr"/>
          <a:lstStyle/>
          <a:p>
            <a:pPr indent="0" marL="0">
              <a:buNone/>
            </a:pPr>
            <a:r>
              <a:rPr lang="en-US" sz="1150" b="1" dirty="0">
                <a:solidFill>
                  <a:srgbClr val="E08A2C"/>
                </a:solidFill>
                <a:latin typeface="Calibri" pitchFamily="34" charset="0"/>
                <a:ea typeface="Calibri" pitchFamily="34" charset="-122"/>
                <a:cs typeface="Calibri" pitchFamily="34" charset="-120"/>
              </a:rPr>
              <a:t>Distribution Analysis</a:t>
            </a:r>
            <a:endParaRPr lang="en-US" sz="1150" dirty="0"/>
          </a:p>
        </p:txBody>
      </p:sp>
      <p:sp>
        <p:nvSpPr>
          <p:cNvPr id="7" name="Text 5"/>
          <p:cNvSpPr/>
          <p:nvPr/>
        </p:nvSpPr>
        <p:spPr>
          <a:xfrm>
            <a:off x="548640" y="2752344"/>
            <a:ext cx="5120640" cy="3657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Loan Amount, Income, Interest Rate, DTI</a:t>
            </a:r>
            <a:endParaRPr lang="en-US" sz="1000" dirty="0"/>
          </a:p>
        </p:txBody>
      </p:sp>
      <p:sp>
        <p:nvSpPr>
          <p:cNvPr id="8" name="Text 6"/>
          <p:cNvSpPr/>
          <p:nvPr/>
        </p:nvSpPr>
        <p:spPr>
          <a:xfrm>
            <a:off x="548640" y="3172968"/>
            <a:ext cx="5120640" cy="256032"/>
          </a:xfrm>
          <a:prstGeom prst="rect">
            <a:avLst/>
          </a:prstGeom>
          <a:noFill/>
          <a:ln/>
        </p:spPr>
        <p:txBody>
          <a:bodyPr wrap="square" rtlCol="0" anchor="ctr"/>
          <a:lstStyle/>
          <a:p>
            <a:pPr indent="0" marL="0">
              <a:buNone/>
            </a:pPr>
            <a:r>
              <a:rPr lang="en-US" sz="1150" b="1" dirty="0">
                <a:solidFill>
                  <a:srgbClr val="E08A2C"/>
                </a:solidFill>
                <a:latin typeface="Calibri" pitchFamily="34" charset="0"/>
                <a:ea typeface="Calibri" pitchFamily="34" charset="-122"/>
                <a:cs typeface="Calibri" pitchFamily="34" charset="-120"/>
              </a:rPr>
              <a:t>Relationship Analysis</a:t>
            </a:r>
            <a:endParaRPr lang="en-US" sz="1150" dirty="0"/>
          </a:p>
        </p:txBody>
      </p:sp>
      <p:sp>
        <p:nvSpPr>
          <p:cNvPr id="9" name="Text 7"/>
          <p:cNvSpPr/>
          <p:nvPr/>
        </p:nvSpPr>
        <p:spPr>
          <a:xfrm>
            <a:off x="548640" y="3410712"/>
            <a:ext cx="5120640" cy="3657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Income vs Loan Amount, Rate vs Status</a:t>
            </a:r>
            <a:endParaRPr lang="en-US" sz="1000" dirty="0"/>
          </a:p>
        </p:txBody>
      </p:sp>
      <p:sp>
        <p:nvSpPr>
          <p:cNvPr id="10" name="Text 8"/>
          <p:cNvSpPr/>
          <p:nvPr/>
        </p:nvSpPr>
        <p:spPr>
          <a:xfrm>
            <a:off x="548640" y="3831336"/>
            <a:ext cx="5120640" cy="256032"/>
          </a:xfrm>
          <a:prstGeom prst="rect">
            <a:avLst/>
          </a:prstGeom>
          <a:noFill/>
          <a:ln/>
        </p:spPr>
        <p:txBody>
          <a:bodyPr wrap="square" rtlCol="0" anchor="ctr"/>
          <a:lstStyle/>
          <a:p>
            <a:pPr indent="0" marL="0">
              <a:buNone/>
            </a:pPr>
            <a:r>
              <a:rPr lang="en-US" sz="1150" b="1" dirty="0">
                <a:solidFill>
                  <a:srgbClr val="E08A2C"/>
                </a:solidFill>
                <a:latin typeface="Calibri" pitchFamily="34" charset="0"/>
                <a:ea typeface="Calibri" pitchFamily="34" charset="-122"/>
                <a:cs typeface="Calibri" pitchFamily="34" charset="-120"/>
              </a:rPr>
              <a:t>Correlation Analysis</a:t>
            </a:r>
            <a:endParaRPr lang="en-US" sz="1150" dirty="0"/>
          </a:p>
        </p:txBody>
      </p:sp>
      <p:sp>
        <p:nvSpPr>
          <p:cNvPr id="11" name="Text 9"/>
          <p:cNvSpPr/>
          <p:nvPr/>
        </p:nvSpPr>
        <p:spPr>
          <a:xfrm>
            <a:off x="548640" y="4069080"/>
            <a:ext cx="5120640" cy="3657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Correlation Matrix, Feature Relationships</a:t>
            </a:r>
            <a:endParaRPr lang="en-US" sz="1000" dirty="0"/>
          </a:p>
        </p:txBody>
      </p:sp>
      <p:sp>
        <p:nvSpPr>
          <p:cNvPr id="12" name="Text 10"/>
          <p:cNvSpPr/>
          <p:nvPr/>
        </p:nvSpPr>
        <p:spPr>
          <a:xfrm>
            <a:off x="548640" y="4489704"/>
            <a:ext cx="5120640" cy="256032"/>
          </a:xfrm>
          <a:prstGeom prst="rect">
            <a:avLst/>
          </a:prstGeom>
          <a:noFill/>
          <a:ln/>
        </p:spPr>
        <p:txBody>
          <a:bodyPr wrap="square" rtlCol="0" anchor="ctr"/>
          <a:lstStyle/>
          <a:p>
            <a:pPr indent="0" marL="0">
              <a:buNone/>
            </a:pPr>
            <a:r>
              <a:rPr lang="en-US" sz="1150" b="1" dirty="0">
                <a:solidFill>
                  <a:srgbClr val="E08A2C"/>
                </a:solidFill>
                <a:latin typeface="Calibri" pitchFamily="34" charset="0"/>
                <a:ea typeface="Calibri" pitchFamily="34" charset="-122"/>
                <a:cs typeface="Calibri" pitchFamily="34" charset="-120"/>
              </a:rPr>
              <a:t>Statistical Summary</a:t>
            </a:r>
            <a:endParaRPr lang="en-US" sz="1150" dirty="0"/>
          </a:p>
        </p:txBody>
      </p:sp>
      <p:sp>
        <p:nvSpPr>
          <p:cNvPr id="13" name="Text 11"/>
          <p:cNvSpPr/>
          <p:nvPr/>
        </p:nvSpPr>
        <p:spPr>
          <a:xfrm>
            <a:off x="548640" y="4727448"/>
            <a:ext cx="5120640" cy="3657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Mean, Median, Std Dev, Outlier Detection</a:t>
            </a:r>
            <a:endParaRPr lang="en-US" sz="1000" dirty="0"/>
          </a:p>
        </p:txBody>
      </p:sp>
      <p:pic>
        <p:nvPicPr>
          <p:cNvPr id="14" name="Image 0" descr="/home/claude/docx_media/image1.png">    </p:cNvPr>
          <p:cNvPicPr>
            <a:picLocks noChangeAspect="1"/>
          </p:cNvPicPr>
          <p:nvPr/>
        </p:nvPicPr>
        <p:blipFill>
          <a:blip r:embed="rId1"/>
          <a:srcRect l="0" r="0" t="0" b="0"/>
          <a:stretch/>
        </p:blipFill>
        <p:spPr>
          <a:xfrm>
            <a:off x="5989320" y="1325880"/>
            <a:ext cx="2788920" cy="2084832"/>
          </a:xfrm>
          <a:prstGeom prst="rect">
            <a:avLst/>
          </a:prstGeom>
        </p:spPr>
      </p:pic>
      <p:sp>
        <p:nvSpPr>
          <p:cNvPr id="15" name="Text 12"/>
          <p:cNvSpPr/>
          <p:nvPr/>
        </p:nvSpPr>
        <p:spPr>
          <a:xfrm>
            <a:off x="5989320" y="3401568"/>
            <a:ext cx="2788920" cy="274320"/>
          </a:xfrm>
          <a:prstGeom prst="rect">
            <a:avLst/>
          </a:prstGeom>
          <a:noFill/>
          <a:ln/>
        </p:spPr>
        <p:txBody>
          <a:bodyPr wrap="square" rtlCol="0" anchor="ctr"/>
          <a:lstStyle/>
          <a:p>
            <a:pPr algn="ctr" indent="0" marL="0">
              <a:buNone/>
            </a:pPr>
            <a:r>
              <a:rPr lang="en-US" sz="950" i="1" dirty="0">
                <a:solidFill>
                  <a:srgbClr val="5B6B82"/>
                </a:solidFill>
                <a:latin typeface="Calibri" pitchFamily="34" charset="0"/>
                <a:ea typeface="Calibri" pitchFamily="34" charset="-122"/>
                <a:cs typeface="Calibri" pitchFamily="34" charset="-120"/>
              </a:rPr>
              <a:t>Income vs Loan Amount</a:t>
            </a:r>
            <a:endParaRPr lang="en-US" sz="950" dirty="0"/>
          </a:p>
        </p:txBody>
      </p:sp>
      <p:pic>
        <p:nvPicPr>
          <p:cNvPr id="16" name="Image 1" descr="/home/claude/docx_media/image2.png">    </p:cNvPr>
          <p:cNvPicPr>
            <a:picLocks noChangeAspect="1"/>
          </p:cNvPicPr>
          <p:nvPr/>
        </p:nvPicPr>
        <p:blipFill>
          <a:blip r:embed="rId2"/>
          <a:srcRect l="0" r="0" t="0" b="0"/>
          <a:stretch/>
        </p:blipFill>
        <p:spPr>
          <a:xfrm>
            <a:off x="8915400" y="1325880"/>
            <a:ext cx="2743200" cy="2084832"/>
          </a:xfrm>
          <a:prstGeom prst="rect">
            <a:avLst/>
          </a:prstGeom>
        </p:spPr>
      </p:pic>
      <p:sp>
        <p:nvSpPr>
          <p:cNvPr id="17" name="Text 13"/>
          <p:cNvSpPr/>
          <p:nvPr/>
        </p:nvSpPr>
        <p:spPr>
          <a:xfrm>
            <a:off x="8915400" y="3401568"/>
            <a:ext cx="2743200" cy="274320"/>
          </a:xfrm>
          <a:prstGeom prst="rect">
            <a:avLst/>
          </a:prstGeom>
          <a:noFill/>
          <a:ln/>
        </p:spPr>
        <p:txBody>
          <a:bodyPr wrap="square" rtlCol="0" anchor="ctr"/>
          <a:lstStyle/>
          <a:p>
            <a:pPr algn="ctr" indent="0" marL="0">
              <a:buNone/>
            </a:pPr>
            <a:r>
              <a:rPr lang="en-US" sz="950" i="1" dirty="0">
                <a:solidFill>
                  <a:srgbClr val="5B6B82"/>
                </a:solidFill>
                <a:latin typeface="Calibri" pitchFamily="34" charset="0"/>
                <a:ea typeface="Calibri" pitchFamily="34" charset="-122"/>
                <a:cs typeface="Calibri" pitchFamily="34" charset="-120"/>
              </a:rPr>
              <a:t>Correlation Heatmap</a:t>
            </a:r>
            <a:endParaRPr lang="en-US" sz="950" dirty="0"/>
          </a:p>
        </p:txBody>
      </p:sp>
      <p:sp>
        <p:nvSpPr>
          <p:cNvPr id="18" name="Shape 14"/>
          <p:cNvSpPr/>
          <p:nvPr/>
        </p:nvSpPr>
        <p:spPr>
          <a:xfrm>
            <a:off x="548640" y="3977640"/>
            <a:ext cx="11155680" cy="1371600"/>
          </a:xfrm>
          <a:prstGeom prst="roundRect">
            <a:avLst>
              <a:gd name="adj" fmla="val 4000"/>
            </a:avLst>
          </a:prstGeom>
          <a:solidFill>
            <a:srgbClr val="142850"/>
          </a:solidFill>
          <a:ln/>
          <a:effectLst>
            <a:outerShdw sx="100000" sy="100000" kx="0" ky="0" algn="bl" rotWithShape="0" blurRad="76200" dist="25400" dir="2700000">
              <a:srgbClr val="000000">
                <a:alpha val="15000"/>
              </a:srgbClr>
            </a:outerShdw>
          </a:effectLst>
        </p:spPr>
      </p:sp>
      <p:sp>
        <p:nvSpPr>
          <p:cNvPr id="19" name="Text 15"/>
          <p:cNvSpPr/>
          <p:nvPr/>
        </p:nvSpPr>
        <p:spPr>
          <a:xfrm>
            <a:off x="777240" y="4069080"/>
            <a:ext cx="10698480" cy="1188720"/>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Annual income showed only a moderate relationship with loan amount. Interest rate and DTI exhibited stronger relationships with loan performance. The target was highly imbalanced — performing loans ≈98% of the portfolio — which drove the choice of the Balanced Logistic Regression model.</a:t>
            </a:r>
            <a:endParaRPr lang="en-US" sz="1300" dirty="0"/>
          </a:p>
        </p:txBody>
      </p:sp>
      <p:sp>
        <p:nvSpPr>
          <p:cNvPr id="20" name="Text 16"/>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MACHINE LEARNING</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Machine Learning Overview</a:t>
            </a:r>
            <a:endParaRPr lang="en-US" sz="3200" dirty="0"/>
          </a:p>
        </p:txBody>
      </p:sp>
      <p:sp>
        <p:nvSpPr>
          <p:cNvPr id="4" name="Text 2"/>
          <p:cNvSpPr/>
          <p:nvPr/>
        </p:nvSpPr>
        <p:spPr>
          <a:xfrm>
            <a:off x="548640" y="1325880"/>
            <a:ext cx="5120640" cy="274320"/>
          </a:xfrm>
          <a:prstGeom prst="rect">
            <a:avLst/>
          </a:prstGeom>
          <a:noFill/>
          <a:ln/>
        </p:spPr>
        <p:txBody>
          <a:bodyPr wrap="square" rtlCol="0" anchor="ctr"/>
          <a:lstStyle/>
          <a:p>
            <a:pPr indent="0" marL="0">
              <a:buNone/>
            </a:pPr>
            <a:r>
              <a:rPr lang="en-US" sz="1350" b="1" dirty="0">
                <a:solidFill>
                  <a:srgbClr val="142850"/>
                </a:solidFill>
                <a:latin typeface="Cambria" pitchFamily="34" charset="0"/>
                <a:ea typeface="Cambria" pitchFamily="34" charset="-122"/>
                <a:cs typeface="Cambria" pitchFamily="34" charset="-120"/>
              </a:rPr>
              <a:t>Objective</a:t>
            </a:r>
            <a:endParaRPr lang="en-US" sz="1350" dirty="0"/>
          </a:p>
        </p:txBody>
      </p:sp>
      <p:sp>
        <p:nvSpPr>
          <p:cNvPr id="5" name="Text 3"/>
          <p:cNvSpPr/>
          <p:nvPr/>
        </p:nvSpPr>
        <p:spPr>
          <a:xfrm>
            <a:off x="548640" y="1627632"/>
            <a:ext cx="5120640" cy="777240"/>
          </a:xfrm>
          <a:prstGeom prst="rect">
            <a:avLst/>
          </a:prstGeom>
          <a:noFill/>
          <a:ln/>
        </p:spPr>
        <p:txBody>
          <a:bodyPr wrap="square" rtlCol="0" anchor="ctr"/>
          <a:lstStyle/>
          <a:p>
            <a:pPr indent="0" marL="0">
              <a:buNone/>
            </a:pPr>
            <a:r>
              <a:rPr lang="en-US" sz="1150" dirty="0">
                <a:solidFill>
                  <a:srgbClr val="1F2937"/>
                </a:solidFill>
                <a:latin typeface="Calibri" pitchFamily="34" charset="0"/>
                <a:ea typeface="Calibri" pitchFamily="34" charset="-122"/>
                <a:cs typeface="Calibri" pitchFamily="34" charset="-120"/>
              </a:rPr>
              <a:t>Develop predictive models to classify loans as Performing or Non-Performing and identify the model offering the most reliable support for credit risk assessment.</a:t>
            </a:r>
            <a:endParaRPr lang="en-US" sz="1150" dirty="0"/>
          </a:p>
        </p:txBody>
      </p:sp>
      <p:sp>
        <p:nvSpPr>
          <p:cNvPr id="6" name="Text 4"/>
          <p:cNvSpPr/>
          <p:nvPr/>
        </p:nvSpPr>
        <p:spPr>
          <a:xfrm>
            <a:off x="548640" y="2514600"/>
            <a:ext cx="5120640" cy="274320"/>
          </a:xfrm>
          <a:prstGeom prst="rect">
            <a:avLst/>
          </a:prstGeom>
          <a:noFill/>
          <a:ln/>
        </p:spPr>
        <p:txBody>
          <a:bodyPr wrap="square" rtlCol="0" anchor="ctr"/>
          <a:lstStyle/>
          <a:p>
            <a:pPr indent="0" marL="0">
              <a:buNone/>
            </a:pPr>
            <a:r>
              <a:rPr lang="en-US" sz="1050" dirty="0">
                <a:solidFill>
                  <a:srgbClr val="142850"/>
                </a:solidFill>
                <a:latin typeface="Calibri" pitchFamily="34" charset="0"/>
                <a:ea typeface="Calibri" pitchFamily="34" charset="-122"/>
                <a:cs typeface="Calibri" pitchFamily="34" charset="-120"/>
              </a:rPr>
              <a:t>1. Clean Dataset</a:t>
            </a:r>
            <a:endParaRPr lang="en-US" sz="1050" dirty="0"/>
          </a:p>
        </p:txBody>
      </p:sp>
      <p:sp>
        <p:nvSpPr>
          <p:cNvPr id="7" name="Text 5"/>
          <p:cNvSpPr/>
          <p:nvPr/>
        </p:nvSpPr>
        <p:spPr>
          <a:xfrm>
            <a:off x="548640" y="2779776"/>
            <a:ext cx="5120640" cy="274320"/>
          </a:xfrm>
          <a:prstGeom prst="rect">
            <a:avLst/>
          </a:prstGeom>
          <a:noFill/>
          <a:ln/>
        </p:spPr>
        <p:txBody>
          <a:bodyPr wrap="square" rtlCol="0" anchor="ctr"/>
          <a:lstStyle/>
          <a:p>
            <a:pPr indent="0" marL="0">
              <a:buNone/>
            </a:pPr>
            <a:r>
              <a:rPr lang="en-US" sz="1050" dirty="0">
                <a:solidFill>
                  <a:srgbClr val="142850"/>
                </a:solidFill>
                <a:latin typeface="Calibri" pitchFamily="34" charset="0"/>
                <a:ea typeface="Calibri" pitchFamily="34" charset="-122"/>
                <a:cs typeface="Calibri" pitchFamily="34" charset="-120"/>
              </a:rPr>
              <a:t>2. Feature Selection</a:t>
            </a:r>
            <a:endParaRPr lang="en-US" sz="1050" dirty="0"/>
          </a:p>
        </p:txBody>
      </p:sp>
      <p:sp>
        <p:nvSpPr>
          <p:cNvPr id="8" name="Text 6"/>
          <p:cNvSpPr/>
          <p:nvPr/>
        </p:nvSpPr>
        <p:spPr>
          <a:xfrm>
            <a:off x="548640" y="3044952"/>
            <a:ext cx="5120640" cy="274320"/>
          </a:xfrm>
          <a:prstGeom prst="rect">
            <a:avLst/>
          </a:prstGeom>
          <a:noFill/>
          <a:ln/>
        </p:spPr>
        <p:txBody>
          <a:bodyPr wrap="square" rtlCol="0" anchor="ctr"/>
          <a:lstStyle/>
          <a:p>
            <a:pPr indent="0" marL="0">
              <a:buNone/>
            </a:pPr>
            <a:r>
              <a:rPr lang="en-US" sz="1050" dirty="0">
                <a:solidFill>
                  <a:srgbClr val="142850"/>
                </a:solidFill>
                <a:latin typeface="Calibri" pitchFamily="34" charset="0"/>
                <a:ea typeface="Calibri" pitchFamily="34" charset="-122"/>
                <a:cs typeface="Calibri" pitchFamily="34" charset="-120"/>
              </a:rPr>
              <a:t>3. Data Encoding</a:t>
            </a:r>
            <a:endParaRPr lang="en-US" sz="1050" dirty="0"/>
          </a:p>
        </p:txBody>
      </p:sp>
      <p:sp>
        <p:nvSpPr>
          <p:cNvPr id="9" name="Text 7"/>
          <p:cNvSpPr/>
          <p:nvPr/>
        </p:nvSpPr>
        <p:spPr>
          <a:xfrm>
            <a:off x="548640" y="3310128"/>
            <a:ext cx="5120640" cy="274320"/>
          </a:xfrm>
          <a:prstGeom prst="rect">
            <a:avLst/>
          </a:prstGeom>
          <a:noFill/>
          <a:ln/>
        </p:spPr>
        <p:txBody>
          <a:bodyPr wrap="square" rtlCol="0" anchor="ctr"/>
          <a:lstStyle/>
          <a:p>
            <a:pPr indent="0" marL="0">
              <a:buNone/>
            </a:pPr>
            <a:r>
              <a:rPr lang="en-US" sz="1050" dirty="0">
                <a:solidFill>
                  <a:srgbClr val="142850"/>
                </a:solidFill>
                <a:latin typeface="Calibri" pitchFamily="34" charset="0"/>
                <a:ea typeface="Calibri" pitchFamily="34" charset="-122"/>
                <a:cs typeface="Calibri" pitchFamily="34" charset="-120"/>
              </a:rPr>
              <a:t>4. Train-Test Split</a:t>
            </a:r>
            <a:endParaRPr lang="en-US" sz="1050" dirty="0"/>
          </a:p>
        </p:txBody>
      </p:sp>
      <p:sp>
        <p:nvSpPr>
          <p:cNvPr id="10" name="Text 8"/>
          <p:cNvSpPr/>
          <p:nvPr/>
        </p:nvSpPr>
        <p:spPr>
          <a:xfrm>
            <a:off x="548640" y="3575304"/>
            <a:ext cx="5120640" cy="274320"/>
          </a:xfrm>
          <a:prstGeom prst="rect">
            <a:avLst/>
          </a:prstGeom>
          <a:noFill/>
          <a:ln/>
        </p:spPr>
        <p:txBody>
          <a:bodyPr wrap="square" rtlCol="0" anchor="ctr"/>
          <a:lstStyle/>
          <a:p>
            <a:pPr indent="0" marL="0">
              <a:buNone/>
            </a:pPr>
            <a:r>
              <a:rPr lang="en-US" sz="1050" dirty="0">
                <a:solidFill>
                  <a:srgbClr val="142850"/>
                </a:solidFill>
                <a:latin typeface="Calibri" pitchFamily="34" charset="0"/>
                <a:ea typeface="Calibri" pitchFamily="34" charset="-122"/>
                <a:cs typeface="Calibri" pitchFamily="34" charset="-120"/>
              </a:rPr>
              <a:t>5. Model Training</a:t>
            </a:r>
            <a:endParaRPr lang="en-US" sz="1050" dirty="0"/>
          </a:p>
        </p:txBody>
      </p:sp>
      <p:sp>
        <p:nvSpPr>
          <p:cNvPr id="11" name="Text 9"/>
          <p:cNvSpPr/>
          <p:nvPr/>
        </p:nvSpPr>
        <p:spPr>
          <a:xfrm>
            <a:off x="548640" y="3840480"/>
            <a:ext cx="5120640" cy="274320"/>
          </a:xfrm>
          <a:prstGeom prst="rect">
            <a:avLst/>
          </a:prstGeom>
          <a:noFill/>
          <a:ln/>
        </p:spPr>
        <p:txBody>
          <a:bodyPr wrap="square" rtlCol="0" anchor="ctr"/>
          <a:lstStyle/>
          <a:p>
            <a:pPr indent="0" marL="0">
              <a:buNone/>
            </a:pPr>
            <a:r>
              <a:rPr lang="en-US" sz="1050" dirty="0">
                <a:solidFill>
                  <a:srgbClr val="142850"/>
                </a:solidFill>
                <a:latin typeface="Calibri" pitchFamily="34" charset="0"/>
                <a:ea typeface="Calibri" pitchFamily="34" charset="-122"/>
                <a:cs typeface="Calibri" pitchFamily="34" charset="-120"/>
              </a:rPr>
              <a:t>6. Model Evaluation</a:t>
            </a:r>
            <a:endParaRPr lang="en-US" sz="1050" dirty="0"/>
          </a:p>
        </p:txBody>
      </p:sp>
      <p:sp>
        <p:nvSpPr>
          <p:cNvPr id="12" name="Text 10"/>
          <p:cNvSpPr/>
          <p:nvPr/>
        </p:nvSpPr>
        <p:spPr>
          <a:xfrm>
            <a:off x="548640" y="4105656"/>
            <a:ext cx="5120640" cy="274320"/>
          </a:xfrm>
          <a:prstGeom prst="rect">
            <a:avLst/>
          </a:prstGeom>
          <a:noFill/>
          <a:ln/>
        </p:spPr>
        <p:txBody>
          <a:bodyPr wrap="square" rtlCol="0" anchor="ctr"/>
          <a:lstStyle/>
          <a:p>
            <a:pPr indent="0" marL="0">
              <a:buNone/>
            </a:pPr>
            <a:r>
              <a:rPr lang="en-US" sz="1050" dirty="0">
                <a:solidFill>
                  <a:srgbClr val="142850"/>
                </a:solidFill>
                <a:latin typeface="Calibri" pitchFamily="34" charset="0"/>
                <a:ea typeface="Calibri" pitchFamily="34" charset="-122"/>
                <a:cs typeface="Calibri" pitchFamily="34" charset="-120"/>
              </a:rPr>
              <a:t>7. Model Comparison</a:t>
            </a:r>
            <a:endParaRPr lang="en-US" sz="1050" dirty="0"/>
          </a:p>
        </p:txBody>
      </p:sp>
      <p:sp>
        <p:nvSpPr>
          <p:cNvPr id="13" name="Text 11"/>
          <p:cNvSpPr/>
          <p:nvPr/>
        </p:nvSpPr>
        <p:spPr>
          <a:xfrm>
            <a:off x="548640" y="4370832"/>
            <a:ext cx="5120640" cy="274320"/>
          </a:xfrm>
          <a:prstGeom prst="rect">
            <a:avLst/>
          </a:prstGeom>
          <a:noFill/>
          <a:ln/>
        </p:spPr>
        <p:txBody>
          <a:bodyPr wrap="square" rtlCol="0" anchor="ctr"/>
          <a:lstStyle/>
          <a:p>
            <a:pPr indent="0" marL="0">
              <a:buNone/>
            </a:pPr>
            <a:r>
              <a:rPr lang="en-US" sz="1050" b="1" dirty="0">
                <a:solidFill>
                  <a:srgbClr val="142850"/>
                </a:solidFill>
                <a:latin typeface="Calibri" pitchFamily="34" charset="0"/>
                <a:ea typeface="Calibri" pitchFamily="34" charset="-122"/>
                <a:cs typeface="Calibri" pitchFamily="34" charset="-120"/>
              </a:rPr>
              <a:t>8. Best Model Selection</a:t>
            </a:r>
            <a:endParaRPr lang="en-US" sz="10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989320" y="1325880"/>
          <a:ext cx="5623560" cy="2103120"/>
        </p:xfrm>
        <a:graphic>
          <a:graphicData uri="http://schemas.openxmlformats.org/drawingml/2006/table">
            <a:tbl>
              <a:tblPr/>
              <a:tblGrid>
                <a:gridCol w="3063240"/>
                <a:gridCol w="2560320"/>
              </a:tblGrid>
              <a:tr h="3505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505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Linear Regression</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Baseline regression analysis</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505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Standard Logistic Regression</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Initial classification model</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505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Balanced Logistic Regression</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Address class imbalance</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505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Standard Random Forest</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Tree-based classification</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505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Balanced Random Forest</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Feature importance &amp; comparison</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
        <p:nvSpPr>
          <p:cNvPr id="15" name="Shape 12"/>
          <p:cNvSpPr/>
          <p:nvPr/>
        </p:nvSpPr>
        <p:spPr>
          <a:xfrm>
            <a:off x="5989320" y="3657600"/>
            <a:ext cx="5623560" cy="1600200"/>
          </a:xfrm>
          <a:prstGeom prst="roundRect">
            <a:avLst>
              <a:gd name="adj" fmla="val 4000"/>
            </a:avLst>
          </a:prstGeom>
          <a:solidFill>
            <a:srgbClr val="F4F7FB"/>
          </a:solidFill>
          <a:ln/>
          <a:effectLst>
            <a:outerShdw sx="100000" sy="100000" kx="0" ky="0" algn="bl" rotWithShape="0" blurRad="76200" dist="25400" dir="2700000">
              <a:srgbClr val="000000">
                <a:alpha val="10000"/>
              </a:srgbClr>
            </a:outerShdw>
          </a:effectLst>
        </p:spPr>
      </p:sp>
      <p:sp>
        <p:nvSpPr>
          <p:cNvPr id="16" name="Text 13"/>
          <p:cNvSpPr/>
          <p:nvPr/>
        </p:nvSpPr>
        <p:spPr>
          <a:xfrm>
            <a:off x="6217920" y="3794760"/>
            <a:ext cx="5120640" cy="274320"/>
          </a:xfrm>
          <a:prstGeom prst="rect">
            <a:avLst/>
          </a:prstGeom>
          <a:noFill/>
          <a:ln/>
        </p:spPr>
        <p:txBody>
          <a:bodyPr wrap="square" rtlCol="0" anchor="ctr"/>
          <a:lstStyle/>
          <a:p>
            <a:pPr indent="0" marL="0">
              <a:buNone/>
            </a:pPr>
            <a:r>
              <a:rPr lang="en-US" sz="1250" b="1" dirty="0">
                <a:solidFill>
                  <a:srgbClr val="142850"/>
                </a:solidFill>
                <a:latin typeface="Cambria" pitchFamily="34" charset="0"/>
                <a:ea typeface="Cambria" pitchFamily="34" charset="-122"/>
                <a:cs typeface="Cambria" pitchFamily="34" charset="-120"/>
              </a:rPr>
              <a:t>Why Multiple Models?</a:t>
            </a:r>
            <a:endParaRPr lang="en-US" sz="1250" dirty="0"/>
          </a:p>
        </p:txBody>
      </p:sp>
      <p:sp>
        <p:nvSpPr>
          <p:cNvPr id="17" name="Text 14"/>
          <p:cNvSpPr/>
          <p:nvPr/>
        </p:nvSpPr>
        <p:spPr>
          <a:xfrm>
            <a:off x="6217920" y="4114800"/>
            <a:ext cx="5120640" cy="1051560"/>
          </a:xfrm>
          <a:prstGeom prst="rect">
            <a:avLst/>
          </a:prstGeom>
          <a:noFill/>
          <a:ln/>
        </p:spPr>
        <p:txBody>
          <a:bodyPr wrap="square"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Multiple models were developed and compared to determine which provided the most reliable predictions for loan performance while accounting for the highly imbalanced dataset.</a:t>
            </a:r>
            <a:endParaRPr lang="en-US" sz="1050" dirty="0"/>
          </a:p>
        </p:txBody>
      </p:sp>
      <p:sp>
        <p:nvSpPr>
          <p:cNvPr id="18" name="Shape 15"/>
          <p:cNvSpPr/>
          <p:nvPr/>
        </p:nvSpPr>
        <p:spPr>
          <a:xfrm>
            <a:off x="548640" y="5486400"/>
            <a:ext cx="11064240" cy="868680"/>
          </a:xfrm>
          <a:prstGeom prst="roundRect">
            <a:avLst>
              <a:gd name="adj" fmla="val 6316"/>
            </a:avLst>
          </a:prstGeom>
          <a:solidFill>
            <a:srgbClr val="142850"/>
          </a:solidFill>
          <a:ln/>
          <a:effectLst>
            <a:outerShdw sx="100000" sy="100000" kx="0" ky="0" algn="bl" rotWithShape="0" blurRad="76200" dist="25400" dir="2700000">
              <a:srgbClr val="000000">
                <a:alpha val="15000"/>
              </a:srgbClr>
            </a:outerShdw>
          </a:effectLst>
        </p:spPr>
      </p:sp>
      <p:sp>
        <p:nvSpPr>
          <p:cNvPr id="19" name="Text 16"/>
          <p:cNvSpPr/>
          <p:nvPr/>
        </p:nvSpPr>
        <p:spPr>
          <a:xfrm>
            <a:off x="777240" y="5577840"/>
            <a:ext cx="10607040" cy="68580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Model evaluation focused on balancing overall predictive performance with the ability to detect non-performing loans, which are critical for effective credit risk management.</a:t>
            </a:r>
            <a:endParaRPr lang="en-US" sz="1250" dirty="0"/>
          </a:p>
        </p:txBody>
      </p:sp>
      <p:sp>
        <p:nvSpPr>
          <p:cNvPr id="20" name="Text 17"/>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MACHINE LEARNING</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Linear Regression Analysis</a:t>
            </a:r>
            <a:endParaRPr lang="en-US" sz="3200" dirty="0"/>
          </a:p>
        </p:txBody>
      </p:sp>
      <p:sp>
        <p:nvSpPr>
          <p:cNvPr id="4" name="Text 2"/>
          <p:cNvSpPr/>
          <p:nvPr/>
        </p:nvSpPr>
        <p:spPr>
          <a:xfrm>
            <a:off x="548640" y="1325880"/>
            <a:ext cx="5394960" cy="274320"/>
          </a:xfrm>
          <a:prstGeom prst="rect">
            <a:avLst/>
          </a:prstGeom>
          <a:noFill/>
          <a:ln/>
        </p:spPr>
        <p:txBody>
          <a:bodyPr wrap="square" rtlCol="0" anchor="ctr"/>
          <a:lstStyle/>
          <a:p>
            <a:pPr indent="0" marL="0">
              <a:buNone/>
            </a:pPr>
            <a:r>
              <a:rPr lang="en-US" sz="1350" b="1" dirty="0">
                <a:solidFill>
                  <a:srgbClr val="142850"/>
                </a:solidFill>
                <a:latin typeface="Cambria" pitchFamily="34" charset="0"/>
                <a:ea typeface="Cambria" pitchFamily="34" charset="-122"/>
                <a:cs typeface="Cambria" pitchFamily="34" charset="-120"/>
              </a:rPr>
              <a:t>Why Linear Regression?</a:t>
            </a:r>
            <a:endParaRPr lang="en-US" sz="1350" dirty="0"/>
          </a:p>
        </p:txBody>
      </p:sp>
      <p:sp>
        <p:nvSpPr>
          <p:cNvPr id="5" name="Text 3"/>
          <p:cNvSpPr/>
          <p:nvPr/>
        </p:nvSpPr>
        <p:spPr>
          <a:xfrm>
            <a:off x="548640" y="1645920"/>
            <a:ext cx="5394960" cy="1188720"/>
          </a:xfrm>
          <a:prstGeom prst="rect">
            <a:avLst/>
          </a:prstGeom>
          <a:noFill/>
          <a:ln/>
        </p:spPr>
        <p:txBody>
          <a:bodyPr wrap="square" rtlCol="0" anchor="t"/>
          <a:lstStyle/>
          <a:p>
            <a:pPr marL="342900" indent="-342900">
              <a:spcAft>
                <a:spcPts val="800"/>
              </a:spcAft>
              <a:buSzPct val="100000"/>
              <a:buChar char="•"/>
            </a:pPr>
            <a:r>
              <a:rPr lang="en-US" sz="1150" dirty="0">
                <a:solidFill>
                  <a:srgbClr val="1F2937"/>
                </a:solidFill>
                <a:latin typeface="Calibri" pitchFamily="34" charset="0"/>
                <a:ea typeface="Calibri" pitchFamily="34" charset="-122"/>
                <a:cs typeface="Calibri" pitchFamily="34" charset="-120"/>
              </a:rPr>
              <a:t>Explore relationships between financial variables</a:t>
            </a:r>
            <a:endParaRPr lang="en-US" sz="1150" dirty="0"/>
          </a:p>
          <a:p>
            <a:pPr marL="342900" indent="-342900">
              <a:spcAft>
                <a:spcPts val="800"/>
              </a:spcAft>
              <a:buSzPct val="100000"/>
              <a:buChar char="•"/>
            </a:pPr>
            <a:r>
              <a:rPr lang="en-US" sz="1150" dirty="0">
                <a:solidFill>
                  <a:srgbClr val="1F2937"/>
                </a:solidFill>
                <a:latin typeface="Calibri" pitchFamily="34" charset="0"/>
                <a:ea typeface="Calibri" pitchFamily="34" charset="-122"/>
                <a:cs typeface="Calibri" pitchFamily="34" charset="-120"/>
              </a:rPr>
              <a:t>Measure the influence of borrower characteristics on loan amount</a:t>
            </a:r>
            <a:endParaRPr lang="en-US" sz="1150" dirty="0"/>
          </a:p>
          <a:p>
            <a:pPr marL="342900" indent="-342900">
              <a:spcAft>
                <a:spcPts val="800"/>
              </a:spcAft>
              <a:buSzPct val="100000"/>
              <a:buChar char="•"/>
            </a:pPr>
            <a:r>
              <a:rPr lang="en-US" sz="1150" dirty="0">
                <a:solidFill>
                  <a:srgbClr val="1F2937"/>
                </a:solidFill>
                <a:latin typeface="Calibri" pitchFamily="34" charset="0"/>
                <a:ea typeface="Calibri" pitchFamily="34" charset="-122"/>
                <a:cs typeface="Calibri" pitchFamily="34" charset="-120"/>
              </a:rPr>
              <a:t>Establish a baseline model for comparison</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2926080" cy="1188720"/>
        </p:xfrm>
        <a:graphic>
          <a:graphicData uri="http://schemas.openxmlformats.org/drawingml/2006/table">
            <a:tbl>
              <a:tblPr/>
              <a:tblGrid>
                <a:gridCol w="1645920"/>
                <a:gridCol w="1280160"/>
              </a:tblGrid>
              <a:tr h="2971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Result</a:t>
                      </a:r>
                      <a:endParaRPr lang="en-US" sz="11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29718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Correlation (r)</a:t>
                      </a:r>
                      <a:endParaRPr lang="en-US" sz="11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0.381</a:t>
                      </a:r>
                      <a:endParaRPr lang="en-US" sz="11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29718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R² Score</a:t>
                      </a:r>
                      <a:endParaRPr lang="en-US" sz="11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0.145</a:t>
                      </a:r>
                      <a:endParaRPr lang="en-US" sz="11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297180">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P-value</a:t>
                      </a:r>
                      <a:endParaRPr lang="en-US" sz="11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100" dirty="0">
                          <a:solidFill>
                            <a:srgbClr val="000000"/>
                          </a:solidFill>
                          <a:latin typeface="Calibri" pitchFamily="34" charset="0"/>
                          <a:ea typeface="Calibri" pitchFamily="34" charset="-122"/>
                          <a:cs typeface="Calibri" pitchFamily="34" charset="-120"/>
                        </a:rPr>
                        <a:t>&lt; 0.001</a:t>
                      </a:r>
                      <a:endParaRPr lang="en-US" sz="11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
        <p:nvSpPr>
          <p:cNvPr id="7" name="Text 4"/>
          <p:cNvSpPr/>
          <p:nvPr/>
        </p:nvSpPr>
        <p:spPr>
          <a:xfrm>
            <a:off x="3657600" y="2926080"/>
            <a:ext cx="2286000" cy="274320"/>
          </a:xfrm>
          <a:prstGeom prst="rect">
            <a:avLst/>
          </a:prstGeom>
          <a:noFill/>
          <a:ln/>
        </p:spPr>
        <p:txBody>
          <a:bodyPr wrap="square" rtlCol="0" anchor="ctr"/>
          <a:lstStyle/>
          <a:p>
            <a:pPr indent="0" marL="0">
              <a:buNone/>
            </a:pPr>
            <a:r>
              <a:rPr lang="en-US" sz="1200" b="1" dirty="0">
                <a:solidFill>
                  <a:srgbClr val="142850"/>
                </a:solidFill>
                <a:latin typeface="Cambria" pitchFamily="34" charset="0"/>
                <a:ea typeface="Cambria" pitchFamily="34" charset="-122"/>
                <a:cs typeface="Cambria" pitchFamily="34" charset="-120"/>
              </a:rPr>
              <a:t>Why It Was Not Selected</a:t>
            </a:r>
            <a:endParaRPr lang="en-US" sz="1200" dirty="0"/>
          </a:p>
        </p:txBody>
      </p:sp>
      <p:sp>
        <p:nvSpPr>
          <p:cNvPr id="8" name="Text 5"/>
          <p:cNvSpPr/>
          <p:nvPr/>
        </p:nvSpPr>
        <p:spPr>
          <a:xfrm>
            <a:off x="3657600" y="3246120"/>
            <a:ext cx="2286000" cy="914400"/>
          </a:xfrm>
          <a:prstGeom prst="rect">
            <a:avLst/>
          </a:prstGeom>
          <a:noFill/>
          <a:ln/>
        </p:spPr>
        <p:txBody>
          <a:bodyPr wrap="square" rtlCol="0" anchor="ctr"/>
          <a:lstStyle/>
          <a:p>
            <a:pPr indent="0" marL="0">
              <a:buNone/>
            </a:pPr>
            <a:r>
              <a:rPr lang="en-US" sz="1000" dirty="0">
                <a:solidFill>
                  <a:srgbClr val="C0392B"/>
                </a:solidFill>
                <a:latin typeface="Calibri" pitchFamily="34" charset="0"/>
                <a:ea typeface="Calibri" pitchFamily="34" charset="-122"/>
                <a:cs typeface="Calibri" pitchFamily="34" charset="-120"/>
              </a:rPr>
              <a:t>✘ Predicts continuous values, not categories</a:t>
            </a:r>
            <a:endParaRPr lang="en-US" sz="1000" dirty="0"/>
          </a:p>
          <a:p>
            <a:pPr indent="0" marL="0">
              <a:buNone/>
            </a:pPr>
            <a:r>
              <a:rPr lang="en-US" sz="1000" dirty="0">
                <a:solidFill>
                  <a:srgbClr val="C0392B"/>
                </a:solidFill>
                <a:latin typeface="Calibri" pitchFamily="34" charset="0"/>
                <a:ea typeface="Calibri" pitchFamily="34" charset="-122"/>
                <a:cs typeface="Calibri" pitchFamily="34" charset="-120"/>
              </a:rPr>
              <a:t>✘ Cannot classify Performing/Non-Performing</a:t>
            </a:r>
            <a:endParaRPr lang="en-US" sz="1000" dirty="0"/>
          </a:p>
          <a:p>
            <a:pPr indent="0" marL="0">
              <a:buNone/>
            </a:pPr>
            <a:r>
              <a:rPr lang="en-US" sz="1000" dirty="0">
                <a:solidFill>
                  <a:srgbClr val="2E8B57"/>
                </a:solidFill>
                <a:latin typeface="Calibri" pitchFamily="34" charset="0"/>
                <a:ea typeface="Calibri" pitchFamily="34" charset="-122"/>
                <a:cs typeface="Calibri" pitchFamily="34" charset="-120"/>
              </a:rPr>
              <a:t>✔ Useful baseline for variable relationships</a:t>
            </a:r>
            <a:endParaRPr lang="en-US" sz="1000" dirty="0"/>
          </a:p>
        </p:txBody>
      </p:sp>
      <p:pic>
        <p:nvPicPr>
          <p:cNvPr id="9" name="Image 0" descr="/home/claude/docx_media/image3.png">    </p:cNvPr>
          <p:cNvPicPr>
            <a:picLocks noChangeAspect="1"/>
          </p:cNvPicPr>
          <p:nvPr/>
        </p:nvPicPr>
        <p:blipFill>
          <a:blip r:embed="rId1"/>
          <a:srcRect l="0" r="0" t="0" b="0"/>
          <a:stretch/>
        </p:blipFill>
        <p:spPr>
          <a:xfrm>
            <a:off x="6400800" y="1325880"/>
            <a:ext cx="5212080" cy="3566160"/>
          </a:xfrm>
          <a:prstGeom prst="rect">
            <a:avLst/>
          </a:prstGeom>
        </p:spPr>
      </p:pic>
      <p:sp>
        <p:nvSpPr>
          <p:cNvPr id="10" name="Text 6"/>
          <p:cNvSpPr/>
          <p:nvPr/>
        </p:nvSpPr>
        <p:spPr>
          <a:xfrm>
            <a:off x="6400800" y="4892040"/>
            <a:ext cx="5212080" cy="365760"/>
          </a:xfrm>
          <a:prstGeom prst="rect">
            <a:avLst/>
          </a:prstGeom>
          <a:noFill/>
          <a:ln/>
        </p:spPr>
        <p:txBody>
          <a:bodyPr wrap="square" rtlCol="0" anchor="ctr"/>
          <a:lstStyle/>
          <a:p>
            <a:pPr algn="ctr" indent="0" marL="0">
              <a:buNone/>
            </a:pPr>
            <a:r>
              <a:rPr lang="en-US" sz="950" i="1" dirty="0">
                <a:solidFill>
                  <a:srgbClr val="5B6B82"/>
                </a:solidFill>
                <a:latin typeface="Calibri" pitchFamily="34" charset="0"/>
                <a:ea typeface="Calibri" pitchFamily="34" charset="-122"/>
                <a:cs typeface="Calibri" pitchFamily="34" charset="-120"/>
              </a:rPr>
              <a:t>Scatter plot: moderate positive relationship between annual income and loan amount</a:t>
            </a:r>
            <a:endParaRPr lang="en-US" sz="950" dirty="0"/>
          </a:p>
        </p:txBody>
      </p:sp>
      <p:sp>
        <p:nvSpPr>
          <p:cNvPr id="11" name="Shape 7"/>
          <p:cNvSpPr/>
          <p:nvPr/>
        </p:nvSpPr>
        <p:spPr>
          <a:xfrm>
            <a:off x="548640" y="4343400"/>
            <a:ext cx="5486400" cy="1463040"/>
          </a:xfrm>
          <a:prstGeom prst="roundRect">
            <a:avLst>
              <a:gd name="adj" fmla="val 3750"/>
            </a:avLst>
          </a:prstGeom>
          <a:solidFill>
            <a:srgbClr val="142850"/>
          </a:solidFill>
          <a:ln/>
          <a:effectLst>
            <a:outerShdw sx="100000" sy="100000" kx="0" ky="0" algn="bl" rotWithShape="0" blurRad="76200" dist="25400" dir="2700000">
              <a:srgbClr val="000000">
                <a:alpha val="15000"/>
              </a:srgbClr>
            </a:outerShdw>
          </a:effectLst>
        </p:spPr>
      </p:sp>
      <p:sp>
        <p:nvSpPr>
          <p:cNvPr id="12" name="Text 8"/>
          <p:cNvSpPr/>
          <p:nvPr/>
        </p:nvSpPr>
        <p:spPr>
          <a:xfrm>
            <a:off x="777240" y="4434840"/>
            <a:ext cx="5029200" cy="128016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Linear Regression provided valuable baseline insights into borrower behaviour but was not suitable for predicting loan performance because credit risk is fundamentally a classification problem.</a:t>
            </a:r>
            <a:endParaRPr lang="en-US" sz="1200" dirty="0"/>
          </a:p>
        </p:txBody>
      </p:sp>
      <p:sp>
        <p:nvSpPr>
          <p:cNvPr id="13" name="Text 9"/>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MACHINE LEARNING</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Standard Logistic Regression</a:t>
            </a:r>
            <a:endParaRPr lang="en-US" sz="3200" dirty="0"/>
          </a:p>
        </p:txBody>
      </p:sp>
      <p:sp>
        <p:nvSpPr>
          <p:cNvPr id="4" name="Text 2"/>
          <p:cNvSpPr/>
          <p:nvPr/>
        </p:nvSpPr>
        <p:spPr>
          <a:xfrm>
            <a:off x="548640" y="1325880"/>
            <a:ext cx="5394960" cy="274320"/>
          </a:xfrm>
          <a:prstGeom prst="rect">
            <a:avLst/>
          </a:prstGeom>
          <a:noFill/>
          <a:ln/>
        </p:spPr>
        <p:txBody>
          <a:bodyPr wrap="square" rtlCol="0" anchor="ctr"/>
          <a:lstStyle/>
          <a:p>
            <a:pPr indent="0" marL="0">
              <a:buNone/>
            </a:pPr>
            <a:r>
              <a:rPr lang="en-US" sz="1300" b="1" dirty="0">
                <a:solidFill>
                  <a:srgbClr val="142850"/>
                </a:solidFill>
                <a:latin typeface="Cambria" pitchFamily="34" charset="0"/>
                <a:ea typeface="Cambria" pitchFamily="34" charset="-122"/>
                <a:cs typeface="Cambria" pitchFamily="34" charset="-120"/>
              </a:rPr>
              <a:t>Objective</a:t>
            </a:r>
            <a:endParaRPr lang="en-US" sz="1300" dirty="0"/>
          </a:p>
        </p:txBody>
      </p:sp>
      <p:sp>
        <p:nvSpPr>
          <p:cNvPr id="5" name="Text 3"/>
          <p:cNvSpPr/>
          <p:nvPr/>
        </p:nvSpPr>
        <p:spPr>
          <a:xfrm>
            <a:off x="548640" y="1627632"/>
            <a:ext cx="5394960" cy="54864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Develop an initial classification model to predict whether a loan would be Performing or Non-Performing.</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2743200" cy="1828800"/>
        </p:xfrm>
        <a:graphic>
          <a:graphicData uri="http://schemas.openxmlformats.org/drawingml/2006/table">
            <a:tbl>
              <a:tblPr/>
              <a:tblGrid>
                <a:gridCol w="1554480"/>
                <a:gridCol w="1188720"/>
              </a:tblGrid>
              <a:tr h="3048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048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98.2%</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48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Precision</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98.2%</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48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Recall</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48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F1 Score</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99.1%</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48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ROC-AUC</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0.752</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
        <p:nvSpPr>
          <p:cNvPr id="7" name="Shape 4"/>
          <p:cNvSpPr/>
          <p:nvPr/>
        </p:nvSpPr>
        <p:spPr>
          <a:xfrm>
            <a:off x="548640" y="4251960"/>
            <a:ext cx="5394960" cy="960120"/>
          </a:xfrm>
          <a:prstGeom prst="roundRect">
            <a:avLst>
              <a:gd name="adj" fmla="val 5714"/>
            </a:avLst>
          </a:prstGeom>
          <a:solidFill>
            <a:srgbClr val="FBEAEA"/>
          </a:solidFill>
          <a:ln w="12700">
            <a:solidFill>
              <a:srgbClr val="C0392B"/>
            </a:solidFill>
            <a:prstDash val="solid"/>
          </a:ln>
        </p:spPr>
      </p:sp>
      <p:sp>
        <p:nvSpPr>
          <p:cNvPr id="8" name="Text 5"/>
          <p:cNvSpPr/>
          <p:nvPr/>
        </p:nvSpPr>
        <p:spPr>
          <a:xfrm>
            <a:off x="685800" y="4251960"/>
            <a:ext cx="5120640" cy="960120"/>
          </a:xfrm>
          <a:prstGeom prst="rect">
            <a:avLst/>
          </a:prstGeom>
          <a:noFill/>
          <a:ln/>
        </p:spPr>
        <p:txBody>
          <a:bodyPr wrap="square" rtlCol="0" anchor="ctr"/>
          <a:lstStyle/>
          <a:p>
            <a:pPr indent="0" marL="0">
              <a:buNone/>
            </a:pPr>
            <a:r>
              <a:rPr lang="en-US" sz="1250" b="1" dirty="0">
                <a:solidFill>
                  <a:srgbClr val="C0392B"/>
                </a:solidFill>
                <a:latin typeface="Calibri" pitchFamily="34" charset="0"/>
                <a:ea typeface="Calibri" pitchFamily="34" charset="-122"/>
                <a:cs typeface="Calibri" pitchFamily="34" charset="-120"/>
              </a:rPr>
              <a:t>36 Default Loans → Detected: 0 → Missed: 36</a:t>
            </a:r>
            <a:endParaRPr lang="en-US" sz="1250" dirty="0"/>
          </a:p>
        </p:txBody>
      </p:sp>
      <p:pic>
        <p:nvPicPr>
          <p:cNvPr id="9" name="Image 0" descr="/home/claude/docx_media/image4.png">    </p:cNvPr>
          <p:cNvPicPr>
            <a:picLocks noChangeAspect="1"/>
          </p:cNvPicPr>
          <p:nvPr/>
        </p:nvPicPr>
        <p:blipFill>
          <a:blip r:embed="rId1"/>
          <a:srcRect l="0" r="0" t="0" b="0"/>
          <a:stretch/>
        </p:blipFill>
        <p:spPr>
          <a:xfrm>
            <a:off x="6309360" y="1325880"/>
            <a:ext cx="5120640" cy="3977640"/>
          </a:xfrm>
          <a:prstGeom prst="rect">
            <a:avLst/>
          </a:prstGeom>
        </p:spPr>
      </p:pic>
      <p:sp>
        <p:nvSpPr>
          <p:cNvPr id="10" name="Text 6"/>
          <p:cNvSpPr/>
          <p:nvPr/>
        </p:nvSpPr>
        <p:spPr>
          <a:xfrm>
            <a:off x="6309360" y="5349240"/>
            <a:ext cx="5120640" cy="274320"/>
          </a:xfrm>
          <a:prstGeom prst="rect">
            <a:avLst/>
          </a:prstGeom>
          <a:noFill/>
          <a:ln/>
        </p:spPr>
        <p:txBody>
          <a:bodyPr wrap="square" rtlCol="0" anchor="ctr"/>
          <a:lstStyle/>
          <a:p>
            <a:pPr algn="ctr" indent="0" marL="0">
              <a:buNone/>
            </a:pPr>
            <a:r>
              <a:rPr lang="en-US" sz="950" i="1" dirty="0">
                <a:solidFill>
                  <a:srgbClr val="5B6B82"/>
                </a:solidFill>
                <a:latin typeface="Calibri" pitchFamily="34" charset="0"/>
                <a:ea typeface="Calibri" pitchFamily="34" charset="-122"/>
                <a:cs typeface="Calibri" pitchFamily="34" charset="-120"/>
              </a:rPr>
              <a:t>Standard Logistic Regression — Confusion Matrix</a:t>
            </a:r>
            <a:endParaRPr lang="en-US" sz="950" dirty="0"/>
          </a:p>
        </p:txBody>
      </p:sp>
      <p:sp>
        <p:nvSpPr>
          <p:cNvPr id="11" name="Shape 7"/>
          <p:cNvSpPr/>
          <p:nvPr/>
        </p:nvSpPr>
        <p:spPr>
          <a:xfrm>
            <a:off x="548640" y="5394960"/>
            <a:ext cx="5486400" cy="1051560"/>
          </a:xfrm>
          <a:prstGeom prst="roundRect">
            <a:avLst>
              <a:gd name="adj" fmla="val 5217"/>
            </a:avLst>
          </a:prstGeom>
          <a:solidFill>
            <a:srgbClr val="142850"/>
          </a:solidFill>
          <a:ln/>
          <a:effectLst>
            <a:outerShdw sx="100000" sy="100000" kx="0" ky="0" algn="bl" rotWithShape="0" blurRad="76200" dist="25400" dir="2700000">
              <a:srgbClr val="000000">
                <a:alpha val="15000"/>
              </a:srgbClr>
            </a:outerShdw>
          </a:effectLst>
        </p:spPr>
      </p:sp>
      <p:sp>
        <p:nvSpPr>
          <p:cNvPr id="12" name="Text 8"/>
          <p:cNvSpPr/>
          <p:nvPr/>
        </p:nvSpPr>
        <p:spPr>
          <a:xfrm>
            <a:off x="777240" y="5486400"/>
            <a:ext cx="5029200" cy="868680"/>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High accuracy alone does not guarantee a good model. In highly imbalanced datasets, confusion matrices and class-specific performance provide a more reliable assessment than accuracy.</a:t>
            </a:r>
            <a:endParaRPr lang="en-US" sz="1150" dirty="0"/>
          </a:p>
        </p:txBody>
      </p:sp>
      <p:sp>
        <p:nvSpPr>
          <p:cNvPr id="13" name="Text 9"/>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MACHINE LEARNING</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Balanced Logistic Regression (Final Model)</a:t>
            </a:r>
            <a:endParaRPr lang="en-US" sz="3200" dirty="0"/>
          </a:p>
        </p:txBody>
      </p:sp>
      <p:sp>
        <p:nvSpPr>
          <p:cNvPr id="4" name="Text 2"/>
          <p:cNvSpPr/>
          <p:nvPr/>
        </p:nvSpPr>
        <p:spPr>
          <a:xfrm>
            <a:off x="548640" y="1325880"/>
            <a:ext cx="5394960" cy="274320"/>
          </a:xfrm>
          <a:prstGeom prst="rect">
            <a:avLst/>
          </a:prstGeom>
          <a:noFill/>
          <a:ln/>
        </p:spPr>
        <p:txBody>
          <a:bodyPr wrap="square" rtlCol="0" anchor="ctr"/>
          <a:lstStyle/>
          <a:p>
            <a:pPr indent="0" marL="0">
              <a:buNone/>
            </a:pPr>
            <a:r>
              <a:rPr lang="en-US" sz="1300" b="1" dirty="0">
                <a:solidFill>
                  <a:srgbClr val="142850"/>
                </a:solidFill>
                <a:latin typeface="Cambria" pitchFamily="34" charset="0"/>
                <a:ea typeface="Cambria" pitchFamily="34" charset="-122"/>
                <a:cs typeface="Cambria" pitchFamily="34" charset="-120"/>
              </a:rPr>
              <a:t>Why a Balanced Model?</a:t>
            </a:r>
            <a:endParaRPr lang="en-US" sz="1300" dirty="0"/>
          </a:p>
        </p:txBody>
      </p:sp>
      <p:sp>
        <p:nvSpPr>
          <p:cNvPr id="5" name="Text 3"/>
          <p:cNvSpPr/>
          <p:nvPr/>
        </p:nvSpPr>
        <p:spPr>
          <a:xfrm>
            <a:off x="548640" y="1627632"/>
            <a:ext cx="5394960" cy="960120"/>
          </a:xfrm>
          <a:prstGeom prst="rect">
            <a:avLst/>
          </a:prstGeom>
          <a:noFill/>
          <a:ln/>
        </p:spPr>
        <p:txBody>
          <a:bodyPr wrap="square" rtlCol="0" anchor="ctr"/>
          <a:lstStyle/>
          <a:p>
            <a:pPr indent="0" marL="0">
              <a:buNone/>
            </a:pPr>
            <a:r>
              <a:rPr lang="en-US" sz="1080" dirty="0">
                <a:solidFill>
                  <a:srgbClr val="1F2937"/>
                </a:solidFill>
                <a:latin typeface="Calibri" pitchFamily="34" charset="0"/>
                <a:ea typeface="Calibri" pitchFamily="34" charset="-122"/>
                <a:cs typeface="Calibri" pitchFamily="34" charset="-120"/>
              </a:rPr>
              <a:t>The dataset was ≈98.2% Performing vs 1.8% Non-Performing. This severe imbalance biased the standard model toward the majority class. Class weighting was used to improve detection of Non-Performing loans.</a:t>
            </a:r>
            <a:endParaRPr lang="en-US" sz="108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2697480"/>
          <a:ext cx="2743200" cy="1828800"/>
        </p:xfrm>
        <a:graphic>
          <a:graphicData uri="http://schemas.openxmlformats.org/drawingml/2006/table">
            <a:tbl>
              <a:tblPr/>
              <a:tblGrid>
                <a:gridCol w="1554480"/>
                <a:gridCol w="1188720"/>
              </a:tblGrid>
              <a:tr h="3048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048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Accuracy</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69.7%</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48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Precision</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99.2%</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48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Recall</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69.7%</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48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F1 Score</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81.8%</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480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ROC-AUC</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0.762</a:t>
                      </a:r>
                      <a:endParaRPr lang="en-US" sz="10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
        <p:nvSpPr>
          <p:cNvPr id="7" name="Shape 4"/>
          <p:cNvSpPr/>
          <p:nvPr/>
        </p:nvSpPr>
        <p:spPr>
          <a:xfrm>
            <a:off x="548640" y="4663440"/>
            <a:ext cx="5394960" cy="777240"/>
          </a:xfrm>
          <a:prstGeom prst="roundRect">
            <a:avLst>
              <a:gd name="adj" fmla="val 7059"/>
            </a:avLst>
          </a:prstGeom>
          <a:solidFill>
            <a:srgbClr val="E7F5EC"/>
          </a:solidFill>
          <a:ln w="12700">
            <a:solidFill>
              <a:srgbClr val="2E8B57"/>
            </a:solidFill>
            <a:prstDash val="solid"/>
          </a:ln>
        </p:spPr>
      </p:sp>
      <p:sp>
        <p:nvSpPr>
          <p:cNvPr id="8" name="Text 5"/>
          <p:cNvSpPr/>
          <p:nvPr/>
        </p:nvSpPr>
        <p:spPr>
          <a:xfrm>
            <a:off x="685800" y="4663440"/>
            <a:ext cx="5120640" cy="777240"/>
          </a:xfrm>
          <a:prstGeom prst="rect">
            <a:avLst/>
          </a:prstGeom>
          <a:noFill/>
          <a:ln/>
        </p:spPr>
        <p:txBody>
          <a:bodyPr wrap="square" rtlCol="0" anchor="ctr"/>
          <a:lstStyle/>
          <a:p>
            <a:pPr indent="0" marL="0">
              <a:buNone/>
            </a:pPr>
            <a:r>
              <a:rPr lang="en-US" sz="1300" b="1" dirty="0">
                <a:solidFill>
                  <a:srgbClr val="2E8B57"/>
                </a:solidFill>
                <a:latin typeface="Calibri" pitchFamily="34" charset="0"/>
                <a:ea typeface="Calibri" pitchFamily="34" charset="-122"/>
                <a:cs typeface="Calibri" pitchFamily="34" charset="-120"/>
              </a:rPr>
              <a:t>✔ 25 / 36 Non-Performing Loans Detected (≈69%)</a:t>
            </a:r>
            <a:endParaRPr lang="en-US" sz="1300" dirty="0"/>
          </a:p>
        </p:txBody>
      </p:sp>
      <p:pic>
        <p:nvPicPr>
          <p:cNvPr id="9" name="Image 0" descr="/home/claude/docx_media/image5.png">    </p:cNvPr>
          <p:cNvPicPr>
            <a:picLocks noChangeAspect="1"/>
          </p:cNvPicPr>
          <p:nvPr/>
        </p:nvPicPr>
        <p:blipFill>
          <a:blip r:embed="rId1"/>
          <a:srcRect l="0" r="0" t="0" b="0"/>
          <a:stretch/>
        </p:blipFill>
        <p:spPr>
          <a:xfrm>
            <a:off x="6309360" y="1325880"/>
            <a:ext cx="5120640" cy="3977640"/>
          </a:xfrm>
          <a:prstGeom prst="rect">
            <a:avLst/>
          </a:prstGeom>
        </p:spPr>
      </p:pic>
      <p:sp>
        <p:nvSpPr>
          <p:cNvPr id="10" name="Text 6"/>
          <p:cNvSpPr/>
          <p:nvPr/>
        </p:nvSpPr>
        <p:spPr>
          <a:xfrm>
            <a:off x="6309360" y="5349240"/>
            <a:ext cx="5120640" cy="274320"/>
          </a:xfrm>
          <a:prstGeom prst="rect">
            <a:avLst/>
          </a:prstGeom>
          <a:noFill/>
          <a:ln/>
        </p:spPr>
        <p:txBody>
          <a:bodyPr wrap="square" rtlCol="0" anchor="ctr"/>
          <a:lstStyle/>
          <a:p>
            <a:pPr algn="ctr" indent="0" marL="0">
              <a:buNone/>
            </a:pPr>
            <a:r>
              <a:rPr lang="en-US" sz="950" i="1" dirty="0">
                <a:solidFill>
                  <a:srgbClr val="5B6B82"/>
                </a:solidFill>
                <a:latin typeface="Calibri" pitchFamily="34" charset="0"/>
                <a:ea typeface="Calibri" pitchFamily="34" charset="-122"/>
                <a:cs typeface="Calibri" pitchFamily="34" charset="-120"/>
              </a:rPr>
              <a:t>Balanced Logistic Regression — Confusion Matrix</a:t>
            </a:r>
            <a:endParaRPr lang="en-US" sz="950" dirty="0"/>
          </a:p>
        </p:txBody>
      </p:sp>
      <p:sp>
        <p:nvSpPr>
          <p:cNvPr id="11" name="Shape 7"/>
          <p:cNvSpPr/>
          <p:nvPr/>
        </p:nvSpPr>
        <p:spPr>
          <a:xfrm>
            <a:off x="548640" y="5577840"/>
            <a:ext cx="11064240" cy="777240"/>
          </a:xfrm>
          <a:prstGeom prst="roundRect">
            <a:avLst>
              <a:gd name="adj" fmla="val 7059"/>
            </a:avLst>
          </a:prstGeom>
          <a:solidFill>
            <a:srgbClr val="142850"/>
          </a:solidFill>
          <a:ln/>
          <a:effectLst>
            <a:outerShdw sx="100000" sy="100000" kx="0" ky="0" algn="bl" rotWithShape="0" blurRad="76200" dist="25400" dir="2700000">
              <a:srgbClr val="000000">
                <a:alpha val="15000"/>
              </a:srgbClr>
            </a:outerShdw>
          </a:effectLst>
        </p:spPr>
      </p:sp>
      <p:sp>
        <p:nvSpPr>
          <p:cNvPr id="12" name="Text 8"/>
          <p:cNvSpPr/>
          <p:nvPr/>
        </p:nvSpPr>
        <p:spPr>
          <a:xfrm>
            <a:off x="777240" y="5669280"/>
            <a:ext cx="10607040" cy="59436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Balanced Logistic Regression was selected because it prioritized identifying high-risk borrowers, making it the most practical model for real-world credit risk assessment despite lower overall accuracy.</a:t>
            </a:r>
            <a:endParaRPr lang="en-US" sz="1200" dirty="0"/>
          </a:p>
        </p:txBody>
      </p:sp>
      <p:sp>
        <p:nvSpPr>
          <p:cNvPr id="13" name="Text 9"/>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MACHINE LEARNING</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Random Forest Model Evaluation</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486400" cy="1051560"/>
        </p:xfrm>
        <a:graphic>
          <a:graphicData uri="http://schemas.openxmlformats.org/drawingml/2006/table">
            <a:tbl>
              <a:tblPr/>
              <a:tblGrid>
                <a:gridCol w="2377440"/>
                <a:gridCol w="1097280"/>
                <a:gridCol w="1005840"/>
                <a:gridCol w="1005840"/>
              </a:tblGrid>
              <a:tr h="3505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Accuracy</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ROC-AUC</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NP Detected</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505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Standard Random Forest</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98.2%</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0.681</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 / 36</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505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Balanced Random Forest</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98.2%</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0.689</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 / 36</a:t>
                      </a:r>
                      <a:endParaRPr lang="en-US" sz="100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
        <p:nvSpPr>
          <p:cNvPr id="5" name="Shape 2"/>
          <p:cNvSpPr/>
          <p:nvPr/>
        </p:nvSpPr>
        <p:spPr>
          <a:xfrm>
            <a:off x="548640" y="2606040"/>
            <a:ext cx="2651760" cy="2103120"/>
          </a:xfrm>
          <a:prstGeom prst="roundRect">
            <a:avLst>
              <a:gd name="adj" fmla="val 3043"/>
            </a:avLst>
          </a:prstGeom>
          <a:solidFill>
            <a:srgbClr val="E7F5EC"/>
          </a:solidFill>
          <a:ln/>
        </p:spPr>
      </p:sp>
      <p:sp>
        <p:nvSpPr>
          <p:cNvPr id="6" name="Text 3"/>
          <p:cNvSpPr/>
          <p:nvPr/>
        </p:nvSpPr>
        <p:spPr>
          <a:xfrm>
            <a:off x="731520" y="2724912"/>
            <a:ext cx="2286000" cy="274320"/>
          </a:xfrm>
          <a:prstGeom prst="rect">
            <a:avLst/>
          </a:prstGeom>
          <a:noFill/>
          <a:ln/>
        </p:spPr>
        <p:txBody>
          <a:bodyPr wrap="square" rtlCol="0" anchor="ctr"/>
          <a:lstStyle/>
          <a:p>
            <a:pPr indent="0" marL="0">
              <a:buNone/>
            </a:pPr>
            <a:r>
              <a:rPr lang="en-US" sz="1200" b="1" dirty="0">
                <a:solidFill>
                  <a:srgbClr val="2E8B57"/>
                </a:solidFill>
                <a:latin typeface="Calibri" pitchFamily="34" charset="0"/>
                <a:ea typeface="Calibri" pitchFamily="34" charset="-122"/>
                <a:cs typeface="Calibri" pitchFamily="34" charset="-120"/>
              </a:rPr>
              <a:t>🟢 Strengths</a:t>
            </a:r>
            <a:endParaRPr lang="en-US" sz="1200" dirty="0"/>
          </a:p>
        </p:txBody>
      </p:sp>
      <p:sp>
        <p:nvSpPr>
          <p:cNvPr id="7" name="Text 4"/>
          <p:cNvSpPr/>
          <p:nvPr/>
        </p:nvSpPr>
        <p:spPr>
          <a:xfrm>
            <a:off x="731520" y="3017520"/>
            <a:ext cx="2286000" cy="1554480"/>
          </a:xfrm>
          <a:prstGeom prst="rect">
            <a:avLst/>
          </a:prstGeom>
          <a:noFill/>
          <a:ln/>
        </p:spPr>
        <p:txBody>
          <a:bodyPr wrap="square" rtlCol="0" anchor="t"/>
          <a:lstStyle/>
          <a:p>
            <a:pPr marL="342900" indent="-342900">
              <a:spcAft>
                <a:spcPts val="800"/>
              </a:spcAft>
              <a:buSzPct val="100000"/>
              <a:buChar char="•"/>
            </a:pPr>
            <a:r>
              <a:rPr lang="en-US" sz="1000" dirty="0">
                <a:solidFill>
                  <a:srgbClr val="1F2937"/>
                </a:solidFill>
                <a:latin typeface="Calibri" pitchFamily="34" charset="0"/>
                <a:ea typeface="Calibri" pitchFamily="34" charset="-122"/>
                <a:cs typeface="Calibri" pitchFamily="34" charset="-120"/>
              </a:rPr>
              <a:t>High Accuracy</a:t>
            </a:r>
            <a:endParaRPr lang="en-US" sz="1000" dirty="0"/>
          </a:p>
          <a:p>
            <a:pPr marL="342900" indent="-342900">
              <a:spcAft>
                <a:spcPts val="800"/>
              </a:spcAft>
              <a:buSzPct val="100000"/>
              <a:buChar char="•"/>
            </a:pPr>
            <a:r>
              <a:rPr lang="en-US" sz="1000" dirty="0">
                <a:solidFill>
                  <a:srgbClr val="1F2937"/>
                </a:solidFill>
                <a:latin typeface="Calibri" pitchFamily="34" charset="0"/>
                <a:ea typeface="Calibri" pitchFamily="34" charset="-122"/>
                <a:cs typeface="Calibri" pitchFamily="34" charset="-120"/>
              </a:rPr>
              <a:t>Robust Feature Importance</a:t>
            </a:r>
            <a:endParaRPr lang="en-US" sz="1000" dirty="0"/>
          </a:p>
          <a:p>
            <a:pPr marL="342900" indent="-342900">
              <a:spcAft>
                <a:spcPts val="800"/>
              </a:spcAft>
              <a:buSzPct val="100000"/>
              <a:buChar char="•"/>
            </a:pPr>
            <a:r>
              <a:rPr lang="en-US" sz="1000" dirty="0">
                <a:solidFill>
                  <a:srgbClr val="1F2937"/>
                </a:solidFill>
                <a:latin typeface="Calibri" pitchFamily="34" charset="0"/>
                <a:ea typeface="Calibri" pitchFamily="34" charset="-122"/>
                <a:cs typeface="Calibri" pitchFamily="34" charset="-120"/>
              </a:rPr>
              <a:t>Handles Complex Relationships</a:t>
            </a:r>
            <a:endParaRPr lang="en-US" sz="1000" dirty="0"/>
          </a:p>
        </p:txBody>
      </p:sp>
      <p:sp>
        <p:nvSpPr>
          <p:cNvPr id="8" name="Shape 5"/>
          <p:cNvSpPr/>
          <p:nvPr/>
        </p:nvSpPr>
        <p:spPr>
          <a:xfrm>
            <a:off x="3383280" y="2606040"/>
            <a:ext cx="2651760" cy="2103120"/>
          </a:xfrm>
          <a:prstGeom prst="roundRect">
            <a:avLst>
              <a:gd name="adj" fmla="val 3043"/>
            </a:avLst>
          </a:prstGeom>
          <a:solidFill>
            <a:srgbClr val="FBEAEA"/>
          </a:solidFill>
          <a:ln/>
        </p:spPr>
      </p:sp>
      <p:sp>
        <p:nvSpPr>
          <p:cNvPr id="9" name="Text 6"/>
          <p:cNvSpPr/>
          <p:nvPr/>
        </p:nvSpPr>
        <p:spPr>
          <a:xfrm>
            <a:off x="3566160" y="2724912"/>
            <a:ext cx="228600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 Limitations</a:t>
            </a:r>
            <a:endParaRPr lang="en-US" sz="1200" dirty="0"/>
          </a:p>
        </p:txBody>
      </p:sp>
      <p:sp>
        <p:nvSpPr>
          <p:cNvPr id="10" name="Text 7"/>
          <p:cNvSpPr/>
          <p:nvPr/>
        </p:nvSpPr>
        <p:spPr>
          <a:xfrm>
            <a:off x="3566160" y="3017520"/>
            <a:ext cx="2286000" cy="1554480"/>
          </a:xfrm>
          <a:prstGeom prst="rect">
            <a:avLst/>
          </a:prstGeom>
          <a:noFill/>
          <a:ln/>
        </p:spPr>
        <p:txBody>
          <a:bodyPr wrap="square" rtlCol="0" anchor="t"/>
          <a:lstStyle/>
          <a:p>
            <a:pPr marL="342900" indent="-342900">
              <a:spcAft>
                <a:spcPts val="800"/>
              </a:spcAft>
              <a:buSzPct val="100000"/>
              <a:buChar char="•"/>
            </a:pPr>
            <a:r>
              <a:rPr lang="en-US" sz="970" dirty="0">
                <a:solidFill>
                  <a:srgbClr val="1F2937"/>
                </a:solidFill>
                <a:latin typeface="Calibri" pitchFamily="34" charset="0"/>
                <a:ea typeface="Calibri" pitchFamily="34" charset="-122"/>
                <a:cs typeface="Calibri" pitchFamily="34" charset="-120"/>
              </a:rPr>
              <a:t>Detected 0 Non-Performing Loans</a:t>
            </a:r>
            <a:endParaRPr lang="en-US" sz="970" dirty="0"/>
          </a:p>
          <a:p>
            <a:pPr marL="342900" indent="-342900">
              <a:spcAft>
                <a:spcPts val="800"/>
              </a:spcAft>
              <a:buSzPct val="100000"/>
              <a:buChar char="•"/>
            </a:pPr>
            <a:r>
              <a:rPr lang="en-US" sz="970" dirty="0">
                <a:solidFill>
                  <a:srgbClr val="1F2937"/>
                </a:solidFill>
                <a:latin typeface="Calibri" pitchFamily="34" charset="0"/>
                <a:ea typeface="Calibri" pitchFamily="34" charset="-122"/>
                <a:cs typeface="Calibri" pitchFamily="34" charset="-120"/>
              </a:rPr>
              <a:t>Biased toward Majority Class</a:t>
            </a:r>
            <a:endParaRPr lang="en-US" sz="970" dirty="0"/>
          </a:p>
          <a:p>
            <a:pPr marL="342900" indent="-342900">
              <a:spcAft>
                <a:spcPts val="800"/>
              </a:spcAft>
              <a:buSzPct val="100000"/>
              <a:buChar char="•"/>
            </a:pPr>
            <a:r>
              <a:rPr lang="en-US" sz="970" dirty="0">
                <a:solidFill>
                  <a:srgbClr val="1F2937"/>
                </a:solidFill>
                <a:latin typeface="Calibri" pitchFamily="34" charset="0"/>
                <a:ea typeface="Calibri" pitchFamily="34" charset="-122"/>
                <a:cs typeface="Calibri" pitchFamily="34" charset="-120"/>
              </a:rPr>
              <a:t>Lower ROC-AUC than Balanced LR</a:t>
            </a:r>
            <a:endParaRPr lang="en-US" sz="970" dirty="0"/>
          </a:p>
        </p:txBody>
      </p:sp>
      <p:pic>
        <p:nvPicPr>
          <p:cNvPr id="11" name="Image 0" descr="/home/claude/docx_media/image6.png">    </p:cNvPr>
          <p:cNvPicPr>
            <a:picLocks noChangeAspect="1"/>
          </p:cNvPicPr>
          <p:nvPr/>
        </p:nvPicPr>
        <p:blipFill>
          <a:blip r:embed="rId1"/>
          <a:srcRect l="0" r="0" t="0" b="0"/>
          <a:stretch/>
        </p:blipFill>
        <p:spPr>
          <a:xfrm>
            <a:off x="6309360" y="1325880"/>
            <a:ext cx="5120640" cy="3520440"/>
          </a:xfrm>
          <a:prstGeom prst="rect">
            <a:avLst/>
          </a:prstGeom>
        </p:spPr>
      </p:pic>
      <p:sp>
        <p:nvSpPr>
          <p:cNvPr id="12" name="Text 8"/>
          <p:cNvSpPr/>
          <p:nvPr/>
        </p:nvSpPr>
        <p:spPr>
          <a:xfrm>
            <a:off x="6309360" y="4864608"/>
            <a:ext cx="5120640" cy="274320"/>
          </a:xfrm>
          <a:prstGeom prst="rect">
            <a:avLst/>
          </a:prstGeom>
          <a:noFill/>
          <a:ln/>
        </p:spPr>
        <p:txBody>
          <a:bodyPr wrap="square" rtlCol="0" anchor="ctr"/>
          <a:lstStyle/>
          <a:p>
            <a:pPr algn="ctr" indent="0" marL="0">
              <a:buNone/>
            </a:pPr>
            <a:r>
              <a:rPr lang="en-US" sz="950" i="1" dirty="0">
                <a:solidFill>
                  <a:srgbClr val="5B6B82"/>
                </a:solidFill>
                <a:latin typeface="Calibri" pitchFamily="34" charset="0"/>
                <a:ea typeface="Calibri" pitchFamily="34" charset="-122"/>
                <a:cs typeface="Calibri" pitchFamily="34" charset="-120"/>
              </a:rPr>
              <a:t>Standard Random Forest — Confusion Matrix</a:t>
            </a:r>
            <a:endParaRPr lang="en-US" sz="950" dirty="0"/>
          </a:p>
        </p:txBody>
      </p:sp>
      <p:sp>
        <p:nvSpPr>
          <p:cNvPr id="13" name="Shape 9"/>
          <p:cNvSpPr/>
          <p:nvPr/>
        </p:nvSpPr>
        <p:spPr>
          <a:xfrm>
            <a:off x="548640" y="4937760"/>
            <a:ext cx="5486400" cy="1417320"/>
          </a:xfrm>
          <a:prstGeom prst="roundRect">
            <a:avLst>
              <a:gd name="adj" fmla="val 3871"/>
            </a:avLst>
          </a:prstGeom>
          <a:solidFill>
            <a:srgbClr val="142850"/>
          </a:solidFill>
          <a:ln/>
          <a:effectLst>
            <a:outerShdw sx="100000" sy="100000" kx="0" ky="0" algn="bl" rotWithShape="0" blurRad="76200" dist="25400" dir="2700000">
              <a:srgbClr val="000000">
                <a:alpha val="15000"/>
              </a:srgbClr>
            </a:outerShdw>
          </a:effectLst>
        </p:spPr>
      </p:sp>
      <p:sp>
        <p:nvSpPr>
          <p:cNvPr id="14" name="Text 10"/>
          <p:cNvSpPr/>
          <p:nvPr/>
        </p:nvSpPr>
        <p:spPr>
          <a:xfrm>
            <a:off x="777240" y="5029200"/>
            <a:ext cx="5029200" cy="1234440"/>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Random Forest demonstrated strong predictive accuracy but failed to identify high-risk borrowers. Its greatest contribution was identifying the most important factors influencing loan performance.</a:t>
            </a:r>
            <a:endParaRPr lang="en-US" sz="1150" dirty="0"/>
          </a:p>
        </p:txBody>
      </p:sp>
      <p:sp>
        <p:nvSpPr>
          <p:cNvPr id="15" name="Text 11"/>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MACHINE LEARNING</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Feature Importance Analysis</a:t>
            </a:r>
            <a:endParaRPr lang="en-US" sz="3200" dirty="0"/>
          </a:p>
        </p:txBody>
      </p:sp>
      <p:pic>
        <p:nvPicPr>
          <p:cNvPr id="4" name="Image 0" descr="/home/claude/docx_media/image7.png">    </p:cNvPr>
          <p:cNvPicPr>
            <a:picLocks noChangeAspect="1"/>
          </p:cNvPicPr>
          <p:nvPr/>
        </p:nvPicPr>
        <p:blipFill>
          <a:blip r:embed="rId1"/>
          <a:srcRect l="0" r="0" t="0" b="0"/>
          <a:stretch/>
        </p:blipFill>
        <p:spPr>
          <a:xfrm>
            <a:off x="548640" y="1371600"/>
            <a:ext cx="5486400" cy="3264408"/>
          </a:xfrm>
          <a:prstGeom prst="rect">
            <a:avLst/>
          </a:prstGeom>
        </p:spPr>
      </p:pic>
      <p:sp>
        <p:nvSpPr>
          <p:cNvPr id="5" name="Text 2"/>
          <p:cNvSpPr/>
          <p:nvPr/>
        </p:nvSpPr>
        <p:spPr>
          <a:xfrm>
            <a:off x="548640" y="4663440"/>
            <a:ext cx="5486400" cy="274320"/>
          </a:xfrm>
          <a:prstGeom prst="rect">
            <a:avLst/>
          </a:prstGeom>
          <a:noFill/>
          <a:ln/>
        </p:spPr>
        <p:txBody>
          <a:bodyPr wrap="square" rtlCol="0" anchor="ctr"/>
          <a:lstStyle/>
          <a:p>
            <a:pPr algn="ctr" indent="0" marL="0">
              <a:buNone/>
            </a:pPr>
            <a:r>
              <a:rPr lang="en-US" sz="950" i="1" dirty="0">
                <a:solidFill>
                  <a:srgbClr val="5B6B82"/>
                </a:solidFill>
                <a:latin typeface="Calibri" pitchFamily="34" charset="0"/>
                <a:ea typeface="Calibri" pitchFamily="34" charset="-122"/>
                <a:cs typeface="Calibri" pitchFamily="34" charset="-120"/>
              </a:rPr>
              <a:t>Top 10 Feature Importance</a:t>
            </a:r>
            <a:endParaRPr lang="en-US" sz="950" dirty="0"/>
          </a:p>
        </p:txBody>
      </p:sp>
      <p:sp>
        <p:nvSpPr>
          <p:cNvPr id="6" name="Shape 3"/>
          <p:cNvSpPr/>
          <p:nvPr/>
        </p:nvSpPr>
        <p:spPr>
          <a:xfrm>
            <a:off x="6355080" y="1325880"/>
            <a:ext cx="5257800" cy="685800"/>
          </a:xfrm>
          <a:prstGeom prst="roundRect">
            <a:avLst>
              <a:gd name="adj" fmla="val 9333"/>
            </a:avLst>
          </a:prstGeom>
          <a:solidFill>
            <a:srgbClr val="F4F7FB"/>
          </a:solidFill>
          <a:ln/>
          <a:effectLst>
            <a:outerShdw sx="100000" sy="100000" kx="0" ky="0" algn="bl" rotWithShape="0" blurRad="76200" dist="25400" dir="2700000">
              <a:srgbClr val="000000">
                <a:alpha val="10000"/>
              </a:srgbClr>
            </a:outerShdw>
          </a:effectLst>
        </p:spPr>
      </p:sp>
      <p:sp>
        <p:nvSpPr>
          <p:cNvPr id="7" name="Text 4"/>
          <p:cNvSpPr/>
          <p:nvPr/>
        </p:nvSpPr>
        <p:spPr>
          <a:xfrm>
            <a:off x="6583680" y="1380744"/>
            <a:ext cx="4846320" cy="274320"/>
          </a:xfrm>
          <a:prstGeom prst="rect">
            <a:avLst/>
          </a:prstGeom>
          <a:noFill/>
          <a:ln/>
        </p:spPr>
        <p:txBody>
          <a:bodyPr wrap="square" rtlCol="0" anchor="ctr"/>
          <a:lstStyle/>
          <a:p>
            <a:pPr indent="0" marL="0">
              <a:buNone/>
            </a:pPr>
            <a:r>
              <a:rPr lang="en-US" sz="1150" b="1" dirty="0">
                <a:solidFill>
                  <a:srgbClr val="142850"/>
                </a:solidFill>
                <a:latin typeface="Calibri" pitchFamily="34" charset="0"/>
                <a:ea typeface="Calibri" pitchFamily="34" charset="-122"/>
                <a:cs typeface="Calibri" pitchFamily="34" charset="-120"/>
              </a:rPr>
              <a:t>Interest Rate</a:t>
            </a:r>
            <a:endParaRPr lang="en-US" sz="1150" dirty="0"/>
          </a:p>
        </p:txBody>
      </p:sp>
      <p:sp>
        <p:nvSpPr>
          <p:cNvPr id="8" name="Text 5"/>
          <p:cNvSpPr/>
          <p:nvPr/>
        </p:nvSpPr>
        <p:spPr>
          <a:xfrm>
            <a:off x="6583680" y="1664208"/>
            <a:ext cx="4846320" cy="292608"/>
          </a:xfrm>
          <a:prstGeom prst="rect">
            <a:avLst/>
          </a:prstGeom>
          <a:noFill/>
          <a:ln/>
        </p:spPr>
        <p:txBody>
          <a:bodyPr wrap="square" rtlCol="0" anchor="ctr"/>
          <a:lstStyle/>
          <a:p>
            <a:pPr indent="0" marL="0">
              <a:buNone/>
            </a:pPr>
            <a:r>
              <a:rPr lang="en-US" sz="950" dirty="0">
                <a:solidFill>
                  <a:srgbClr val="5B6B82"/>
                </a:solidFill>
                <a:latin typeface="Calibri" pitchFamily="34" charset="0"/>
                <a:ea typeface="Calibri" pitchFamily="34" charset="-122"/>
                <a:cs typeface="Calibri" pitchFamily="34" charset="-120"/>
              </a:rPr>
              <a:t>Strongest indicator of borrower risk.</a:t>
            </a:r>
            <a:endParaRPr lang="en-US" sz="950" dirty="0"/>
          </a:p>
        </p:txBody>
      </p:sp>
      <p:sp>
        <p:nvSpPr>
          <p:cNvPr id="9" name="Shape 6"/>
          <p:cNvSpPr/>
          <p:nvPr/>
        </p:nvSpPr>
        <p:spPr>
          <a:xfrm>
            <a:off x="6355080" y="2121408"/>
            <a:ext cx="5257800" cy="685800"/>
          </a:xfrm>
          <a:prstGeom prst="roundRect">
            <a:avLst>
              <a:gd name="adj" fmla="val 9333"/>
            </a:avLst>
          </a:prstGeom>
          <a:solidFill>
            <a:srgbClr val="F4F7FB"/>
          </a:solidFill>
          <a:ln/>
          <a:effectLst>
            <a:outerShdw sx="100000" sy="100000" kx="0" ky="0" algn="bl" rotWithShape="0" blurRad="76200" dist="25400" dir="2700000">
              <a:srgbClr val="000000">
                <a:alpha val="10000"/>
              </a:srgbClr>
            </a:outerShdw>
          </a:effectLst>
        </p:spPr>
      </p:sp>
      <p:sp>
        <p:nvSpPr>
          <p:cNvPr id="10" name="Text 7"/>
          <p:cNvSpPr/>
          <p:nvPr/>
        </p:nvSpPr>
        <p:spPr>
          <a:xfrm>
            <a:off x="6583680" y="2176272"/>
            <a:ext cx="4846320" cy="274320"/>
          </a:xfrm>
          <a:prstGeom prst="rect">
            <a:avLst/>
          </a:prstGeom>
          <a:noFill/>
          <a:ln/>
        </p:spPr>
        <p:txBody>
          <a:bodyPr wrap="square" rtlCol="0" anchor="ctr"/>
          <a:lstStyle/>
          <a:p>
            <a:pPr indent="0" marL="0">
              <a:buNone/>
            </a:pPr>
            <a:r>
              <a:rPr lang="en-US" sz="1150" b="1" dirty="0">
                <a:solidFill>
                  <a:srgbClr val="142850"/>
                </a:solidFill>
                <a:latin typeface="Calibri" pitchFamily="34" charset="0"/>
                <a:ea typeface="Calibri" pitchFamily="34" charset="-122"/>
                <a:cs typeface="Calibri" pitchFamily="34" charset="-120"/>
              </a:rPr>
              <a:t>Debt-to-Income Ratio</a:t>
            </a:r>
            <a:endParaRPr lang="en-US" sz="1150" dirty="0"/>
          </a:p>
        </p:txBody>
      </p:sp>
      <p:sp>
        <p:nvSpPr>
          <p:cNvPr id="11" name="Text 8"/>
          <p:cNvSpPr/>
          <p:nvPr/>
        </p:nvSpPr>
        <p:spPr>
          <a:xfrm>
            <a:off x="6583680" y="2459736"/>
            <a:ext cx="4846320" cy="292608"/>
          </a:xfrm>
          <a:prstGeom prst="rect">
            <a:avLst/>
          </a:prstGeom>
          <a:noFill/>
          <a:ln/>
        </p:spPr>
        <p:txBody>
          <a:bodyPr wrap="square" rtlCol="0" anchor="ctr"/>
          <a:lstStyle/>
          <a:p>
            <a:pPr indent="0" marL="0">
              <a:buNone/>
            </a:pPr>
            <a:r>
              <a:rPr lang="en-US" sz="950" dirty="0">
                <a:solidFill>
                  <a:srgbClr val="5B6B82"/>
                </a:solidFill>
                <a:latin typeface="Calibri" pitchFamily="34" charset="0"/>
                <a:ea typeface="Calibri" pitchFamily="34" charset="-122"/>
                <a:cs typeface="Calibri" pitchFamily="34" charset="-120"/>
              </a:rPr>
              <a:t>Measures repayment capacity.</a:t>
            </a:r>
            <a:endParaRPr lang="en-US" sz="950" dirty="0"/>
          </a:p>
        </p:txBody>
      </p:sp>
      <p:sp>
        <p:nvSpPr>
          <p:cNvPr id="12" name="Shape 9"/>
          <p:cNvSpPr/>
          <p:nvPr/>
        </p:nvSpPr>
        <p:spPr>
          <a:xfrm>
            <a:off x="6355080" y="2916936"/>
            <a:ext cx="5257800" cy="685800"/>
          </a:xfrm>
          <a:prstGeom prst="roundRect">
            <a:avLst>
              <a:gd name="adj" fmla="val 9333"/>
            </a:avLst>
          </a:prstGeom>
          <a:solidFill>
            <a:srgbClr val="F4F7FB"/>
          </a:solidFill>
          <a:ln/>
          <a:effectLst>
            <a:outerShdw sx="100000" sy="100000" kx="0" ky="0" algn="bl" rotWithShape="0" blurRad="76200" dist="25400" dir="2700000">
              <a:srgbClr val="000000">
                <a:alpha val="10000"/>
              </a:srgbClr>
            </a:outerShdw>
          </a:effectLst>
        </p:spPr>
      </p:sp>
      <p:sp>
        <p:nvSpPr>
          <p:cNvPr id="13" name="Text 10"/>
          <p:cNvSpPr/>
          <p:nvPr/>
        </p:nvSpPr>
        <p:spPr>
          <a:xfrm>
            <a:off x="6583680" y="2971800"/>
            <a:ext cx="4846320" cy="274320"/>
          </a:xfrm>
          <a:prstGeom prst="rect">
            <a:avLst/>
          </a:prstGeom>
          <a:noFill/>
          <a:ln/>
        </p:spPr>
        <p:txBody>
          <a:bodyPr wrap="square" rtlCol="0" anchor="ctr"/>
          <a:lstStyle/>
          <a:p>
            <a:pPr indent="0" marL="0">
              <a:buNone/>
            </a:pPr>
            <a:r>
              <a:rPr lang="en-US" sz="1150" b="1" dirty="0">
                <a:solidFill>
                  <a:srgbClr val="142850"/>
                </a:solidFill>
                <a:latin typeface="Calibri" pitchFamily="34" charset="0"/>
                <a:ea typeface="Calibri" pitchFamily="34" charset="-122"/>
                <a:cs typeface="Calibri" pitchFamily="34" charset="-120"/>
              </a:rPr>
              <a:t>Loan Amount</a:t>
            </a:r>
            <a:endParaRPr lang="en-US" sz="1150" dirty="0"/>
          </a:p>
        </p:txBody>
      </p:sp>
      <p:sp>
        <p:nvSpPr>
          <p:cNvPr id="14" name="Text 11"/>
          <p:cNvSpPr/>
          <p:nvPr/>
        </p:nvSpPr>
        <p:spPr>
          <a:xfrm>
            <a:off x="6583680" y="3255264"/>
            <a:ext cx="4846320" cy="292608"/>
          </a:xfrm>
          <a:prstGeom prst="rect">
            <a:avLst/>
          </a:prstGeom>
          <a:noFill/>
          <a:ln/>
        </p:spPr>
        <p:txBody>
          <a:bodyPr wrap="square" rtlCol="0" anchor="ctr"/>
          <a:lstStyle/>
          <a:p>
            <a:pPr indent="0" marL="0">
              <a:buNone/>
            </a:pPr>
            <a:r>
              <a:rPr lang="en-US" sz="950" dirty="0">
                <a:solidFill>
                  <a:srgbClr val="5B6B82"/>
                </a:solidFill>
                <a:latin typeface="Calibri" pitchFamily="34" charset="0"/>
                <a:ea typeface="Calibri" pitchFamily="34" charset="-122"/>
                <a:cs typeface="Calibri" pitchFamily="34" charset="-120"/>
              </a:rPr>
              <a:t>Represents financial exposure.</a:t>
            </a:r>
            <a:endParaRPr lang="en-US" sz="950" dirty="0"/>
          </a:p>
        </p:txBody>
      </p:sp>
      <p:sp>
        <p:nvSpPr>
          <p:cNvPr id="15" name="Shape 12"/>
          <p:cNvSpPr/>
          <p:nvPr/>
        </p:nvSpPr>
        <p:spPr>
          <a:xfrm>
            <a:off x="6355080" y="3712464"/>
            <a:ext cx="5257800" cy="685800"/>
          </a:xfrm>
          <a:prstGeom prst="roundRect">
            <a:avLst>
              <a:gd name="adj" fmla="val 9333"/>
            </a:avLst>
          </a:prstGeom>
          <a:solidFill>
            <a:srgbClr val="F4F7FB"/>
          </a:solidFill>
          <a:ln/>
          <a:effectLst>
            <a:outerShdw sx="100000" sy="100000" kx="0" ky="0" algn="bl" rotWithShape="0" blurRad="76200" dist="25400" dir="2700000">
              <a:srgbClr val="000000">
                <a:alpha val="10000"/>
              </a:srgbClr>
            </a:outerShdw>
          </a:effectLst>
        </p:spPr>
      </p:sp>
      <p:sp>
        <p:nvSpPr>
          <p:cNvPr id="16" name="Text 13"/>
          <p:cNvSpPr/>
          <p:nvPr/>
        </p:nvSpPr>
        <p:spPr>
          <a:xfrm>
            <a:off x="6583680" y="3767328"/>
            <a:ext cx="4846320" cy="274320"/>
          </a:xfrm>
          <a:prstGeom prst="rect">
            <a:avLst/>
          </a:prstGeom>
          <a:noFill/>
          <a:ln/>
        </p:spPr>
        <p:txBody>
          <a:bodyPr wrap="square" rtlCol="0" anchor="ctr"/>
          <a:lstStyle/>
          <a:p>
            <a:pPr indent="0" marL="0">
              <a:buNone/>
            </a:pPr>
            <a:r>
              <a:rPr lang="en-US" sz="1150" b="1" dirty="0">
                <a:solidFill>
                  <a:srgbClr val="142850"/>
                </a:solidFill>
                <a:latin typeface="Calibri" pitchFamily="34" charset="0"/>
                <a:ea typeface="Calibri" pitchFamily="34" charset="-122"/>
                <a:cs typeface="Calibri" pitchFamily="34" charset="-120"/>
              </a:rPr>
              <a:t>Annual Income</a:t>
            </a:r>
            <a:endParaRPr lang="en-US" sz="1150" dirty="0"/>
          </a:p>
        </p:txBody>
      </p:sp>
      <p:sp>
        <p:nvSpPr>
          <p:cNvPr id="17" name="Text 14"/>
          <p:cNvSpPr/>
          <p:nvPr/>
        </p:nvSpPr>
        <p:spPr>
          <a:xfrm>
            <a:off x="6583680" y="4050792"/>
            <a:ext cx="4846320" cy="292608"/>
          </a:xfrm>
          <a:prstGeom prst="rect">
            <a:avLst/>
          </a:prstGeom>
          <a:noFill/>
          <a:ln/>
        </p:spPr>
        <p:txBody>
          <a:bodyPr wrap="square" rtlCol="0" anchor="ctr"/>
          <a:lstStyle/>
          <a:p>
            <a:pPr indent="0" marL="0">
              <a:buNone/>
            </a:pPr>
            <a:r>
              <a:rPr lang="en-US" sz="950" dirty="0">
                <a:solidFill>
                  <a:srgbClr val="5B6B82"/>
                </a:solidFill>
                <a:latin typeface="Calibri" pitchFamily="34" charset="0"/>
                <a:ea typeface="Calibri" pitchFamily="34" charset="-122"/>
                <a:cs typeface="Calibri" pitchFamily="34" charset="-120"/>
              </a:rPr>
              <a:t>Indicates repayment ability.</a:t>
            </a:r>
            <a:endParaRPr lang="en-US" sz="950" dirty="0"/>
          </a:p>
        </p:txBody>
      </p:sp>
      <p:sp>
        <p:nvSpPr>
          <p:cNvPr id="18" name="Shape 15"/>
          <p:cNvSpPr/>
          <p:nvPr/>
        </p:nvSpPr>
        <p:spPr>
          <a:xfrm>
            <a:off x="6355080" y="4507992"/>
            <a:ext cx="5257800" cy="685800"/>
          </a:xfrm>
          <a:prstGeom prst="roundRect">
            <a:avLst>
              <a:gd name="adj" fmla="val 9333"/>
            </a:avLst>
          </a:prstGeom>
          <a:solidFill>
            <a:srgbClr val="F4F7FB"/>
          </a:solidFill>
          <a:ln/>
          <a:effectLst>
            <a:outerShdw sx="100000" sy="100000" kx="0" ky="0" algn="bl" rotWithShape="0" blurRad="76200" dist="25400" dir="2700000">
              <a:srgbClr val="000000">
                <a:alpha val="10000"/>
              </a:srgbClr>
            </a:outerShdw>
          </a:effectLst>
        </p:spPr>
      </p:sp>
      <p:sp>
        <p:nvSpPr>
          <p:cNvPr id="19" name="Text 16"/>
          <p:cNvSpPr/>
          <p:nvPr/>
        </p:nvSpPr>
        <p:spPr>
          <a:xfrm>
            <a:off x="6583680" y="4562856"/>
            <a:ext cx="4846320" cy="274320"/>
          </a:xfrm>
          <a:prstGeom prst="rect">
            <a:avLst/>
          </a:prstGeom>
          <a:noFill/>
          <a:ln/>
        </p:spPr>
        <p:txBody>
          <a:bodyPr wrap="square" rtlCol="0" anchor="ctr"/>
          <a:lstStyle/>
          <a:p>
            <a:pPr indent="0" marL="0">
              <a:buNone/>
            </a:pPr>
            <a:r>
              <a:rPr lang="en-US" sz="1150" b="1" dirty="0">
                <a:solidFill>
                  <a:srgbClr val="142850"/>
                </a:solidFill>
                <a:latin typeface="Calibri" pitchFamily="34" charset="0"/>
                <a:ea typeface="Calibri" pitchFamily="34" charset="-122"/>
                <a:cs typeface="Calibri" pitchFamily="34" charset="-120"/>
              </a:rPr>
              <a:t>Months Since Last Delinquency</a:t>
            </a:r>
            <a:endParaRPr lang="en-US" sz="1150" dirty="0"/>
          </a:p>
        </p:txBody>
      </p:sp>
      <p:sp>
        <p:nvSpPr>
          <p:cNvPr id="20" name="Text 17"/>
          <p:cNvSpPr/>
          <p:nvPr/>
        </p:nvSpPr>
        <p:spPr>
          <a:xfrm>
            <a:off x="6583680" y="4846320"/>
            <a:ext cx="4846320" cy="292608"/>
          </a:xfrm>
          <a:prstGeom prst="rect">
            <a:avLst/>
          </a:prstGeom>
          <a:noFill/>
          <a:ln/>
        </p:spPr>
        <p:txBody>
          <a:bodyPr wrap="square" rtlCol="0" anchor="ctr"/>
          <a:lstStyle/>
          <a:p>
            <a:pPr indent="0" marL="0">
              <a:buNone/>
            </a:pPr>
            <a:r>
              <a:rPr lang="en-US" sz="950" dirty="0">
                <a:solidFill>
                  <a:srgbClr val="5B6B82"/>
                </a:solidFill>
                <a:latin typeface="Calibri" pitchFamily="34" charset="0"/>
                <a:ea typeface="Calibri" pitchFamily="34" charset="-122"/>
                <a:cs typeface="Calibri" pitchFamily="34" charset="-120"/>
              </a:rPr>
              <a:t>Key measure of stability &amp; recovery.</a:t>
            </a:r>
            <a:endParaRPr lang="en-US" sz="950" dirty="0"/>
          </a:p>
        </p:txBody>
      </p:sp>
      <p:sp>
        <p:nvSpPr>
          <p:cNvPr id="21" name="Shape 18"/>
          <p:cNvSpPr/>
          <p:nvPr/>
        </p:nvSpPr>
        <p:spPr>
          <a:xfrm>
            <a:off x="548640" y="5074920"/>
            <a:ext cx="11064240" cy="822960"/>
          </a:xfrm>
          <a:prstGeom prst="roundRect">
            <a:avLst>
              <a:gd name="adj" fmla="val 6667"/>
            </a:avLst>
          </a:prstGeom>
          <a:solidFill>
            <a:srgbClr val="142850"/>
          </a:solidFill>
          <a:ln/>
          <a:effectLst>
            <a:outerShdw sx="100000" sy="100000" kx="0" ky="0" algn="bl" rotWithShape="0" blurRad="76200" dist="25400" dir="2700000">
              <a:srgbClr val="000000">
                <a:alpha val="15000"/>
              </a:srgbClr>
            </a:outerShdw>
          </a:effectLst>
        </p:spPr>
      </p:sp>
      <p:sp>
        <p:nvSpPr>
          <p:cNvPr id="22" name="Text 19"/>
          <p:cNvSpPr/>
          <p:nvPr/>
        </p:nvSpPr>
        <p:spPr>
          <a:xfrm>
            <a:off x="777240" y="5166360"/>
            <a:ext cx="10607040" cy="64008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Feature importance analysis revealed that credit risk is influenced by multiple financial and behavioural factors rather than any single borrower characteristic.</a:t>
            </a:r>
            <a:endParaRPr lang="en-US" sz="1250" dirty="0"/>
          </a:p>
        </p:txBody>
      </p:sp>
      <p:sp>
        <p:nvSpPr>
          <p:cNvPr id="23" name="Text 20"/>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MACHINE LEARNING</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Model Comparison &amp; Final Model Selection</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498080" cy="1828800"/>
        </p:xfrm>
        <a:graphic>
          <a:graphicData uri="http://schemas.openxmlformats.org/drawingml/2006/table">
            <a:tbl>
              <a:tblPr/>
              <a:tblGrid>
                <a:gridCol w="2743200"/>
                <a:gridCol w="1280160"/>
                <a:gridCol w="1188720"/>
                <a:gridCol w="1371600"/>
                <a:gridCol w="914400"/>
              </a:tblGrid>
              <a:tr h="30480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Accuracy</a:t>
                      </a:r>
                      <a:endParaRPr lang="en-US" sz="9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ROC-AUC</a:t>
                      </a:r>
                      <a:endParaRPr lang="en-US" sz="9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NP Detected</a:t>
                      </a:r>
                      <a:endParaRPr lang="en-US" sz="9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Selected</a:t>
                      </a:r>
                      <a:endParaRPr lang="en-US" sz="9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04800">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Linear Regression</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4800">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Standard Logistic Regression</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98.2%</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0.752</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0 / 36</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4800">
                <a:tc>
                  <a:txBody>
                    <a:bodyPr/>
                    <a:lstStyle/>
                    <a:p>
                      <a:pPr indent="0" marL="0">
                        <a:buNone/>
                      </a:pPr>
                      <a:r>
                        <a:rPr lang="en-US" sz="980" b="1" dirty="0">
                          <a:solidFill>
                            <a:srgbClr val="000000"/>
                          </a:solidFill>
                          <a:latin typeface="Calibri" pitchFamily="34" charset="0"/>
                          <a:ea typeface="Calibri" pitchFamily="34" charset="-122"/>
                          <a:cs typeface="Calibri" pitchFamily="34" charset="-120"/>
                        </a:rPr>
                        <a:t>Balanced Logistic Regression</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7F5EC"/>
                    </a:solidFill>
                  </a:tcPr>
                </a:tc>
                <a:tc>
                  <a:txBody>
                    <a:bodyPr/>
                    <a:lstStyle/>
                    <a:p>
                      <a:pPr indent="0" marL="0">
                        <a:buNone/>
                      </a:pPr>
                      <a:r>
                        <a:rPr lang="en-US" sz="980" b="1" dirty="0">
                          <a:solidFill>
                            <a:srgbClr val="000000"/>
                          </a:solidFill>
                          <a:latin typeface="Calibri" pitchFamily="34" charset="0"/>
                          <a:ea typeface="Calibri" pitchFamily="34" charset="-122"/>
                          <a:cs typeface="Calibri" pitchFamily="34" charset="-120"/>
                        </a:rPr>
                        <a:t>69.7%</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7F5EC"/>
                    </a:solidFill>
                  </a:tcPr>
                </a:tc>
                <a:tc>
                  <a:txBody>
                    <a:bodyPr/>
                    <a:lstStyle/>
                    <a:p>
                      <a:pPr indent="0" marL="0">
                        <a:buNone/>
                      </a:pPr>
                      <a:r>
                        <a:rPr lang="en-US" sz="980" b="1" dirty="0">
                          <a:solidFill>
                            <a:srgbClr val="000000"/>
                          </a:solidFill>
                          <a:latin typeface="Calibri" pitchFamily="34" charset="0"/>
                          <a:ea typeface="Calibri" pitchFamily="34" charset="-122"/>
                          <a:cs typeface="Calibri" pitchFamily="34" charset="-120"/>
                        </a:rPr>
                        <a:t>0.762</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7F5EC"/>
                    </a:solidFill>
                  </a:tcPr>
                </a:tc>
                <a:tc>
                  <a:txBody>
                    <a:bodyPr/>
                    <a:lstStyle/>
                    <a:p>
                      <a:pPr indent="0" marL="0">
                        <a:buNone/>
                      </a:pPr>
                      <a:r>
                        <a:rPr lang="en-US" sz="980" b="1" dirty="0">
                          <a:solidFill>
                            <a:srgbClr val="000000"/>
                          </a:solidFill>
                          <a:latin typeface="Calibri" pitchFamily="34" charset="0"/>
                          <a:ea typeface="Calibri" pitchFamily="34" charset="-122"/>
                          <a:cs typeface="Calibri" pitchFamily="34" charset="-120"/>
                        </a:rPr>
                        <a:t>25 / 36</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7F5EC"/>
                    </a:solidFill>
                  </a:tcPr>
                </a:tc>
                <a:tc>
                  <a:txBody>
                    <a:bodyPr/>
                    <a:lstStyle/>
                    <a:p>
                      <a:pPr indent="0" marL="0">
                        <a:buNone/>
                      </a:pPr>
                      <a:r>
                        <a:rPr lang="en-US" sz="980" b="1" dirty="0">
                          <a:solidFill>
                            <a:srgbClr val="2E8B57"/>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E7F5EC"/>
                    </a:solidFill>
                  </a:tcPr>
                </a:tc>
              </a:tr>
              <a:tr h="304800">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Standard Random Forest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98.2%</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0.681</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0 / 36</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4800">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Balanced Random Forest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98.2%</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0.689</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0 / 36</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80" dirty="0">
                          <a:solidFill>
                            <a:srgbClr val="000000"/>
                          </a:solidFill>
                          <a:latin typeface="Calibri" pitchFamily="34" charset="0"/>
                          <a:ea typeface="Calibri" pitchFamily="34" charset="-122"/>
                          <a:cs typeface="Calibri" pitchFamily="34" charset="-120"/>
                        </a:rPr>
                        <a:t>✘</a:t>
                      </a:r>
                      <a:endParaRPr lang="en-US" sz="98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pic>
        <p:nvPicPr>
          <p:cNvPr id="5" name="Image 0" descr="/home/claude/docx_media/image9.png">    </p:cNvPr>
          <p:cNvPicPr>
            <a:picLocks noChangeAspect="1"/>
          </p:cNvPicPr>
          <p:nvPr/>
        </p:nvPicPr>
        <p:blipFill>
          <a:blip r:embed="rId1"/>
          <a:srcRect l="0" r="0" t="0" b="0"/>
          <a:stretch/>
        </p:blipFill>
        <p:spPr>
          <a:xfrm>
            <a:off x="548640" y="3383280"/>
            <a:ext cx="7498080" cy="2788920"/>
          </a:xfrm>
          <a:prstGeom prst="rect">
            <a:avLst/>
          </a:prstGeom>
        </p:spPr>
      </p:pic>
      <p:sp>
        <p:nvSpPr>
          <p:cNvPr id="6" name="Shape 2"/>
          <p:cNvSpPr/>
          <p:nvPr/>
        </p:nvSpPr>
        <p:spPr>
          <a:xfrm>
            <a:off x="8321040" y="1371600"/>
            <a:ext cx="3337560" cy="4800600"/>
          </a:xfrm>
          <a:prstGeom prst="roundRect">
            <a:avLst>
              <a:gd name="adj" fmla="val 2192"/>
            </a:avLst>
          </a:prstGeom>
          <a:solidFill>
            <a:srgbClr val="142850"/>
          </a:solidFill>
          <a:ln/>
          <a:effectLst>
            <a:outerShdw sx="100000" sy="100000" kx="0" ky="0" algn="bl" rotWithShape="0" blurRad="76200" dist="25400" dir="2700000">
              <a:srgbClr val="000000">
                <a:alpha val="20000"/>
              </a:srgbClr>
            </a:outerShdw>
          </a:effectLst>
        </p:spPr>
      </p:sp>
      <p:pic>
        <p:nvPicPr>
          <p:cNvPr id="7" name="Image 1" descr="preencoded.png">    </p:cNvPr>
          <p:cNvPicPr>
            <a:picLocks noChangeAspect="1"/>
          </p:cNvPicPr>
          <p:nvPr/>
        </p:nvPicPr>
        <p:blipFill>
          <a:blip r:embed="rId2"/>
          <a:stretch>
            <a:fillRect/>
          </a:stretch>
        </p:blipFill>
        <p:spPr>
          <a:xfrm>
            <a:off x="9669780" y="1600200"/>
            <a:ext cx="640080" cy="640080"/>
          </a:xfrm>
          <a:prstGeom prst="rect">
            <a:avLst/>
          </a:prstGeom>
        </p:spPr>
      </p:pic>
      <p:sp>
        <p:nvSpPr>
          <p:cNvPr id="8" name="Text 3"/>
          <p:cNvSpPr/>
          <p:nvPr/>
        </p:nvSpPr>
        <p:spPr>
          <a:xfrm>
            <a:off x="8503920" y="2331720"/>
            <a:ext cx="2971800" cy="274320"/>
          </a:xfrm>
          <a:prstGeom prst="rect">
            <a:avLst/>
          </a:prstGeom>
          <a:noFill/>
          <a:ln/>
        </p:spPr>
        <p:txBody>
          <a:bodyPr wrap="square" rtlCol="0" anchor="ctr"/>
          <a:lstStyle/>
          <a:p>
            <a:pPr algn="ctr" indent="0" marL="0">
              <a:buNone/>
            </a:pPr>
            <a:r>
              <a:rPr lang="en-US" sz="1200" b="1" spc="100" kern="0" dirty="0">
                <a:solidFill>
                  <a:srgbClr val="E08A2C"/>
                </a:solidFill>
                <a:latin typeface="Calibri" pitchFamily="34" charset="0"/>
                <a:ea typeface="Calibri" pitchFamily="34" charset="-122"/>
                <a:cs typeface="Calibri" pitchFamily="34" charset="-120"/>
              </a:rPr>
              <a:t>FINAL MODEL</a:t>
            </a:r>
            <a:endParaRPr lang="en-US" sz="1200" dirty="0"/>
          </a:p>
        </p:txBody>
      </p:sp>
      <p:sp>
        <p:nvSpPr>
          <p:cNvPr id="9" name="Text 4"/>
          <p:cNvSpPr/>
          <p:nvPr/>
        </p:nvSpPr>
        <p:spPr>
          <a:xfrm>
            <a:off x="8503920" y="2606040"/>
            <a:ext cx="2971800" cy="64008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Balanced Logistic Regression</a:t>
            </a:r>
            <a:endParaRPr lang="en-US" sz="1600" dirty="0"/>
          </a:p>
        </p:txBody>
      </p:sp>
      <p:sp>
        <p:nvSpPr>
          <p:cNvPr id="10" name="Text 5"/>
          <p:cNvSpPr/>
          <p:nvPr/>
        </p:nvSpPr>
        <p:spPr>
          <a:xfrm>
            <a:off x="8595360" y="3429000"/>
            <a:ext cx="2743200" cy="1645920"/>
          </a:xfrm>
          <a:prstGeom prst="rect">
            <a:avLst/>
          </a:prstGeom>
          <a:noFill/>
          <a:ln/>
        </p:spPr>
        <p:txBody>
          <a:bodyPr wrap="square" rtlCol="0" anchor="t"/>
          <a:lstStyle/>
          <a:p>
            <a:pPr marL="342900" indent="-342900">
              <a:spcAft>
                <a:spcPts val="1000"/>
              </a:spcAft>
              <a:buSzPct val="100000"/>
              <a:buChar char="•"/>
            </a:pPr>
            <a:r>
              <a:rPr lang="en-US" sz="1100" dirty="0">
                <a:solidFill>
                  <a:srgbClr val="D7E6F5"/>
                </a:solidFill>
                <a:latin typeface="Calibri" pitchFamily="34" charset="0"/>
                <a:ea typeface="Calibri" pitchFamily="34" charset="-122"/>
                <a:cs typeface="Calibri" pitchFamily="34" charset="-120"/>
              </a:rPr>
              <a:t>Highest ROC-AUC</a:t>
            </a:r>
            <a:endParaRPr lang="en-US" sz="1100" dirty="0"/>
          </a:p>
          <a:p>
            <a:pPr marL="342900" indent="-342900">
              <a:spcAft>
                <a:spcPts val="1000"/>
              </a:spcAft>
              <a:buSzPct val="100000"/>
              <a:buChar char="•"/>
            </a:pPr>
            <a:r>
              <a:rPr lang="en-US" sz="1100" dirty="0">
                <a:solidFill>
                  <a:srgbClr val="D7E6F5"/>
                </a:solidFill>
                <a:latin typeface="Calibri" pitchFamily="34" charset="0"/>
                <a:ea typeface="Calibri" pitchFamily="34" charset="-122"/>
                <a:cs typeface="Calibri" pitchFamily="34" charset="-120"/>
              </a:rPr>
              <a:t>Detected 25 Defaults</a:t>
            </a:r>
            <a:endParaRPr lang="en-US" sz="1100" dirty="0"/>
          </a:p>
          <a:p>
            <a:pPr marL="342900" indent="-342900">
              <a:spcAft>
                <a:spcPts val="1000"/>
              </a:spcAft>
              <a:buSzPct val="100000"/>
              <a:buChar char="•"/>
            </a:pPr>
            <a:r>
              <a:rPr lang="en-US" sz="1100" dirty="0">
                <a:solidFill>
                  <a:srgbClr val="D7E6F5"/>
                </a:solidFill>
                <a:latin typeface="Calibri" pitchFamily="34" charset="0"/>
                <a:ea typeface="Calibri" pitchFamily="34" charset="-122"/>
                <a:cs typeface="Calibri" pitchFamily="34" charset="-120"/>
              </a:rPr>
              <a:t>Most Practical</a:t>
            </a:r>
            <a:endParaRPr lang="en-US" sz="1100" dirty="0"/>
          </a:p>
          <a:p>
            <a:pPr marL="342900" indent="-342900">
              <a:spcAft>
                <a:spcPts val="1000"/>
              </a:spcAft>
              <a:buSzPct val="100000"/>
              <a:buChar char="•"/>
            </a:pPr>
            <a:r>
              <a:rPr lang="en-US" sz="1100" dirty="0">
                <a:solidFill>
                  <a:srgbClr val="D7E6F5"/>
                </a:solidFill>
                <a:latin typeface="Calibri" pitchFamily="34" charset="0"/>
                <a:ea typeface="Calibri" pitchFamily="34" charset="-122"/>
                <a:cs typeface="Calibri" pitchFamily="34" charset="-120"/>
              </a:rPr>
              <a:t>Best Business Value</a:t>
            </a:r>
            <a:endParaRPr lang="en-US" sz="1100" dirty="0"/>
          </a:p>
        </p:txBody>
      </p:sp>
      <p:sp>
        <p:nvSpPr>
          <p:cNvPr id="11" name="Text 6"/>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BUSINESS INTELLIGENCE</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Interactive Power BI Dashboard</a:t>
            </a:r>
            <a:endParaRPr lang="en-US" sz="3200" dirty="0"/>
          </a:p>
        </p:txBody>
      </p:sp>
      <p:sp>
        <p:nvSpPr>
          <p:cNvPr id="4" name="Text 2"/>
          <p:cNvSpPr/>
          <p:nvPr/>
        </p:nvSpPr>
        <p:spPr>
          <a:xfrm>
            <a:off x="548640" y="1325880"/>
            <a:ext cx="5303520" cy="274320"/>
          </a:xfrm>
          <a:prstGeom prst="rect">
            <a:avLst/>
          </a:prstGeom>
          <a:noFill/>
          <a:ln/>
        </p:spPr>
        <p:txBody>
          <a:bodyPr wrap="square" rtlCol="0" anchor="ctr"/>
          <a:lstStyle/>
          <a:p>
            <a:pPr indent="0" marL="0">
              <a:buNone/>
            </a:pPr>
            <a:r>
              <a:rPr lang="en-US" sz="1300" b="1" dirty="0">
                <a:solidFill>
                  <a:srgbClr val="142850"/>
                </a:solidFill>
                <a:latin typeface="Cambria" pitchFamily="34" charset="0"/>
                <a:ea typeface="Cambria" pitchFamily="34" charset="-122"/>
                <a:cs typeface="Cambria" pitchFamily="34" charset="-120"/>
              </a:rPr>
              <a:t>Objective</a:t>
            </a:r>
            <a:endParaRPr lang="en-US" sz="1300" dirty="0"/>
          </a:p>
        </p:txBody>
      </p:sp>
      <p:sp>
        <p:nvSpPr>
          <p:cNvPr id="5" name="Text 3"/>
          <p:cNvSpPr/>
          <p:nvPr/>
        </p:nvSpPr>
        <p:spPr>
          <a:xfrm>
            <a:off x="548640" y="1627632"/>
            <a:ext cx="5303520" cy="86868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An interactive BI dashboard enabling stakeholders to monitor portfolio performance, identify credit risk patterns, and support data-driven lending decisions across six report pages.</a:t>
            </a:r>
            <a:endParaRPr lang="en-US" sz="1100" dirty="0"/>
          </a:p>
        </p:txBody>
      </p:sp>
      <p:sp>
        <p:nvSpPr>
          <p:cNvPr id="6" name="Text 4"/>
          <p:cNvSpPr/>
          <p:nvPr/>
        </p:nvSpPr>
        <p:spPr>
          <a:xfrm>
            <a:off x="548640" y="2606040"/>
            <a:ext cx="5303520" cy="274320"/>
          </a:xfrm>
          <a:prstGeom prst="rect">
            <a:avLst/>
          </a:prstGeom>
          <a:noFill/>
          <a:ln/>
        </p:spPr>
        <p:txBody>
          <a:bodyPr wrap="square" rtlCol="0" anchor="ctr"/>
          <a:lstStyle/>
          <a:p>
            <a:pPr indent="0" marL="0">
              <a:buNone/>
            </a:pPr>
            <a:r>
              <a:rPr lang="en-US" sz="1250" b="1" dirty="0">
                <a:solidFill>
                  <a:srgbClr val="142850"/>
                </a:solidFill>
                <a:latin typeface="Cambria" pitchFamily="34" charset="0"/>
                <a:ea typeface="Cambria" pitchFamily="34" charset="-122"/>
                <a:cs typeface="Cambria" pitchFamily="34" charset="-120"/>
              </a:rPr>
              <a:t>Dashboard Features</a:t>
            </a:r>
            <a:endParaRPr lang="en-US" sz="1250" dirty="0"/>
          </a:p>
        </p:txBody>
      </p:sp>
      <p:sp>
        <p:nvSpPr>
          <p:cNvPr id="7" name="Text 5"/>
          <p:cNvSpPr/>
          <p:nvPr/>
        </p:nvSpPr>
        <p:spPr>
          <a:xfrm>
            <a:off x="548640" y="2926080"/>
            <a:ext cx="5303520" cy="201168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Interactive filters and slicers</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Dynamic KPI cards</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Drill-down analysis</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Cross-filtering between visuals</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Executive-level reporting</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Machine learning integration</a:t>
            </a:r>
            <a:endParaRPr lang="en-US" sz="1100" dirty="0"/>
          </a:p>
        </p:txBody>
      </p:sp>
      <p:sp>
        <p:nvSpPr>
          <p:cNvPr id="8" name="Shape 6"/>
          <p:cNvSpPr/>
          <p:nvPr/>
        </p:nvSpPr>
        <p:spPr>
          <a:xfrm>
            <a:off x="6080760" y="1325880"/>
            <a:ext cx="1691640" cy="960120"/>
          </a:xfrm>
          <a:prstGeom prst="roundRect">
            <a:avLst>
              <a:gd name="adj" fmla="val 6667"/>
            </a:avLst>
          </a:prstGeom>
          <a:solidFill>
            <a:srgbClr val="FFFFFF"/>
          </a:solidFill>
          <a:ln/>
          <a:effectLst>
            <a:outerShdw sx="100000" sy="100000" kx="0" ky="0" algn="bl" rotWithShape="0" blurRad="76200" dist="25400" dir="2700000">
              <a:srgbClr val="000000">
                <a:alpha val="10000"/>
              </a:srgbClr>
            </a:outerShdw>
          </a:effectLst>
        </p:spPr>
      </p:sp>
      <p:pic>
        <p:nvPicPr>
          <p:cNvPr id="9" name="Image 0" descr="/home/claude/docx_media/image10.png">    </p:cNvPr>
          <p:cNvPicPr>
            <a:picLocks noChangeAspect="1"/>
          </p:cNvPicPr>
          <p:nvPr/>
        </p:nvPicPr>
        <p:blipFill>
          <a:blip r:embed="rId1"/>
          <a:srcRect l="0" r="0" t="0" b="0"/>
          <a:stretch/>
        </p:blipFill>
        <p:spPr>
          <a:xfrm>
            <a:off x="6153912" y="1399032"/>
            <a:ext cx="1545336" cy="813816"/>
          </a:xfrm>
          <a:prstGeom prst="rect">
            <a:avLst/>
          </a:prstGeom>
        </p:spPr>
      </p:pic>
      <p:sp>
        <p:nvSpPr>
          <p:cNvPr id="10" name="Text 7"/>
          <p:cNvSpPr/>
          <p:nvPr/>
        </p:nvSpPr>
        <p:spPr>
          <a:xfrm>
            <a:off x="6080760" y="2304288"/>
            <a:ext cx="1691640" cy="274320"/>
          </a:xfrm>
          <a:prstGeom prst="rect">
            <a:avLst/>
          </a:prstGeom>
          <a:noFill/>
          <a:ln/>
        </p:spPr>
        <p:txBody>
          <a:bodyPr wrap="square" rtlCol="0" anchor="ctr"/>
          <a:lstStyle/>
          <a:p>
            <a:pPr algn="ctr" indent="0" marL="0">
              <a:buNone/>
            </a:pPr>
            <a:r>
              <a:rPr lang="en-US" sz="850" b="1" dirty="0">
                <a:solidFill>
                  <a:srgbClr val="142850"/>
                </a:solidFill>
                <a:latin typeface="Calibri" pitchFamily="34" charset="0"/>
                <a:ea typeface="Calibri" pitchFamily="34" charset="-122"/>
                <a:cs typeface="Calibri" pitchFamily="34" charset="-120"/>
              </a:rPr>
              <a:t>Executive Summary</a:t>
            </a:r>
            <a:endParaRPr lang="en-US" sz="850" dirty="0"/>
          </a:p>
        </p:txBody>
      </p:sp>
      <p:sp>
        <p:nvSpPr>
          <p:cNvPr id="11" name="Shape 8"/>
          <p:cNvSpPr/>
          <p:nvPr/>
        </p:nvSpPr>
        <p:spPr>
          <a:xfrm>
            <a:off x="7909560" y="1325880"/>
            <a:ext cx="1691640" cy="960120"/>
          </a:xfrm>
          <a:prstGeom prst="roundRect">
            <a:avLst>
              <a:gd name="adj" fmla="val 6667"/>
            </a:avLst>
          </a:prstGeom>
          <a:solidFill>
            <a:srgbClr val="FFFFFF"/>
          </a:solidFill>
          <a:ln/>
          <a:effectLst>
            <a:outerShdw sx="100000" sy="100000" kx="0" ky="0" algn="bl" rotWithShape="0" blurRad="76200" dist="25400" dir="2700000">
              <a:srgbClr val="000000">
                <a:alpha val="10000"/>
              </a:srgbClr>
            </a:outerShdw>
          </a:effectLst>
        </p:spPr>
      </p:sp>
      <p:pic>
        <p:nvPicPr>
          <p:cNvPr id="12" name="Image 1" descr="/home/claude/docx_media/image11.png">    </p:cNvPr>
          <p:cNvPicPr>
            <a:picLocks noChangeAspect="1"/>
          </p:cNvPicPr>
          <p:nvPr/>
        </p:nvPicPr>
        <p:blipFill>
          <a:blip r:embed="rId2"/>
          <a:srcRect l="0" r="0" t="0" b="0"/>
          <a:stretch/>
        </p:blipFill>
        <p:spPr>
          <a:xfrm>
            <a:off x="7982712" y="1399032"/>
            <a:ext cx="1545336" cy="813816"/>
          </a:xfrm>
          <a:prstGeom prst="rect">
            <a:avLst/>
          </a:prstGeom>
        </p:spPr>
      </p:pic>
      <p:sp>
        <p:nvSpPr>
          <p:cNvPr id="13" name="Text 9"/>
          <p:cNvSpPr/>
          <p:nvPr/>
        </p:nvSpPr>
        <p:spPr>
          <a:xfrm>
            <a:off x="7909560" y="2304288"/>
            <a:ext cx="1691640" cy="274320"/>
          </a:xfrm>
          <a:prstGeom prst="rect">
            <a:avLst/>
          </a:prstGeom>
          <a:noFill/>
          <a:ln/>
        </p:spPr>
        <p:txBody>
          <a:bodyPr wrap="square" rtlCol="0" anchor="ctr"/>
          <a:lstStyle/>
          <a:p>
            <a:pPr algn="ctr" indent="0" marL="0">
              <a:buNone/>
            </a:pPr>
            <a:r>
              <a:rPr lang="en-US" sz="850" b="1" dirty="0">
                <a:solidFill>
                  <a:srgbClr val="142850"/>
                </a:solidFill>
                <a:latin typeface="Calibri" pitchFamily="34" charset="0"/>
                <a:ea typeface="Calibri" pitchFamily="34" charset="-122"/>
                <a:cs typeface="Calibri" pitchFamily="34" charset="-120"/>
              </a:rPr>
              <a:t>Portfolio Overview</a:t>
            </a:r>
            <a:endParaRPr lang="en-US" sz="850" dirty="0"/>
          </a:p>
        </p:txBody>
      </p:sp>
      <p:sp>
        <p:nvSpPr>
          <p:cNvPr id="14" name="Shape 10"/>
          <p:cNvSpPr/>
          <p:nvPr/>
        </p:nvSpPr>
        <p:spPr>
          <a:xfrm>
            <a:off x="9738360" y="1325880"/>
            <a:ext cx="1691640" cy="960120"/>
          </a:xfrm>
          <a:prstGeom prst="roundRect">
            <a:avLst>
              <a:gd name="adj" fmla="val 6667"/>
            </a:avLst>
          </a:prstGeom>
          <a:solidFill>
            <a:srgbClr val="FFFFFF"/>
          </a:solidFill>
          <a:ln/>
          <a:effectLst>
            <a:outerShdw sx="100000" sy="100000" kx="0" ky="0" algn="bl" rotWithShape="0" blurRad="76200" dist="25400" dir="2700000">
              <a:srgbClr val="000000">
                <a:alpha val="10000"/>
              </a:srgbClr>
            </a:outerShdw>
          </a:effectLst>
        </p:spPr>
      </p:sp>
      <p:pic>
        <p:nvPicPr>
          <p:cNvPr id="15" name="Image 2" descr="/home/claude/docx_media/image12.png">    </p:cNvPr>
          <p:cNvPicPr>
            <a:picLocks noChangeAspect="1"/>
          </p:cNvPicPr>
          <p:nvPr/>
        </p:nvPicPr>
        <p:blipFill>
          <a:blip r:embed="rId3"/>
          <a:srcRect l="0" r="0" t="0" b="0"/>
          <a:stretch/>
        </p:blipFill>
        <p:spPr>
          <a:xfrm>
            <a:off x="9811512" y="1399032"/>
            <a:ext cx="1545336" cy="813816"/>
          </a:xfrm>
          <a:prstGeom prst="rect">
            <a:avLst/>
          </a:prstGeom>
        </p:spPr>
      </p:pic>
      <p:sp>
        <p:nvSpPr>
          <p:cNvPr id="16" name="Text 11"/>
          <p:cNvSpPr/>
          <p:nvPr/>
        </p:nvSpPr>
        <p:spPr>
          <a:xfrm>
            <a:off x="9738360" y="2304288"/>
            <a:ext cx="1691640" cy="274320"/>
          </a:xfrm>
          <a:prstGeom prst="rect">
            <a:avLst/>
          </a:prstGeom>
          <a:noFill/>
          <a:ln/>
        </p:spPr>
        <p:txBody>
          <a:bodyPr wrap="square" rtlCol="0" anchor="ctr"/>
          <a:lstStyle/>
          <a:p>
            <a:pPr algn="ctr" indent="0" marL="0">
              <a:buNone/>
            </a:pPr>
            <a:r>
              <a:rPr lang="en-US" sz="850" b="1" dirty="0">
                <a:solidFill>
                  <a:srgbClr val="142850"/>
                </a:solidFill>
                <a:latin typeface="Calibri" pitchFamily="34" charset="0"/>
                <a:ea typeface="Calibri" pitchFamily="34" charset="-122"/>
                <a:cs typeface="Calibri" pitchFamily="34" charset="-120"/>
              </a:rPr>
              <a:t>Borrower Analysis</a:t>
            </a:r>
            <a:endParaRPr lang="en-US" sz="850" dirty="0"/>
          </a:p>
        </p:txBody>
      </p:sp>
      <p:sp>
        <p:nvSpPr>
          <p:cNvPr id="17" name="Shape 12"/>
          <p:cNvSpPr/>
          <p:nvPr/>
        </p:nvSpPr>
        <p:spPr>
          <a:xfrm>
            <a:off x="6080760" y="2697480"/>
            <a:ext cx="1691640" cy="960120"/>
          </a:xfrm>
          <a:prstGeom prst="roundRect">
            <a:avLst>
              <a:gd name="adj" fmla="val 6667"/>
            </a:avLst>
          </a:prstGeom>
          <a:solidFill>
            <a:srgbClr val="FFFFFF"/>
          </a:solidFill>
          <a:ln/>
          <a:effectLst>
            <a:outerShdw sx="100000" sy="100000" kx="0" ky="0" algn="bl" rotWithShape="0" blurRad="76200" dist="25400" dir="2700000">
              <a:srgbClr val="000000">
                <a:alpha val="10000"/>
              </a:srgbClr>
            </a:outerShdw>
          </a:effectLst>
        </p:spPr>
      </p:sp>
      <p:pic>
        <p:nvPicPr>
          <p:cNvPr id="18" name="Image 3" descr="/home/claude/docx_media/image13.png">    </p:cNvPr>
          <p:cNvPicPr>
            <a:picLocks noChangeAspect="1"/>
          </p:cNvPicPr>
          <p:nvPr/>
        </p:nvPicPr>
        <p:blipFill>
          <a:blip r:embed="rId4"/>
          <a:srcRect l="0" r="0" t="0" b="0"/>
          <a:stretch/>
        </p:blipFill>
        <p:spPr>
          <a:xfrm>
            <a:off x="6153912" y="2770632"/>
            <a:ext cx="1545336" cy="813816"/>
          </a:xfrm>
          <a:prstGeom prst="rect">
            <a:avLst/>
          </a:prstGeom>
        </p:spPr>
      </p:pic>
      <p:sp>
        <p:nvSpPr>
          <p:cNvPr id="19" name="Text 13"/>
          <p:cNvSpPr/>
          <p:nvPr/>
        </p:nvSpPr>
        <p:spPr>
          <a:xfrm>
            <a:off x="6080760" y="3675888"/>
            <a:ext cx="1691640" cy="274320"/>
          </a:xfrm>
          <a:prstGeom prst="rect">
            <a:avLst/>
          </a:prstGeom>
          <a:noFill/>
          <a:ln/>
        </p:spPr>
        <p:txBody>
          <a:bodyPr wrap="square" rtlCol="0" anchor="ctr"/>
          <a:lstStyle/>
          <a:p>
            <a:pPr algn="ctr" indent="0" marL="0">
              <a:buNone/>
            </a:pPr>
            <a:r>
              <a:rPr lang="en-US" sz="850" b="1" dirty="0">
                <a:solidFill>
                  <a:srgbClr val="142850"/>
                </a:solidFill>
                <a:latin typeface="Calibri" pitchFamily="34" charset="0"/>
                <a:ea typeface="Calibri" pitchFamily="34" charset="-122"/>
                <a:cs typeface="Calibri" pitchFamily="34" charset="-120"/>
              </a:rPr>
              <a:t>Credit Risk</a:t>
            </a:r>
            <a:endParaRPr lang="en-US" sz="850" dirty="0"/>
          </a:p>
        </p:txBody>
      </p:sp>
      <p:sp>
        <p:nvSpPr>
          <p:cNvPr id="20" name="Shape 14"/>
          <p:cNvSpPr/>
          <p:nvPr/>
        </p:nvSpPr>
        <p:spPr>
          <a:xfrm>
            <a:off x="7909560" y="2697480"/>
            <a:ext cx="1691640" cy="960120"/>
          </a:xfrm>
          <a:prstGeom prst="roundRect">
            <a:avLst>
              <a:gd name="adj" fmla="val 6667"/>
            </a:avLst>
          </a:prstGeom>
          <a:solidFill>
            <a:srgbClr val="FFFFFF"/>
          </a:solidFill>
          <a:ln/>
          <a:effectLst>
            <a:outerShdw sx="100000" sy="100000" kx="0" ky="0" algn="bl" rotWithShape="0" blurRad="76200" dist="25400" dir="2700000">
              <a:srgbClr val="000000">
                <a:alpha val="10000"/>
              </a:srgbClr>
            </a:outerShdw>
          </a:effectLst>
        </p:spPr>
      </p:sp>
      <p:pic>
        <p:nvPicPr>
          <p:cNvPr id="21" name="Image 4" descr="/home/claude/docx_media/image14.png">    </p:cNvPr>
          <p:cNvPicPr>
            <a:picLocks noChangeAspect="1"/>
          </p:cNvPicPr>
          <p:nvPr/>
        </p:nvPicPr>
        <p:blipFill>
          <a:blip r:embed="rId5"/>
          <a:srcRect l="0" r="0" t="0" b="0"/>
          <a:stretch/>
        </p:blipFill>
        <p:spPr>
          <a:xfrm>
            <a:off x="7982712" y="2770632"/>
            <a:ext cx="1545336" cy="813816"/>
          </a:xfrm>
          <a:prstGeom prst="rect">
            <a:avLst/>
          </a:prstGeom>
        </p:spPr>
      </p:pic>
      <p:sp>
        <p:nvSpPr>
          <p:cNvPr id="22" name="Text 15"/>
          <p:cNvSpPr/>
          <p:nvPr/>
        </p:nvSpPr>
        <p:spPr>
          <a:xfrm>
            <a:off x="7909560" y="3675888"/>
            <a:ext cx="1691640" cy="274320"/>
          </a:xfrm>
          <a:prstGeom prst="rect">
            <a:avLst/>
          </a:prstGeom>
          <a:noFill/>
          <a:ln/>
        </p:spPr>
        <p:txBody>
          <a:bodyPr wrap="square" rtlCol="0" anchor="ctr"/>
          <a:lstStyle/>
          <a:p>
            <a:pPr algn="ctr" indent="0" marL="0">
              <a:buNone/>
            </a:pPr>
            <a:r>
              <a:rPr lang="en-US" sz="850" b="1" dirty="0">
                <a:solidFill>
                  <a:srgbClr val="142850"/>
                </a:solidFill>
                <a:latin typeface="Calibri" pitchFamily="34" charset="0"/>
                <a:ea typeface="Calibri" pitchFamily="34" charset="-122"/>
                <a:cs typeface="Calibri" pitchFamily="34" charset="-120"/>
              </a:rPr>
              <a:t>Portfolio Risk</a:t>
            </a:r>
            <a:endParaRPr lang="en-US" sz="850" dirty="0"/>
          </a:p>
        </p:txBody>
      </p:sp>
      <p:sp>
        <p:nvSpPr>
          <p:cNvPr id="23" name="Shape 16"/>
          <p:cNvSpPr/>
          <p:nvPr/>
        </p:nvSpPr>
        <p:spPr>
          <a:xfrm>
            <a:off x="9738360" y="2697480"/>
            <a:ext cx="1691640" cy="960120"/>
          </a:xfrm>
          <a:prstGeom prst="roundRect">
            <a:avLst>
              <a:gd name="adj" fmla="val 6667"/>
            </a:avLst>
          </a:prstGeom>
          <a:solidFill>
            <a:srgbClr val="FFFFFF"/>
          </a:solidFill>
          <a:ln/>
          <a:effectLst>
            <a:outerShdw sx="100000" sy="100000" kx="0" ky="0" algn="bl" rotWithShape="0" blurRad="76200" dist="25400" dir="2700000">
              <a:srgbClr val="000000">
                <a:alpha val="10000"/>
              </a:srgbClr>
            </a:outerShdw>
          </a:effectLst>
        </p:spPr>
      </p:sp>
      <p:pic>
        <p:nvPicPr>
          <p:cNvPr id="24" name="Image 5" descr="/home/claude/docx_media/image15.png">    </p:cNvPr>
          <p:cNvPicPr>
            <a:picLocks noChangeAspect="1"/>
          </p:cNvPicPr>
          <p:nvPr/>
        </p:nvPicPr>
        <p:blipFill>
          <a:blip r:embed="rId6"/>
          <a:srcRect l="0" r="0" t="0" b="0"/>
          <a:stretch/>
        </p:blipFill>
        <p:spPr>
          <a:xfrm>
            <a:off x="9811512" y="2770632"/>
            <a:ext cx="1545336" cy="813816"/>
          </a:xfrm>
          <a:prstGeom prst="rect">
            <a:avLst/>
          </a:prstGeom>
        </p:spPr>
      </p:pic>
      <p:sp>
        <p:nvSpPr>
          <p:cNvPr id="25" name="Text 17"/>
          <p:cNvSpPr/>
          <p:nvPr/>
        </p:nvSpPr>
        <p:spPr>
          <a:xfrm>
            <a:off x="9738360" y="3675888"/>
            <a:ext cx="1691640" cy="274320"/>
          </a:xfrm>
          <a:prstGeom prst="rect">
            <a:avLst/>
          </a:prstGeom>
          <a:noFill/>
          <a:ln/>
        </p:spPr>
        <p:txBody>
          <a:bodyPr wrap="square" rtlCol="0" anchor="ctr"/>
          <a:lstStyle/>
          <a:p>
            <a:pPr algn="ctr" indent="0" marL="0">
              <a:buNone/>
            </a:pPr>
            <a:r>
              <a:rPr lang="en-US" sz="850" b="1" dirty="0">
                <a:solidFill>
                  <a:srgbClr val="142850"/>
                </a:solidFill>
                <a:latin typeface="Calibri" pitchFamily="34" charset="0"/>
                <a:ea typeface="Calibri" pitchFamily="34" charset="-122"/>
                <a:cs typeface="Calibri" pitchFamily="34" charset="-120"/>
              </a:rPr>
              <a:t>Machine Learning</a:t>
            </a:r>
            <a:endParaRPr lang="en-US" sz="850" dirty="0"/>
          </a:p>
        </p:txBody>
      </p:sp>
      <p:sp>
        <p:nvSpPr>
          <p:cNvPr id="26" name="Shape 18"/>
          <p:cNvSpPr/>
          <p:nvPr/>
        </p:nvSpPr>
        <p:spPr>
          <a:xfrm>
            <a:off x="548640" y="5166360"/>
            <a:ext cx="11064240" cy="777240"/>
          </a:xfrm>
          <a:prstGeom prst="roundRect">
            <a:avLst>
              <a:gd name="adj" fmla="val 7059"/>
            </a:avLst>
          </a:prstGeom>
          <a:solidFill>
            <a:srgbClr val="142850"/>
          </a:solidFill>
          <a:ln/>
          <a:effectLst>
            <a:outerShdw sx="100000" sy="100000" kx="0" ky="0" algn="bl" rotWithShape="0" blurRad="76200" dist="25400" dir="2700000">
              <a:srgbClr val="000000">
                <a:alpha val="15000"/>
              </a:srgbClr>
            </a:outerShdw>
          </a:effectLst>
        </p:spPr>
      </p:sp>
      <p:sp>
        <p:nvSpPr>
          <p:cNvPr id="27" name="Text 19"/>
          <p:cNvSpPr/>
          <p:nvPr/>
        </p:nvSpPr>
        <p:spPr>
          <a:xfrm>
            <a:off x="777240" y="5257800"/>
            <a:ext cx="10607040" cy="59436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The Power BI dashboard transforms complex analytical results into intuitive, interactive visualizations that support faster and more informed lending decisions.</a:t>
            </a:r>
            <a:endParaRPr lang="en-US" sz="1250" dirty="0"/>
          </a:p>
        </p:txBody>
      </p:sp>
      <p:sp>
        <p:nvSpPr>
          <p:cNvPr id="28" name="Text 20"/>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BUSINESS INTELLIGENCE</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Executive Summary Dashboard</a:t>
            </a:r>
            <a:endParaRPr lang="en-US" sz="3200" dirty="0"/>
          </a:p>
        </p:txBody>
      </p:sp>
      <p:pic>
        <p:nvPicPr>
          <p:cNvPr id="4" name="Image 0" descr="/home/claude/docx_media/image16.png">    </p:cNvPr>
          <p:cNvPicPr>
            <a:picLocks noChangeAspect="1"/>
          </p:cNvPicPr>
          <p:nvPr/>
        </p:nvPicPr>
        <p:blipFill>
          <a:blip r:embed="rId1"/>
          <a:srcRect l="0" r="0" t="0" b="0"/>
          <a:stretch/>
        </p:blipFill>
        <p:spPr>
          <a:xfrm>
            <a:off x="548640" y="1325880"/>
            <a:ext cx="7040880" cy="3931920"/>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818120" y="1325880"/>
          <a:ext cx="3794760" cy="2103120"/>
        </p:xfrm>
        <a:graphic>
          <a:graphicData uri="http://schemas.openxmlformats.org/drawingml/2006/table">
            <a:tbl>
              <a:tblPr/>
              <a:tblGrid>
                <a:gridCol w="2331720"/>
                <a:gridCol w="1463040"/>
              </a:tblGrid>
              <a:tr h="300446">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KPI</a:t>
                      </a:r>
                      <a:endParaRPr lang="en-US" sz="9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00446">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Total Loans</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10,000</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0446">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Total Portfolio Exposure</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$164 Million</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0446">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Performing Loans</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9,822 (98.22%)</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0446">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Non-Performing Loans</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178 (1.78%)</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0446">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Avg. Interest Rate</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12.43%</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00446">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Avg. Annual Income</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930" dirty="0">
                          <a:solidFill>
                            <a:srgbClr val="000000"/>
                          </a:solidFill>
                          <a:latin typeface="Calibri" pitchFamily="34" charset="0"/>
                          <a:ea typeface="Calibri" pitchFamily="34" charset="-122"/>
                          <a:cs typeface="Calibri" pitchFamily="34" charset="-120"/>
                        </a:rPr>
                        <a:t>$89,138</a:t>
                      </a:r>
                      <a:endParaRPr lang="en-US" sz="93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
        <p:nvSpPr>
          <p:cNvPr id="6" name="Text 2"/>
          <p:cNvSpPr/>
          <p:nvPr/>
        </p:nvSpPr>
        <p:spPr>
          <a:xfrm>
            <a:off x="7818120" y="3566160"/>
            <a:ext cx="3794760" cy="274320"/>
          </a:xfrm>
          <a:prstGeom prst="rect">
            <a:avLst/>
          </a:prstGeom>
          <a:noFill/>
          <a:ln/>
        </p:spPr>
        <p:txBody>
          <a:bodyPr wrap="square" rtlCol="0" anchor="ctr"/>
          <a:lstStyle/>
          <a:p>
            <a:pPr indent="0" marL="0">
              <a:buNone/>
            </a:pPr>
            <a:r>
              <a:rPr lang="en-US" sz="1200" b="1" dirty="0">
                <a:solidFill>
                  <a:srgbClr val="142850"/>
                </a:solidFill>
                <a:latin typeface="Cambria" pitchFamily="34" charset="0"/>
                <a:ea typeface="Cambria" pitchFamily="34" charset="-122"/>
                <a:cs typeface="Cambria" pitchFamily="34" charset="-120"/>
              </a:rPr>
              <a:t>Key Insights</a:t>
            </a:r>
            <a:endParaRPr lang="en-US" sz="1200" dirty="0"/>
          </a:p>
        </p:txBody>
      </p:sp>
      <p:sp>
        <p:nvSpPr>
          <p:cNvPr id="7" name="Text 3"/>
          <p:cNvSpPr/>
          <p:nvPr/>
        </p:nvSpPr>
        <p:spPr>
          <a:xfrm>
            <a:off x="7818120" y="3886200"/>
            <a:ext cx="3794760" cy="1554480"/>
          </a:xfrm>
          <a:prstGeom prst="rect">
            <a:avLst/>
          </a:prstGeom>
          <a:noFill/>
          <a:ln/>
        </p:spPr>
        <p:txBody>
          <a:bodyPr wrap="square" rtlCol="0" anchor="t"/>
          <a:lstStyle/>
          <a:p>
            <a:pPr marL="342900" indent="-342900">
              <a:spcAft>
                <a:spcPts val="600"/>
              </a:spcAft>
              <a:buSzPct val="100000"/>
              <a:buChar char="•"/>
            </a:pPr>
            <a:r>
              <a:rPr lang="en-US" sz="930" dirty="0">
                <a:solidFill>
                  <a:srgbClr val="1F2937"/>
                </a:solidFill>
                <a:latin typeface="Calibri" pitchFamily="34" charset="0"/>
                <a:ea typeface="Calibri" pitchFamily="34" charset="-122"/>
                <a:cs typeface="Calibri" pitchFamily="34" charset="-120"/>
              </a:rPr>
              <a:t>98.22% of loans performing — strong portfolio quality</a:t>
            </a:r>
            <a:endParaRPr lang="en-US" sz="930" dirty="0"/>
          </a:p>
          <a:p>
            <a:pPr marL="342900" indent="-342900">
              <a:spcAft>
                <a:spcPts val="600"/>
              </a:spcAft>
              <a:buSzPct val="100000"/>
              <a:buChar char="•"/>
            </a:pPr>
            <a:r>
              <a:rPr lang="en-US" sz="930" dirty="0">
                <a:solidFill>
                  <a:srgbClr val="1F2937"/>
                </a:solidFill>
                <a:latin typeface="Calibri" pitchFamily="34" charset="0"/>
                <a:ea typeface="Calibri" pitchFamily="34" charset="-122"/>
                <a:cs typeface="Calibri" pitchFamily="34" charset="-120"/>
              </a:rPr>
              <a:t>$164M in outstanding exposure requires ongoing monitoring</a:t>
            </a:r>
            <a:endParaRPr lang="en-US" sz="930" dirty="0"/>
          </a:p>
          <a:p>
            <a:pPr marL="342900" indent="-342900">
              <a:spcAft>
                <a:spcPts val="600"/>
              </a:spcAft>
              <a:buSzPct val="100000"/>
              <a:buChar char="•"/>
            </a:pPr>
            <a:r>
              <a:rPr lang="en-US" sz="930" dirty="0">
                <a:solidFill>
                  <a:srgbClr val="1F2937"/>
                </a:solidFill>
                <a:latin typeface="Calibri" pitchFamily="34" charset="0"/>
                <a:ea typeface="Calibri" pitchFamily="34" charset="-122"/>
                <a:cs typeface="Calibri" pitchFamily="34" charset="-120"/>
              </a:rPr>
              <a:t>12.43% average rate reflects balanced, risk-based pricing</a:t>
            </a:r>
            <a:endParaRPr lang="en-US" sz="930" dirty="0"/>
          </a:p>
          <a:p>
            <a:pPr marL="342900" indent="-342900">
              <a:spcAft>
                <a:spcPts val="600"/>
              </a:spcAft>
              <a:buSzPct val="100000"/>
              <a:buChar char="•"/>
            </a:pPr>
            <a:r>
              <a:rPr lang="en-US" sz="930" dirty="0">
                <a:solidFill>
                  <a:srgbClr val="1F2937"/>
                </a:solidFill>
                <a:latin typeface="Calibri" pitchFamily="34" charset="0"/>
                <a:ea typeface="Calibri" pitchFamily="34" charset="-122"/>
                <a:cs typeface="Calibri" pitchFamily="34" charset="-120"/>
              </a:rPr>
              <a:t>Non-performing loans remain financially significant at 1.78%</a:t>
            </a:r>
            <a:endParaRPr lang="en-US" sz="930" dirty="0"/>
          </a:p>
        </p:txBody>
      </p:sp>
      <p:sp>
        <p:nvSpPr>
          <p:cNvPr id="8" name="Shape 4"/>
          <p:cNvSpPr/>
          <p:nvPr/>
        </p:nvSpPr>
        <p:spPr>
          <a:xfrm>
            <a:off x="548640" y="5394960"/>
            <a:ext cx="11064240" cy="822960"/>
          </a:xfrm>
          <a:prstGeom prst="roundRect">
            <a:avLst>
              <a:gd name="adj" fmla="val 6667"/>
            </a:avLst>
          </a:prstGeom>
          <a:solidFill>
            <a:srgbClr val="142850"/>
          </a:solidFill>
          <a:ln/>
          <a:effectLst>
            <a:outerShdw sx="100000" sy="100000" kx="0" ky="0" algn="bl" rotWithShape="0" blurRad="76200" dist="25400" dir="2700000">
              <a:srgbClr val="000000">
                <a:alpha val="15000"/>
              </a:srgbClr>
            </a:outerShdw>
          </a:effectLst>
        </p:spPr>
      </p:sp>
      <p:sp>
        <p:nvSpPr>
          <p:cNvPr id="9" name="Text 5"/>
          <p:cNvSpPr/>
          <p:nvPr/>
        </p:nvSpPr>
        <p:spPr>
          <a:xfrm>
            <a:off x="777240" y="5486400"/>
            <a:ext cx="10607040" cy="64008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The portfolio demonstrates strong overall performance with $164 million in loan exposure and a 98.22% performing loan rate, while highlighting the need to continuously monitor non-performing loans.</a:t>
            </a:r>
            <a:endParaRPr lang="en-US" sz="1200" dirty="0"/>
          </a:p>
        </p:txBody>
      </p:sp>
      <p:sp>
        <p:nvSpPr>
          <p:cNvPr id="10" name="Text 6"/>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BUSINESS INTELLIGENCE</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Loan Portfolio Overview</a:t>
            </a:r>
            <a:endParaRPr lang="en-US" sz="3200" dirty="0"/>
          </a:p>
        </p:txBody>
      </p:sp>
      <p:pic>
        <p:nvPicPr>
          <p:cNvPr id="4" name="Image 0" descr="/home/claude/docx_media/image17.png">    </p:cNvPr>
          <p:cNvPicPr>
            <a:picLocks noChangeAspect="1"/>
          </p:cNvPicPr>
          <p:nvPr/>
        </p:nvPicPr>
        <p:blipFill>
          <a:blip r:embed="rId1"/>
          <a:srcRect l="0" r="0" t="0" b="0"/>
          <a:stretch/>
        </p:blipFill>
        <p:spPr>
          <a:xfrm>
            <a:off x="548640" y="1325880"/>
            <a:ext cx="7498080" cy="4160520"/>
          </a:xfrm>
          <a:prstGeom prst="rect">
            <a:avLst/>
          </a:prstGeom>
        </p:spPr>
      </p:pic>
      <p:sp>
        <p:nvSpPr>
          <p:cNvPr id="5" name="Text 2"/>
          <p:cNvSpPr/>
          <p:nvPr/>
        </p:nvSpPr>
        <p:spPr>
          <a:xfrm>
            <a:off x="8275320" y="1325880"/>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Current Loans</a:t>
            </a:r>
            <a:endParaRPr lang="en-US" sz="1050" dirty="0"/>
          </a:p>
        </p:txBody>
      </p:sp>
      <p:sp>
        <p:nvSpPr>
          <p:cNvPr id="6" name="Text 3"/>
          <p:cNvSpPr/>
          <p:nvPr/>
        </p:nvSpPr>
        <p:spPr>
          <a:xfrm>
            <a:off x="8275320" y="1554480"/>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93.75% of Portfolio</a:t>
            </a:r>
            <a:endParaRPr lang="en-US" sz="1000" dirty="0"/>
          </a:p>
        </p:txBody>
      </p:sp>
      <p:sp>
        <p:nvSpPr>
          <p:cNvPr id="7" name="Text 4"/>
          <p:cNvSpPr/>
          <p:nvPr/>
        </p:nvSpPr>
        <p:spPr>
          <a:xfrm>
            <a:off x="8275320" y="1947672"/>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Largest Loan Purpose</a:t>
            </a:r>
            <a:endParaRPr lang="en-US" sz="1050" dirty="0"/>
          </a:p>
        </p:txBody>
      </p:sp>
      <p:sp>
        <p:nvSpPr>
          <p:cNvPr id="8" name="Text 5"/>
          <p:cNvSpPr/>
          <p:nvPr/>
        </p:nvSpPr>
        <p:spPr>
          <a:xfrm>
            <a:off x="8275320" y="2176272"/>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Debt Consolidation ($90.8M)</a:t>
            </a:r>
            <a:endParaRPr lang="en-US" sz="1000" dirty="0"/>
          </a:p>
        </p:txBody>
      </p:sp>
      <p:sp>
        <p:nvSpPr>
          <p:cNvPr id="9" name="Text 6"/>
          <p:cNvSpPr/>
          <p:nvPr/>
        </p:nvSpPr>
        <p:spPr>
          <a:xfrm>
            <a:off x="8275320" y="2569464"/>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Highest Grade Exposure</a:t>
            </a:r>
            <a:endParaRPr lang="en-US" sz="1050" dirty="0"/>
          </a:p>
        </p:txBody>
      </p:sp>
      <p:sp>
        <p:nvSpPr>
          <p:cNvPr id="10" name="Text 7"/>
          <p:cNvSpPr/>
          <p:nvPr/>
        </p:nvSpPr>
        <p:spPr>
          <a:xfrm>
            <a:off x="8275320" y="2798064"/>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Grade B ($49M)</a:t>
            </a:r>
            <a:endParaRPr lang="en-US" sz="1000" dirty="0"/>
          </a:p>
        </p:txBody>
      </p:sp>
      <p:sp>
        <p:nvSpPr>
          <p:cNvPr id="11" name="Text 8"/>
          <p:cNvSpPr/>
          <p:nvPr/>
        </p:nvSpPr>
        <p:spPr>
          <a:xfrm>
            <a:off x="8275320" y="3191256"/>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Most Common Term</a:t>
            </a:r>
            <a:endParaRPr lang="en-US" sz="1050" dirty="0"/>
          </a:p>
        </p:txBody>
      </p:sp>
      <p:sp>
        <p:nvSpPr>
          <p:cNvPr id="12" name="Text 9"/>
          <p:cNvSpPr/>
          <p:nvPr/>
        </p:nvSpPr>
        <p:spPr>
          <a:xfrm>
            <a:off x="8275320" y="3419856"/>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36 Months (58.83%)</a:t>
            </a:r>
            <a:endParaRPr lang="en-US" sz="1000" dirty="0"/>
          </a:p>
        </p:txBody>
      </p:sp>
      <p:sp>
        <p:nvSpPr>
          <p:cNvPr id="13" name="Text 10"/>
          <p:cNvSpPr/>
          <p:nvPr/>
        </p:nvSpPr>
        <p:spPr>
          <a:xfrm>
            <a:off x="8275320" y="3813048"/>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Largest Homeownership</a:t>
            </a:r>
            <a:endParaRPr lang="en-US" sz="1050" dirty="0"/>
          </a:p>
        </p:txBody>
      </p:sp>
      <p:sp>
        <p:nvSpPr>
          <p:cNvPr id="14" name="Text 11"/>
          <p:cNvSpPr/>
          <p:nvPr/>
        </p:nvSpPr>
        <p:spPr>
          <a:xfrm>
            <a:off x="8275320" y="4041648"/>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Mortgage Borrowers ($87M)</a:t>
            </a:r>
            <a:endParaRPr lang="en-US" sz="1000" dirty="0"/>
          </a:p>
        </p:txBody>
      </p:sp>
      <p:sp>
        <p:nvSpPr>
          <p:cNvPr id="15" name="Text 12"/>
          <p:cNvSpPr/>
          <p:nvPr/>
        </p:nvSpPr>
        <p:spPr>
          <a:xfrm>
            <a:off x="8275320" y="4434840"/>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Highest Geo Exposure</a:t>
            </a:r>
            <a:endParaRPr lang="en-US" sz="1050" dirty="0"/>
          </a:p>
        </p:txBody>
      </p:sp>
      <p:sp>
        <p:nvSpPr>
          <p:cNvPr id="16" name="Text 13"/>
          <p:cNvSpPr/>
          <p:nvPr/>
        </p:nvSpPr>
        <p:spPr>
          <a:xfrm>
            <a:off x="8275320" y="4663440"/>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California ($22.1M)</a:t>
            </a:r>
            <a:endParaRPr lang="en-US" sz="1000" dirty="0"/>
          </a:p>
        </p:txBody>
      </p:sp>
      <p:sp>
        <p:nvSpPr>
          <p:cNvPr id="17" name="Shape 14"/>
          <p:cNvSpPr/>
          <p:nvPr/>
        </p:nvSpPr>
        <p:spPr>
          <a:xfrm>
            <a:off x="548640" y="5623560"/>
            <a:ext cx="11064240" cy="685800"/>
          </a:xfrm>
          <a:prstGeom prst="roundRect">
            <a:avLst>
              <a:gd name="adj" fmla="val 8000"/>
            </a:avLst>
          </a:prstGeom>
          <a:solidFill>
            <a:srgbClr val="142850"/>
          </a:solidFill>
          <a:ln/>
          <a:effectLst>
            <a:outerShdw sx="100000" sy="100000" kx="0" ky="0" algn="bl" rotWithShape="0" blurRad="76200" dist="25400" dir="2700000">
              <a:srgbClr val="000000">
                <a:alpha val="15000"/>
              </a:srgbClr>
            </a:outerShdw>
          </a:effectLst>
        </p:spPr>
      </p:sp>
      <p:sp>
        <p:nvSpPr>
          <p:cNvPr id="18" name="Text 15"/>
          <p:cNvSpPr/>
          <p:nvPr/>
        </p:nvSpPr>
        <p:spPr>
          <a:xfrm>
            <a:off x="777240" y="5715000"/>
            <a:ext cx="10607040" cy="50292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The loan portfolio is well-diversified across loan purposes, borrower profiles, credit grades, loan terms, and geographic regions, contributing to overall portfolio stability.</a:t>
            </a:r>
            <a:endParaRPr lang="en-US" sz="1200" dirty="0"/>
          </a:p>
        </p:txBody>
      </p:sp>
      <p:sp>
        <p:nvSpPr>
          <p:cNvPr id="19" name="Text 16"/>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BUSINESS INTELLIGENCE</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Borrower &amp; Income Analysis</a:t>
            </a:r>
            <a:endParaRPr lang="en-US" sz="3200" dirty="0"/>
          </a:p>
        </p:txBody>
      </p:sp>
      <p:pic>
        <p:nvPicPr>
          <p:cNvPr id="4" name="Image 0" descr="/home/claude/docx_media/image18.png">    </p:cNvPr>
          <p:cNvPicPr>
            <a:picLocks noChangeAspect="1"/>
          </p:cNvPicPr>
          <p:nvPr/>
        </p:nvPicPr>
        <p:blipFill>
          <a:blip r:embed="rId1"/>
          <a:srcRect l="0" r="0" t="0" b="0"/>
          <a:stretch/>
        </p:blipFill>
        <p:spPr>
          <a:xfrm>
            <a:off x="548640" y="1325880"/>
            <a:ext cx="7498080" cy="4160520"/>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275320" y="1325880"/>
          <a:ext cx="3383280" cy="1737360"/>
        </p:xfrm>
        <a:graphic>
          <a:graphicData uri="http://schemas.openxmlformats.org/drawingml/2006/table">
            <a:tbl>
              <a:tblPr/>
              <a:tblGrid>
                <a:gridCol w="1188720"/>
                <a:gridCol w="777240"/>
                <a:gridCol w="685800"/>
                <a:gridCol w="731520"/>
              </a:tblGrid>
              <a:tr h="347472">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Income Group</a:t>
                      </a:r>
                      <a:endParaRPr lang="en-US" sz="8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Avg Loan</a:t>
                      </a:r>
                      <a:endParaRPr lang="en-US" sz="8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Avg Rate</a:t>
                      </a:r>
                      <a:endParaRPr lang="en-US" sz="8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c>
                  <a:txBody>
                    <a:bodyPr/>
                    <a:lstStyle/>
                    <a:p>
                      <a:pPr indent="0" marL="0">
                        <a:buNone/>
                      </a:pPr>
                      <a:r>
                        <a:rPr lang="en-US" sz="850" b="1" dirty="0">
                          <a:solidFill>
                            <a:srgbClr val="FFFFFF"/>
                          </a:solidFill>
                          <a:latin typeface="Calibri" pitchFamily="34" charset="0"/>
                          <a:ea typeface="Calibri" pitchFamily="34" charset="-122"/>
                          <a:cs typeface="Calibri" pitchFamily="34" charset="-120"/>
                        </a:rPr>
                        <a:t>Avg DTI</a:t>
                      </a:r>
                      <a:endParaRPr lang="en-US" sz="85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solidFill>
                      <a:srgbClr val="142850"/>
                    </a:solidFill>
                  </a:tcPr>
                </a:tc>
              </a:tr>
              <a:tr h="347472">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Low Income</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$10K</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13.0%</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18.70</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47472">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Lower Middle</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$15K</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12.5%</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18.14</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47472">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Upper Middle</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$22K</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12.0%</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17.03</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r h="347472">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High Income</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$26K</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11.2%</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c>
                  <a:txBody>
                    <a:bodyPr/>
                    <a:lstStyle/>
                    <a:p>
                      <a:pPr indent="0" marL="0">
                        <a:buNone/>
                      </a:pPr>
                      <a:r>
                        <a:rPr lang="en-US" sz="870" dirty="0">
                          <a:solidFill>
                            <a:srgbClr val="000000"/>
                          </a:solidFill>
                          <a:latin typeface="Calibri" pitchFamily="34" charset="0"/>
                          <a:ea typeface="Calibri" pitchFamily="34" charset="-122"/>
                          <a:cs typeface="Calibri" pitchFamily="34" charset="-120"/>
                        </a:rPr>
                        <a:t>12.81</a:t>
                      </a:r>
                      <a:endParaRPr lang="en-US" sz="870" dirty="0">
                        <a:latin typeface="Calibri" charset="0"/>
                        <a:ea typeface="Calibri" charset="0"/>
                        <a:cs typeface="Calibri" charset="0"/>
                      </a:endParaRPr>
                    </a:p>
                  </a:txBody>
                  <a:tcPr marL="91440" marR="91440" marT="45720" marB="45720">
                    <a:lnL w="6350" cap="flat" cmpd="sng" algn="ctr">
                      <a:solidFill>
                        <a:srgbClr val="D9E2EC"/>
                      </a:solidFill>
                      <a:prstDash val="solid"/>
                      <a:round/>
                      <a:headEnd type="none" w="med" len="med"/>
                      <a:tailEnd type="none" w="med" len="med"/>
                    </a:lnL>
                    <a:lnR w="6350" cap="flat" cmpd="sng" algn="ctr">
                      <a:solidFill>
                        <a:srgbClr val="D9E2EC"/>
                      </a:solidFill>
                      <a:prstDash val="solid"/>
                      <a:round/>
                      <a:headEnd type="none" w="med" len="med"/>
                      <a:tailEnd type="none" w="med" len="med"/>
                    </a:lnR>
                    <a:lnT w="6350" cap="flat" cmpd="sng" algn="ctr">
                      <a:solidFill>
                        <a:srgbClr val="D9E2EC"/>
                      </a:solidFill>
                      <a:prstDash val="solid"/>
                      <a:round/>
                      <a:headEnd type="none" w="med" len="med"/>
                      <a:tailEnd type="none" w="med" len="med"/>
                    </a:lnT>
                    <a:lnB w="6350" cap="flat" cmpd="sng" algn="ctr">
                      <a:solidFill>
                        <a:srgbClr val="D9E2EC"/>
                      </a:solidFill>
                      <a:prstDash val="solid"/>
                      <a:round/>
                      <a:headEnd type="none" w="med" len="med"/>
                      <a:tailEnd type="none" w="med" len="med"/>
                    </a:lnB>
                  </a:tcPr>
                </a:tc>
              </a:tr>
            </a:tbl>
          </a:graphicData>
        </a:graphic>
      </p:graphicFrame>
      <p:sp>
        <p:nvSpPr>
          <p:cNvPr id="6" name="Text 2"/>
          <p:cNvSpPr/>
          <p:nvPr/>
        </p:nvSpPr>
        <p:spPr>
          <a:xfrm>
            <a:off x="8275320" y="3291840"/>
            <a:ext cx="3383280" cy="274320"/>
          </a:xfrm>
          <a:prstGeom prst="rect">
            <a:avLst/>
          </a:prstGeom>
          <a:noFill/>
          <a:ln/>
        </p:spPr>
        <p:txBody>
          <a:bodyPr wrap="square" rtlCol="0" anchor="ctr"/>
          <a:lstStyle/>
          <a:p>
            <a:pPr indent="0" marL="0">
              <a:buNone/>
            </a:pPr>
            <a:r>
              <a:rPr lang="en-US" sz="1200" b="1" dirty="0">
                <a:solidFill>
                  <a:srgbClr val="142850"/>
                </a:solidFill>
                <a:latin typeface="Cambria" pitchFamily="34" charset="0"/>
                <a:ea typeface="Cambria" pitchFamily="34" charset="-122"/>
                <a:cs typeface="Cambria" pitchFamily="34" charset="-120"/>
              </a:rPr>
              <a:t>Key Findings</a:t>
            </a:r>
            <a:endParaRPr lang="en-US" sz="1200" dirty="0"/>
          </a:p>
        </p:txBody>
      </p:sp>
      <p:sp>
        <p:nvSpPr>
          <p:cNvPr id="7" name="Text 3"/>
          <p:cNvSpPr/>
          <p:nvPr/>
        </p:nvSpPr>
        <p:spPr>
          <a:xfrm>
            <a:off x="8275320" y="3611880"/>
            <a:ext cx="3383280" cy="1828800"/>
          </a:xfrm>
          <a:prstGeom prst="rect">
            <a:avLst/>
          </a:prstGeom>
          <a:noFill/>
          <a:ln/>
        </p:spPr>
        <p:txBody>
          <a:bodyPr wrap="square" rtlCol="0" anchor="t"/>
          <a:lstStyle/>
          <a:p>
            <a:pPr marL="342900" indent="-342900">
              <a:spcAft>
                <a:spcPts val="600"/>
              </a:spcAft>
              <a:buSzPct val="100000"/>
              <a:buChar char="•"/>
            </a:pPr>
            <a:r>
              <a:rPr lang="en-US" sz="930" dirty="0">
                <a:solidFill>
                  <a:srgbClr val="1F2937"/>
                </a:solidFill>
                <a:latin typeface="Calibri" pitchFamily="34" charset="0"/>
                <a:ea typeface="Calibri" pitchFamily="34" charset="-122"/>
                <a:cs typeface="Calibri" pitchFamily="34" charset="-120"/>
              </a:rPr>
              <a:t>Loan amount increases with income</a:t>
            </a:r>
            <a:endParaRPr lang="en-US" sz="930" dirty="0"/>
          </a:p>
          <a:p>
            <a:pPr marL="342900" indent="-342900">
              <a:spcAft>
                <a:spcPts val="600"/>
              </a:spcAft>
              <a:buSzPct val="100000"/>
              <a:buChar char="•"/>
            </a:pPr>
            <a:r>
              <a:rPr lang="en-US" sz="930" dirty="0">
                <a:solidFill>
                  <a:srgbClr val="1F2937"/>
                </a:solidFill>
                <a:latin typeface="Calibri" pitchFamily="34" charset="0"/>
                <a:ea typeface="Calibri" pitchFamily="34" charset="-122"/>
                <a:cs typeface="Calibri" pitchFamily="34" charset="-120"/>
              </a:rPr>
              <a:t>Interest rates decrease as income rises</a:t>
            </a:r>
            <a:endParaRPr lang="en-US" sz="930" dirty="0"/>
          </a:p>
          <a:p>
            <a:pPr marL="342900" indent="-342900">
              <a:spcAft>
                <a:spcPts val="600"/>
              </a:spcAft>
              <a:buSzPct val="100000"/>
              <a:buChar char="•"/>
            </a:pPr>
            <a:r>
              <a:rPr lang="en-US" sz="930" dirty="0">
                <a:solidFill>
                  <a:srgbClr val="1F2937"/>
                </a:solidFill>
                <a:latin typeface="Calibri" pitchFamily="34" charset="0"/>
                <a:ea typeface="Calibri" pitchFamily="34" charset="-122"/>
                <a:cs typeface="Calibri" pitchFamily="34" charset="-120"/>
              </a:rPr>
              <a:t>Higher-income borrowers carry lower DTI</a:t>
            </a:r>
            <a:endParaRPr lang="en-US" sz="930" dirty="0"/>
          </a:p>
          <a:p>
            <a:pPr marL="342900" indent="-342900">
              <a:spcAft>
                <a:spcPts val="600"/>
              </a:spcAft>
              <a:buSzPct val="100000"/>
              <a:buChar char="•"/>
            </a:pPr>
            <a:r>
              <a:rPr lang="en-US" sz="930" dirty="0">
                <a:solidFill>
                  <a:srgbClr val="1F2937"/>
                </a:solidFill>
                <a:latin typeface="Calibri" pitchFamily="34" charset="0"/>
                <a:ea typeface="Calibri" pitchFamily="34" charset="-122"/>
                <a:cs typeface="Calibri" pitchFamily="34" charset="-120"/>
              </a:rPr>
              <a:t>Mortgage is dominant homeownership status</a:t>
            </a:r>
            <a:endParaRPr lang="en-US" sz="930" dirty="0"/>
          </a:p>
        </p:txBody>
      </p:sp>
      <p:sp>
        <p:nvSpPr>
          <p:cNvPr id="8" name="Shape 4"/>
          <p:cNvSpPr/>
          <p:nvPr/>
        </p:nvSpPr>
        <p:spPr>
          <a:xfrm>
            <a:off x="548640" y="5623560"/>
            <a:ext cx="11064240" cy="685800"/>
          </a:xfrm>
          <a:prstGeom prst="roundRect">
            <a:avLst>
              <a:gd name="adj" fmla="val 8000"/>
            </a:avLst>
          </a:prstGeom>
          <a:solidFill>
            <a:srgbClr val="142850"/>
          </a:solidFill>
          <a:ln/>
          <a:effectLst>
            <a:outerShdw sx="100000" sy="100000" kx="0" ky="0" algn="bl" rotWithShape="0" blurRad="76200" dist="25400" dir="2700000">
              <a:srgbClr val="000000">
                <a:alpha val="15000"/>
              </a:srgbClr>
            </a:outerShdw>
          </a:effectLst>
        </p:spPr>
      </p:sp>
      <p:sp>
        <p:nvSpPr>
          <p:cNvPr id="9" name="Text 5"/>
          <p:cNvSpPr/>
          <p:nvPr/>
        </p:nvSpPr>
        <p:spPr>
          <a:xfrm>
            <a:off x="777240" y="5715000"/>
            <a:ext cx="10607040" cy="50292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Borrower income significantly influences loan size, interest rates, and debt burden, highlighting the importance of multi-factor creditworthiness assessment.</a:t>
            </a:r>
            <a:endParaRPr lang="en-US" sz="1200" dirty="0"/>
          </a:p>
        </p:txBody>
      </p:sp>
      <p:sp>
        <p:nvSpPr>
          <p:cNvPr id="10" name="Text 6"/>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BUSINESS INTELLIGENCE</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Delinquency &amp; Credit Risk Analysis</a:t>
            </a:r>
            <a:endParaRPr lang="en-US" sz="3200" dirty="0"/>
          </a:p>
        </p:txBody>
      </p:sp>
      <p:pic>
        <p:nvPicPr>
          <p:cNvPr id="4" name="Image 0" descr="/home/claude/docx_media/image19.png">    </p:cNvPr>
          <p:cNvPicPr>
            <a:picLocks noChangeAspect="1"/>
          </p:cNvPicPr>
          <p:nvPr/>
        </p:nvPicPr>
        <p:blipFill>
          <a:blip r:embed="rId1"/>
          <a:srcRect l="0" r="0" t="0" b="0"/>
          <a:stretch/>
        </p:blipFill>
        <p:spPr>
          <a:xfrm>
            <a:off x="548640" y="1325880"/>
            <a:ext cx="7498080" cy="4160520"/>
          </a:xfrm>
          <a:prstGeom prst="rect">
            <a:avLst/>
          </a:prstGeom>
        </p:spPr>
      </p:pic>
      <p:pic>
        <p:nvPicPr>
          <p:cNvPr id="5" name="Image 1" descr="preencoded.png">    </p:cNvPr>
          <p:cNvPicPr>
            <a:picLocks noChangeAspect="1"/>
          </p:cNvPicPr>
          <p:nvPr/>
        </p:nvPicPr>
        <p:blipFill>
          <a:blip r:embed="rId2"/>
          <a:stretch>
            <a:fillRect/>
          </a:stretch>
        </p:blipFill>
        <p:spPr>
          <a:xfrm>
            <a:off x="8275320" y="1344168"/>
            <a:ext cx="292608" cy="292608"/>
          </a:xfrm>
          <a:prstGeom prst="rect">
            <a:avLst/>
          </a:prstGeom>
        </p:spPr>
      </p:pic>
      <p:sp>
        <p:nvSpPr>
          <p:cNvPr id="6" name="Text 2"/>
          <p:cNvSpPr/>
          <p:nvPr/>
        </p:nvSpPr>
        <p:spPr>
          <a:xfrm>
            <a:off x="8686800" y="1307592"/>
            <a:ext cx="2926080" cy="256032"/>
          </a:xfrm>
          <a:prstGeom prst="rect">
            <a:avLst/>
          </a:prstGeom>
          <a:noFill/>
          <a:ln/>
        </p:spPr>
        <p:txBody>
          <a:bodyPr wrap="square" rtlCol="0" anchor="ctr"/>
          <a:lstStyle/>
          <a:p>
            <a:pPr indent="0" marL="0">
              <a:buNone/>
            </a:pPr>
            <a:r>
              <a:rPr lang="en-US" sz="1000" b="1" dirty="0">
                <a:solidFill>
                  <a:srgbClr val="E08A2C"/>
                </a:solidFill>
                <a:latin typeface="Calibri" pitchFamily="34" charset="0"/>
                <a:ea typeface="Calibri" pitchFamily="34" charset="-122"/>
                <a:cs typeface="Calibri" pitchFamily="34" charset="-120"/>
              </a:rPr>
              <a:t>Current Loans</a:t>
            </a:r>
            <a:endParaRPr lang="en-US" sz="1000" dirty="0"/>
          </a:p>
        </p:txBody>
      </p:sp>
      <p:sp>
        <p:nvSpPr>
          <p:cNvPr id="7" name="Text 3"/>
          <p:cNvSpPr/>
          <p:nvPr/>
        </p:nvSpPr>
        <p:spPr>
          <a:xfrm>
            <a:off x="8686800" y="1545336"/>
            <a:ext cx="2926080" cy="29260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93.75%</a:t>
            </a:r>
            <a:endParaRPr lang="en-US" sz="950" dirty="0"/>
          </a:p>
        </p:txBody>
      </p:sp>
      <p:pic>
        <p:nvPicPr>
          <p:cNvPr id="8" name="Image 2" descr="preencoded.png">    </p:cNvPr>
          <p:cNvPicPr>
            <a:picLocks noChangeAspect="1"/>
          </p:cNvPicPr>
          <p:nvPr/>
        </p:nvPicPr>
        <p:blipFill>
          <a:blip r:embed="rId3"/>
          <a:stretch>
            <a:fillRect/>
          </a:stretch>
        </p:blipFill>
        <p:spPr>
          <a:xfrm>
            <a:off x="8275320" y="2002536"/>
            <a:ext cx="292608" cy="292608"/>
          </a:xfrm>
          <a:prstGeom prst="rect">
            <a:avLst/>
          </a:prstGeom>
        </p:spPr>
      </p:pic>
      <p:sp>
        <p:nvSpPr>
          <p:cNvPr id="9" name="Text 4"/>
          <p:cNvSpPr/>
          <p:nvPr/>
        </p:nvSpPr>
        <p:spPr>
          <a:xfrm>
            <a:off x="8686800" y="1965960"/>
            <a:ext cx="2926080" cy="256032"/>
          </a:xfrm>
          <a:prstGeom prst="rect">
            <a:avLst/>
          </a:prstGeom>
          <a:noFill/>
          <a:ln/>
        </p:spPr>
        <p:txBody>
          <a:bodyPr wrap="square" rtlCol="0" anchor="ctr"/>
          <a:lstStyle/>
          <a:p>
            <a:pPr indent="0" marL="0">
              <a:buNone/>
            </a:pPr>
            <a:r>
              <a:rPr lang="en-US" sz="1000" b="1" dirty="0">
                <a:solidFill>
                  <a:srgbClr val="E08A2C"/>
                </a:solidFill>
                <a:latin typeface="Calibri" pitchFamily="34" charset="0"/>
                <a:ea typeface="Calibri" pitchFamily="34" charset="-122"/>
                <a:cs typeface="Calibri" pitchFamily="34" charset="-120"/>
              </a:rPr>
              <a:t>Highest Prior Delinquencies</a:t>
            </a:r>
            <a:endParaRPr lang="en-US" sz="1000" dirty="0"/>
          </a:p>
        </p:txBody>
      </p:sp>
      <p:sp>
        <p:nvSpPr>
          <p:cNvPr id="10" name="Text 5"/>
          <p:cNvSpPr/>
          <p:nvPr/>
        </p:nvSpPr>
        <p:spPr>
          <a:xfrm>
            <a:off x="8686800" y="2203704"/>
            <a:ext cx="2926080" cy="29260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Late (16-30 Days)</a:t>
            </a:r>
            <a:endParaRPr lang="en-US" sz="950" dirty="0"/>
          </a:p>
        </p:txBody>
      </p:sp>
      <p:pic>
        <p:nvPicPr>
          <p:cNvPr id="11" name="Image 3" descr="preencoded.png">    </p:cNvPr>
          <p:cNvPicPr>
            <a:picLocks noChangeAspect="1"/>
          </p:cNvPicPr>
          <p:nvPr/>
        </p:nvPicPr>
        <p:blipFill>
          <a:blip r:embed="rId4"/>
          <a:stretch>
            <a:fillRect/>
          </a:stretch>
        </p:blipFill>
        <p:spPr>
          <a:xfrm>
            <a:off x="8275320" y="2660904"/>
            <a:ext cx="292608" cy="292608"/>
          </a:xfrm>
          <a:prstGeom prst="rect">
            <a:avLst/>
          </a:prstGeom>
        </p:spPr>
      </p:pic>
      <p:sp>
        <p:nvSpPr>
          <p:cNvPr id="12" name="Text 6"/>
          <p:cNvSpPr/>
          <p:nvPr/>
        </p:nvSpPr>
        <p:spPr>
          <a:xfrm>
            <a:off x="8686800" y="2624328"/>
            <a:ext cx="2926080" cy="256032"/>
          </a:xfrm>
          <a:prstGeom prst="rect">
            <a:avLst/>
          </a:prstGeom>
          <a:noFill/>
          <a:ln/>
        </p:spPr>
        <p:txBody>
          <a:bodyPr wrap="square" rtlCol="0" anchor="ctr"/>
          <a:lstStyle/>
          <a:p>
            <a:pPr indent="0" marL="0">
              <a:buNone/>
            </a:pPr>
            <a:r>
              <a:rPr lang="en-US" sz="1000" b="1" dirty="0">
                <a:solidFill>
                  <a:srgbClr val="E08A2C"/>
                </a:solidFill>
                <a:latin typeface="Calibri" pitchFamily="34" charset="0"/>
                <a:ea typeface="Calibri" pitchFamily="34" charset="-122"/>
                <a:cs typeface="Calibri" pitchFamily="34" charset="-120"/>
              </a:rPr>
              <a:t>Highest Failed-to-Pay History</a:t>
            </a:r>
            <a:endParaRPr lang="en-US" sz="1000" dirty="0"/>
          </a:p>
        </p:txBody>
      </p:sp>
      <p:sp>
        <p:nvSpPr>
          <p:cNvPr id="13" name="Text 7"/>
          <p:cNvSpPr/>
          <p:nvPr/>
        </p:nvSpPr>
        <p:spPr>
          <a:xfrm>
            <a:off x="8686800" y="2862072"/>
            <a:ext cx="2926080" cy="29260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Defaulted Borrowers</a:t>
            </a:r>
            <a:endParaRPr lang="en-US" sz="950" dirty="0"/>
          </a:p>
        </p:txBody>
      </p:sp>
      <p:pic>
        <p:nvPicPr>
          <p:cNvPr id="14" name="Image 4" descr="preencoded.png">    </p:cNvPr>
          <p:cNvPicPr>
            <a:picLocks noChangeAspect="1"/>
          </p:cNvPicPr>
          <p:nvPr/>
        </p:nvPicPr>
        <p:blipFill>
          <a:blip r:embed="rId5"/>
          <a:stretch>
            <a:fillRect/>
          </a:stretch>
        </p:blipFill>
        <p:spPr>
          <a:xfrm>
            <a:off x="8275320" y="3319272"/>
            <a:ext cx="292608" cy="292608"/>
          </a:xfrm>
          <a:prstGeom prst="rect">
            <a:avLst/>
          </a:prstGeom>
        </p:spPr>
      </p:pic>
      <p:sp>
        <p:nvSpPr>
          <p:cNvPr id="15" name="Text 8"/>
          <p:cNvSpPr/>
          <p:nvPr/>
        </p:nvSpPr>
        <p:spPr>
          <a:xfrm>
            <a:off x="8686800" y="3282696"/>
            <a:ext cx="2926080" cy="256032"/>
          </a:xfrm>
          <a:prstGeom prst="rect">
            <a:avLst/>
          </a:prstGeom>
          <a:noFill/>
          <a:ln/>
        </p:spPr>
        <p:txBody>
          <a:bodyPr wrap="square" rtlCol="0" anchor="ctr"/>
          <a:lstStyle/>
          <a:p>
            <a:pPr indent="0" marL="0">
              <a:buNone/>
            </a:pPr>
            <a:r>
              <a:rPr lang="en-US" sz="1000" b="1" dirty="0">
                <a:solidFill>
                  <a:srgbClr val="E08A2C"/>
                </a:solidFill>
                <a:latin typeface="Calibri" pitchFamily="34" charset="0"/>
                <a:ea typeface="Calibri" pitchFamily="34" charset="-122"/>
                <a:cs typeface="Calibri" pitchFamily="34" charset="-120"/>
              </a:rPr>
              <a:t>Highest Credit Inquiries</a:t>
            </a:r>
            <a:endParaRPr lang="en-US" sz="1000" dirty="0"/>
          </a:p>
        </p:txBody>
      </p:sp>
      <p:sp>
        <p:nvSpPr>
          <p:cNvPr id="16" name="Text 9"/>
          <p:cNvSpPr/>
          <p:nvPr/>
        </p:nvSpPr>
        <p:spPr>
          <a:xfrm>
            <a:off x="8686800" y="3520440"/>
            <a:ext cx="2926080" cy="29260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Defaulted (2.57)</a:t>
            </a:r>
            <a:endParaRPr lang="en-US" sz="950" dirty="0"/>
          </a:p>
        </p:txBody>
      </p:sp>
      <p:pic>
        <p:nvPicPr>
          <p:cNvPr id="17" name="Image 5" descr="preencoded.png">    </p:cNvPr>
          <p:cNvPicPr>
            <a:picLocks noChangeAspect="1"/>
          </p:cNvPicPr>
          <p:nvPr/>
        </p:nvPicPr>
        <p:blipFill>
          <a:blip r:embed="rId6"/>
          <a:stretch>
            <a:fillRect/>
          </a:stretch>
        </p:blipFill>
        <p:spPr>
          <a:xfrm>
            <a:off x="8275320" y="3977640"/>
            <a:ext cx="292608" cy="292608"/>
          </a:xfrm>
          <a:prstGeom prst="rect">
            <a:avLst/>
          </a:prstGeom>
        </p:spPr>
      </p:pic>
      <p:sp>
        <p:nvSpPr>
          <p:cNvPr id="18" name="Text 10"/>
          <p:cNvSpPr/>
          <p:nvPr/>
        </p:nvSpPr>
        <p:spPr>
          <a:xfrm>
            <a:off x="8686800" y="3941064"/>
            <a:ext cx="2926080" cy="256032"/>
          </a:xfrm>
          <a:prstGeom prst="rect">
            <a:avLst/>
          </a:prstGeom>
          <a:noFill/>
          <a:ln/>
        </p:spPr>
        <p:txBody>
          <a:bodyPr wrap="square" rtlCol="0" anchor="ctr"/>
          <a:lstStyle/>
          <a:p>
            <a:pPr indent="0" marL="0">
              <a:buNone/>
            </a:pPr>
            <a:r>
              <a:rPr lang="en-US" sz="1000" b="1" dirty="0">
                <a:solidFill>
                  <a:srgbClr val="E08A2C"/>
                </a:solidFill>
                <a:latin typeface="Calibri" pitchFamily="34" charset="0"/>
                <a:ea typeface="Calibri" pitchFamily="34" charset="-122"/>
                <a:cs typeface="Calibri" pitchFamily="34" charset="-120"/>
              </a:rPr>
              <a:t>Highest Tax Liens &amp; Bankruptcies</a:t>
            </a:r>
            <a:endParaRPr lang="en-US" sz="1000" dirty="0"/>
          </a:p>
        </p:txBody>
      </p:sp>
      <p:sp>
        <p:nvSpPr>
          <p:cNvPr id="19" name="Text 11"/>
          <p:cNvSpPr/>
          <p:nvPr/>
        </p:nvSpPr>
        <p:spPr>
          <a:xfrm>
            <a:off x="8686800" y="4178808"/>
            <a:ext cx="2926080" cy="292608"/>
          </a:xfrm>
          <a:prstGeom prst="rect">
            <a:avLst/>
          </a:prstGeom>
          <a:noFill/>
          <a:ln/>
        </p:spPr>
        <p:txBody>
          <a:bodyPr wrap="square" rtlCol="0" anchor="ctr"/>
          <a:lstStyle/>
          <a:p>
            <a:pPr indent="0" marL="0">
              <a:buNone/>
            </a:pPr>
            <a:r>
              <a:rPr lang="en-US" sz="950" dirty="0">
                <a:solidFill>
                  <a:srgbClr val="1F2937"/>
                </a:solidFill>
                <a:latin typeface="Calibri" pitchFamily="34" charset="0"/>
                <a:ea typeface="Calibri" pitchFamily="34" charset="-122"/>
                <a:cs typeface="Calibri" pitchFamily="34" charset="-120"/>
              </a:rPr>
              <a:t>Defaulted Borrowers</a:t>
            </a:r>
            <a:endParaRPr lang="en-US" sz="950" dirty="0"/>
          </a:p>
        </p:txBody>
      </p:sp>
      <p:sp>
        <p:nvSpPr>
          <p:cNvPr id="20" name="Shape 12"/>
          <p:cNvSpPr/>
          <p:nvPr/>
        </p:nvSpPr>
        <p:spPr>
          <a:xfrm>
            <a:off x="548640" y="5623560"/>
            <a:ext cx="11064240" cy="685800"/>
          </a:xfrm>
          <a:prstGeom prst="roundRect">
            <a:avLst>
              <a:gd name="adj" fmla="val 8000"/>
            </a:avLst>
          </a:prstGeom>
          <a:solidFill>
            <a:srgbClr val="142850"/>
          </a:solidFill>
          <a:ln/>
          <a:effectLst>
            <a:outerShdw sx="100000" sy="100000" kx="0" ky="0" algn="bl" rotWithShape="0" blurRad="76200" dist="25400" dir="2700000">
              <a:srgbClr val="000000">
                <a:alpha val="15000"/>
              </a:srgbClr>
            </a:outerShdw>
          </a:effectLst>
        </p:spPr>
      </p:sp>
      <p:sp>
        <p:nvSpPr>
          <p:cNvPr id="21" name="Text 13"/>
          <p:cNvSpPr/>
          <p:nvPr/>
        </p:nvSpPr>
        <p:spPr>
          <a:xfrm>
            <a:off x="777240" y="5715000"/>
            <a:ext cx="10607040" cy="50292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Historical borrower behaviour — previous delinquencies, failed payments, credit inquiries, tax liens, and bankruptcies — provides strong early warning signals for default risk.</a:t>
            </a:r>
            <a:endParaRPr lang="en-US" sz="1200" dirty="0"/>
          </a:p>
        </p:txBody>
      </p:sp>
      <p:sp>
        <p:nvSpPr>
          <p:cNvPr id="22" name="Text 14"/>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BUSINESS INTELLIGENCE</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Portfolio Risk Analysis</a:t>
            </a:r>
            <a:endParaRPr lang="en-US" sz="3200" dirty="0"/>
          </a:p>
        </p:txBody>
      </p:sp>
      <p:pic>
        <p:nvPicPr>
          <p:cNvPr id="4" name="Image 0" descr="/home/claude/docx_media/image20.png">    </p:cNvPr>
          <p:cNvPicPr>
            <a:picLocks noChangeAspect="1"/>
          </p:cNvPicPr>
          <p:nvPr/>
        </p:nvPicPr>
        <p:blipFill>
          <a:blip r:embed="rId1"/>
          <a:srcRect l="0" r="0" t="0" b="0"/>
          <a:stretch/>
        </p:blipFill>
        <p:spPr>
          <a:xfrm>
            <a:off x="548640" y="1325880"/>
            <a:ext cx="7498080" cy="4160520"/>
          </a:xfrm>
          <a:prstGeom prst="rect">
            <a:avLst/>
          </a:prstGeom>
        </p:spPr>
      </p:pic>
      <p:sp>
        <p:nvSpPr>
          <p:cNvPr id="5" name="Text 2"/>
          <p:cNvSpPr/>
          <p:nvPr/>
        </p:nvSpPr>
        <p:spPr>
          <a:xfrm>
            <a:off x="8275320" y="1325880"/>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Current Loans</a:t>
            </a:r>
            <a:endParaRPr lang="en-US" sz="1050" dirty="0"/>
          </a:p>
        </p:txBody>
      </p:sp>
      <p:sp>
        <p:nvSpPr>
          <p:cNvPr id="6" name="Text 3"/>
          <p:cNvSpPr/>
          <p:nvPr/>
        </p:nvSpPr>
        <p:spPr>
          <a:xfrm>
            <a:off x="8275320" y="1554480"/>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93.75% of Portfolio</a:t>
            </a:r>
            <a:endParaRPr lang="en-US" sz="1000" dirty="0"/>
          </a:p>
        </p:txBody>
      </p:sp>
      <p:sp>
        <p:nvSpPr>
          <p:cNvPr id="7" name="Text 4"/>
          <p:cNvSpPr/>
          <p:nvPr/>
        </p:nvSpPr>
        <p:spPr>
          <a:xfrm>
            <a:off x="8275320" y="2039112"/>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Highest Default Rate</a:t>
            </a:r>
            <a:endParaRPr lang="en-US" sz="1050" dirty="0"/>
          </a:p>
        </p:txBody>
      </p:sp>
      <p:sp>
        <p:nvSpPr>
          <p:cNvPr id="8" name="Text 5"/>
          <p:cNvSpPr/>
          <p:nvPr/>
        </p:nvSpPr>
        <p:spPr>
          <a:xfrm>
            <a:off x="8275320" y="2267712"/>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Charged Off (100%)</a:t>
            </a:r>
            <a:endParaRPr lang="en-US" sz="1000" dirty="0"/>
          </a:p>
        </p:txBody>
      </p:sp>
      <p:sp>
        <p:nvSpPr>
          <p:cNvPr id="9" name="Text 6"/>
          <p:cNvSpPr/>
          <p:nvPr/>
        </p:nvSpPr>
        <p:spPr>
          <a:xfrm>
            <a:off x="8275320" y="2752344"/>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Largest Loan Exposure</a:t>
            </a:r>
            <a:endParaRPr lang="en-US" sz="1050" dirty="0"/>
          </a:p>
        </p:txBody>
      </p:sp>
      <p:sp>
        <p:nvSpPr>
          <p:cNvPr id="10" name="Text 7"/>
          <p:cNvSpPr/>
          <p:nvPr/>
        </p:nvSpPr>
        <p:spPr>
          <a:xfrm>
            <a:off x="8275320" y="2980944"/>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Grade B ($49.36M)</a:t>
            </a:r>
            <a:endParaRPr lang="en-US" sz="1000" dirty="0"/>
          </a:p>
        </p:txBody>
      </p:sp>
      <p:sp>
        <p:nvSpPr>
          <p:cNvPr id="11" name="Text 8"/>
          <p:cNvSpPr/>
          <p:nvPr/>
        </p:nvSpPr>
        <p:spPr>
          <a:xfrm>
            <a:off x="8275320" y="3465576"/>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Most Common Term</a:t>
            </a:r>
            <a:endParaRPr lang="en-US" sz="1050" dirty="0"/>
          </a:p>
        </p:txBody>
      </p:sp>
      <p:sp>
        <p:nvSpPr>
          <p:cNvPr id="12" name="Text 9"/>
          <p:cNvSpPr/>
          <p:nvPr/>
        </p:nvSpPr>
        <p:spPr>
          <a:xfrm>
            <a:off x="8275320" y="3694176"/>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36 Months (58.83%)</a:t>
            </a:r>
            <a:endParaRPr lang="en-US" sz="1000" dirty="0"/>
          </a:p>
        </p:txBody>
      </p:sp>
      <p:sp>
        <p:nvSpPr>
          <p:cNvPr id="13" name="Text 10"/>
          <p:cNvSpPr/>
          <p:nvPr/>
        </p:nvSpPr>
        <p:spPr>
          <a:xfrm>
            <a:off x="8275320" y="4178808"/>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Highest Interest Rate</a:t>
            </a:r>
            <a:endParaRPr lang="en-US" sz="1050" dirty="0"/>
          </a:p>
        </p:txBody>
      </p:sp>
      <p:sp>
        <p:nvSpPr>
          <p:cNvPr id="14" name="Text 11"/>
          <p:cNvSpPr/>
          <p:nvPr/>
        </p:nvSpPr>
        <p:spPr>
          <a:xfrm>
            <a:off x="8275320" y="4407408"/>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Grade G (30.80%)</a:t>
            </a:r>
            <a:endParaRPr lang="en-US" sz="1000" dirty="0"/>
          </a:p>
        </p:txBody>
      </p:sp>
      <p:sp>
        <p:nvSpPr>
          <p:cNvPr id="15" name="Shape 12"/>
          <p:cNvSpPr/>
          <p:nvPr/>
        </p:nvSpPr>
        <p:spPr>
          <a:xfrm>
            <a:off x="548640" y="5623560"/>
            <a:ext cx="11064240" cy="685800"/>
          </a:xfrm>
          <a:prstGeom prst="roundRect">
            <a:avLst>
              <a:gd name="adj" fmla="val 8000"/>
            </a:avLst>
          </a:prstGeom>
          <a:solidFill>
            <a:srgbClr val="142850"/>
          </a:solidFill>
          <a:ln/>
          <a:effectLst>
            <a:outerShdw sx="100000" sy="100000" kx="0" ky="0" algn="bl" rotWithShape="0" blurRad="76200" dist="25400" dir="2700000">
              <a:srgbClr val="000000">
                <a:alpha val="15000"/>
              </a:srgbClr>
            </a:outerShdw>
          </a:effectLst>
        </p:spPr>
      </p:sp>
      <p:sp>
        <p:nvSpPr>
          <p:cNvPr id="16" name="Text 13"/>
          <p:cNvSpPr/>
          <p:nvPr/>
        </p:nvSpPr>
        <p:spPr>
          <a:xfrm>
            <a:off x="777240" y="5715000"/>
            <a:ext cx="10607040" cy="50292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The portfolio demonstrates strong overall health, with lending concentrated in lower-risk credit grades and supported by an effective risk-based pricing strategy.</a:t>
            </a:r>
            <a:endParaRPr lang="en-US" sz="1200" dirty="0"/>
          </a:p>
        </p:txBody>
      </p:sp>
      <p:sp>
        <p:nvSpPr>
          <p:cNvPr id="17" name="Text 14"/>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BUSINESS INTELLIGENCE</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Machine Learning Insights</a:t>
            </a:r>
            <a:endParaRPr lang="en-US" sz="3200" dirty="0"/>
          </a:p>
        </p:txBody>
      </p:sp>
      <p:pic>
        <p:nvPicPr>
          <p:cNvPr id="4" name="Image 0" descr="/home/claude/docx_media/image21.png">    </p:cNvPr>
          <p:cNvPicPr>
            <a:picLocks noChangeAspect="1"/>
          </p:cNvPicPr>
          <p:nvPr/>
        </p:nvPicPr>
        <p:blipFill>
          <a:blip r:embed="rId1"/>
          <a:srcRect l="0" r="0" t="0" b="0"/>
          <a:stretch/>
        </p:blipFill>
        <p:spPr>
          <a:xfrm>
            <a:off x="548640" y="1325880"/>
            <a:ext cx="7498080" cy="4160520"/>
          </a:xfrm>
          <a:prstGeom prst="rect">
            <a:avLst/>
          </a:prstGeom>
        </p:spPr>
      </p:pic>
      <p:sp>
        <p:nvSpPr>
          <p:cNvPr id="5" name="Text 2"/>
          <p:cNvSpPr/>
          <p:nvPr/>
        </p:nvSpPr>
        <p:spPr>
          <a:xfrm>
            <a:off x="8275320" y="1325880"/>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Best Model</a:t>
            </a:r>
            <a:endParaRPr lang="en-US" sz="1050" dirty="0"/>
          </a:p>
        </p:txBody>
      </p:sp>
      <p:sp>
        <p:nvSpPr>
          <p:cNvPr id="6" name="Text 3"/>
          <p:cNvSpPr/>
          <p:nvPr/>
        </p:nvSpPr>
        <p:spPr>
          <a:xfrm>
            <a:off x="8275320" y="1554480"/>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Balanced Logistic Regression</a:t>
            </a:r>
            <a:endParaRPr lang="en-US" sz="1000" dirty="0"/>
          </a:p>
        </p:txBody>
      </p:sp>
      <p:sp>
        <p:nvSpPr>
          <p:cNvPr id="7" name="Text 4"/>
          <p:cNvSpPr/>
          <p:nvPr/>
        </p:nvSpPr>
        <p:spPr>
          <a:xfrm>
            <a:off x="8275320" y="2039112"/>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ROC-AUC</a:t>
            </a:r>
            <a:endParaRPr lang="en-US" sz="1050" dirty="0"/>
          </a:p>
        </p:txBody>
      </p:sp>
      <p:sp>
        <p:nvSpPr>
          <p:cNvPr id="8" name="Text 5"/>
          <p:cNvSpPr/>
          <p:nvPr/>
        </p:nvSpPr>
        <p:spPr>
          <a:xfrm>
            <a:off x="8275320" y="2267712"/>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0.762</a:t>
            </a:r>
            <a:endParaRPr lang="en-US" sz="1000" dirty="0"/>
          </a:p>
        </p:txBody>
      </p:sp>
      <p:sp>
        <p:nvSpPr>
          <p:cNvPr id="9" name="Text 6"/>
          <p:cNvSpPr/>
          <p:nvPr/>
        </p:nvSpPr>
        <p:spPr>
          <a:xfrm>
            <a:off x="8275320" y="2752344"/>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High-Risk Loans Detected</a:t>
            </a:r>
            <a:endParaRPr lang="en-US" sz="1050" dirty="0"/>
          </a:p>
        </p:txBody>
      </p:sp>
      <p:sp>
        <p:nvSpPr>
          <p:cNvPr id="10" name="Text 7"/>
          <p:cNvSpPr/>
          <p:nvPr/>
        </p:nvSpPr>
        <p:spPr>
          <a:xfrm>
            <a:off x="8275320" y="2980944"/>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25 of 36</a:t>
            </a:r>
            <a:endParaRPr lang="en-US" sz="1000" dirty="0"/>
          </a:p>
        </p:txBody>
      </p:sp>
      <p:sp>
        <p:nvSpPr>
          <p:cNvPr id="11" name="Text 8"/>
          <p:cNvSpPr/>
          <p:nvPr/>
        </p:nvSpPr>
        <p:spPr>
          <a:xfrm>
            <a:off x="8275320" y="3465576"/>
            <a:ext cx="3383280" cy="246888"/>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Most Important Predictor</a:t>
            </a:r>
            <a:endParaRPr lang="en-US" sz="1050" dirty="0"/>
          </a:p>
        </p:txBody>
      </p:sp>
      <p:sp>
        <p:nvSpPr>
          <p:cNvPr id="12" name="Text 9"/>
          <p:cNvSpPr/>
          <p:nvPr/>
        </p:nvSpPr>
        <p:spPr>
          <a:xfrm>
            <a:off x="8275320" y="3694176"/>
            <a:ext cx="3383280" cy="320040"/>
          </a:xfrm>
          <a:prstGeom prst="rect">
            <a:avLst/>
          </a:prstGeom>
          <a:noFill/>
          <a:ln/>
        </p:spPr>
        <p:txBody>
          <a:bodyPr wrap="square" rtlCol="0" anchor="ctr"/>
          <a:lstStyle/>
          <a:p>
            <a:pPr indent="0" marL="0">
              <a:buNone/>
            </a:pPr>
            <a:r>
              <a:rPr lang="en-US" sz="1000" dirty="0">
                <a:solidFill>
                  <a:srgbClr val="1F2937"/>
                </a:solidFill>
                <a:latin typeface="Calibri" pitchFamily="34" charset="0"/>
                <a:ea typeface="Calibri" pitchFamily="34" charset="-122"/>
                <a:cs typeface="Calibri" pitchFamily="34" charset="-120"/>
              </a:rPr>
              <a:t>Interest Rate</a:t>
            </a:r>
            <a:endParaRPr lang="en-US" sz="1000" dirty="0"/>
          </a:p>
        </p:txBody>
      </p:sp>
      <p:sp>
        <p:nvSpPr>
          <p:cNvPr id="13" name="Text 10"/>
          <p:cNvSpPr/>
          <p:nvPr/>
        </p:nvSpPr>
        <p:spPr>
          <a:xfrm>
            <a:off x="8275320" y="4224528"/>
            <a:ext cx="3383280" cy="256032"/>
          </a:xfrm>
          <a:prstGeom prst="rect">
            <a:avLst/>
          </a:prstGeom>
          <a:noFill/>
          <a:ln/>
        </p:spPr>
        <p:txBody>
          <a:bodyPr wrap="square" rtlCol="0" anchor="ctr"/>
          <a:lstStyle/>
          <a:p>
            <a:pPr indent="0" marL="0">
              <a:buNone/>
            </a:pPr>
            <a:r>
              <a:rPr lang="en-US" sz="1050" b="1" dirty="0">
                <a:solidFill>
                  <a:srgbClr val="E08A2C"/>
                </a:solidFill>
                <a:latin typeface="Calibri" pitchFamily="34" charset="0"/>
                <a:ea typeface="Calibri" pitchFamily="34" charset="-122"/>
                <a:cs typeface="Calibri" pitchFamily="34" charset="-120"/>
              </a:rPr>
              <a:t>Top Predictors</a:t>
            </a:r>
            <a:endParaRPr lang="en-US" sz="1050" dirty="0"/>
          </a:p>
        </p:txBody>
      </p:sp>
      <p:sp>
        <p:nvSpPr>
          <p:cNvPr id="14" name="Text 11"/>
          <p:cNvSpPr/>
          <p:nvPr/>
        </p:nvSpPr>
        <p:spPr>
          <a:xfrm>
            <a:off x="8275320" y="4498848"/>
            <a:ext cx="3383280" cy="1005840"/>
          </a:xfrm>
          <a:prstGeom prst="rect">
            <a:avLst/>
          </a:prstGeom>
          <a:noFill/>
          <a:ln/>
        </p:spPr>
        <p:txBody>
          <a:bodyPr wrap="square" rtlCol="0" anchor="t"/>
          <a:lstStyle/>
          <a:p>
            <a:pPr marL="342900" indent="-3429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Interest Rate</a:t>
            </a:r>
            <a:endParaRPr lang="en-US" sz="950" dirty="0"/>
          </a:p>
          <a:p>
            <a:pPr marL="342900" indent="-3429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Debt-to-Income Ratio</a:t>
            </a:r>
            <a:endParaRPr lang="en-US" sz="950" dirty="0"/>
          </a:p>
          <a:p>
            <a:pPr marL="342900" indent="-3429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Annual Income</a:t>
            </a:r>
            <a:endParaRPr lang="en-US" sz="950" dirty="0"/>
          </a:p>
          <a:p>
            <a:pPr marL="342900" indent="-3429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Loan Amount</a:t>
            </a:r>
            <a:endParaRPr lang="en-US" sz="950" dirty="0"/>
          </a:p>
        </p:txBody>
      </p:sp>
      <p:sp>
        <p:nvSpPr>
          <p:cNvPr id="15" name="Shape 12"/>
          <p:cNvSpPr/>
          <p:nvPr/>
        </p:nvSpPr>
        <p:spPr>
          <a:xfrm>
            <a:off x="548640" y="5623560"/>
            <a:ext cx="11064240" cy="685800"/>
          </a:xfrm>
          <a:prstGeom prst="roundRect">
            <a:avLst>
              <a:gd name="adj" fmla="val 8000"/>
            </a:avLst>
          </a:prstGeom>
          <a:solidFill>
            <a:srgbClr val="142850"/>
          </a:solidFill>
          <a:ln/>
          <a:effectLst>
            <a:outerShdw sx="100000" sy="100000" kx="0" ky="0" algn="bl" rotWithShape="0" blurRad="76200" dist="25400" dir="2700000">
              <a:srgbClr val="000000">
                <a:alpha val="15000"/>
              </a:srgbClr>
            </a:outerShdw>
          </a:effectLst>
        </p:spPr>
      </p:sp>
      <p:sp>
        <p:nvSpPr>
          <p:cNvPr id="16" name="Text 13"/>
          <p:cNvSpPr/>
          <p:nvPr/>
        </p:nvSpPr>
        <p:spPr>
          <a:xfrm>
            <a:off x="777240" y="5715000"/>
            <a:ext cx="10607040" cy="50292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Balanced Logistic Regression proved most effective because it prioritized identifying high-risk borrowers over overall accuracy, making it more suitable for real-world lending applications.</a:t>
            </a:r>
            <a:endParaRPr lang="en-US" sz="1200" dirty="0"/>
          </a:p>
        </p:txBody>
      </p:sp>
      <p:sp>
        <p:nvSpPr>
          <p:cNvPr id="17" name="Text 14"/>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Business Recommendations</a:t>
            </a:r>
            <a:endParaRPr lang="en-US" sz="3200" dirty="0"/>
          </a:p>
        </p:txBody>
      </p:sp>
      <p:sp>
        <p:nvSpPr>
          <p:cNvPr id="4" name="Shape 2"/>
          <p:cNvSpPr/>
          <p:nvPr/>
        </p:nvSpPr>
        <p:spPr>
          <a:xfrm>
            <a:off x="548640" y="1371600"/>
            <a:ext cx="7223760" cy="777240"/>
          </a:xfrm>
          <a:prstGeom prst="roundRect">
            <a:avLst>
              <a:gd name="adj" fmla="val 8235"/>
            </a:avLst>
          </a:prstGeom>
          <a:solidFill>
            <a:srgbClr val="F4F7FB"/>
          </a:solidFill>
          <a:ln/>
          <a:effectLst>
            <a:outerShdw sx="100000" sy="100000" kx="0" ky="0" algn="bl" rotWithShape="0" blurRad="76200" dist="25400" dir="2700000">
              <a:srgbClr val="000000">
                <a:alpha val="10000"/>
              </a:srgbClr>
            </a:outerShdw>
          </a:effectLst>
        </p:spPr>
      </p:sp>
      <p:pic>
        <p:nvPicPr>
          <p:cNvPr id="5" name="Image 0" descr="preencoded.png">    </p:cNvPr>
          <p:cNvPicPr>
            <a:picLocks noChangeAspect="1"/>
          </p:cNvPicPr>
          <p:nvPr/>
        </p:nvPicPr>
        <p:blipFill>
          <a:blip r:embed="rId1"/>
          <a:stretch>
            <a:fillRect/>
          </a:stretch>
        </p:blipFill>
        <p:spPr>
          <a:xfrm>
            <a:off x="731520" y="1536192"/>
            <a:ext cx="457200" cy="457200"/>
          </a:xfrm>
          <a:prstGeom prst="rect">
            <a:avLst/>
          </a:prstGeom>
        </p:spPr>
      </p:pic>
      <p:sp>
        <p:nvSpPr>
          <p:cNvPr id="6" name="Text 3"/>
          <p:cNvSpPr/>
          <p:nvPr/>
        </p:nvSpPr>
        <p:spPr>
          <a:xfrm>
            <a:off x="1371600" y="1444752"/>
            <a:ext cx="6263640" cy="292608"/>
          </a:xfrm>
          <a:prstGeom prst="rect">
            <a:avLst/>
          </a:prstGeom>
          <a:noFill/>
          <a:ln/>
        </p:spPr>
        <p:txBody>
          <a:bodyPr wrap="square" rtlCol="0" anchor="ctr"/>
          <a:lstStyle/>
          <a:p>
            <a:pPr indent="0" marL="0">
              <a:buNone/>
            </a:pPr>
            <a:r>
              <a:rPr lang="en-US" sz="1200" b="1" dirty="0">
                <a:solidFill>
                  <a:srgbClr val="142850"/>
                </a:solidFill>
                <a:latin typeface="Calibri" pitchFamily="34" charset="0"/>
                <a:ea typeface="Calibri" pitchFamily="34" charset="-122"/>
                <a:cs typeface="Calibri" pitchFamily="34" charset="-120"/>
              </a:rPr>
              <a:t>Adopt the Balanced Logistic Regression Model</a:t>
            </a:r>
            <a:endParaRPr lang="en-US" sz="1200" dirty="0"/>
          </a:p>
        </p:txBody>
      </p:sp>
      <p:sp>
        <p:nvSpPr>
          <p:cNvPr id="7" name="Text 4"/>
          <p:cNvSpPr/>
          <p:nvPr/>
        </p:nvSpPr>
        <p:spPr>
          <a:xfrm>
            <a:off x="1371600" y="1737360"/>
            <a:ext cx="6263640" cy="36576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Integrate it into the credit evaluation process — it best identifies high-risk borrowers.</a:t>
            </a:r>
            <a:endParaRPr lang="en-US" sz="980" dirty="0"/>
          </a:p>
        </p:txBody>
      </p:sp>
      <p:sp>
        <p:nvSpPr>
          <p:cNvPr id="8" name="Shape 5"/>
          <p:cNvSpPr/>
          <p:nvPr/>
        </p:nvSpPr>
        <p:spPr>
          <a:xfrm>
            <a:off x="548640" y="2267712"/>
            <a:ext cx="7223760" cy="777240"/>
          </a:xfrm>
          <a:prstGeom prst="roundRect">
            <a:avLst>
              <a:gd name="adj" fmla="val 8235"/>
            </a:avLst>
          </a:prstGeom>
          <a:solidFill>
            <a:srgbClr val="F4F7FB"/>
          </a:solidFill>
          <a:ln/>
          <a:effectLst>
            <a:outerShdw sx="100000" sy="100000" kx="0" ky="0" algn="bl" rotWithShape="0" blurRad="76200" dist="25400" dir="2700000">
              <a:srgbClr val="000000">
                <a:alpha val="10000"/>
              </a:srgbClr>
            </a:outerShdw>
          </a:effectLst>
        </p:spPr>
      </p:sp>
      <p:pic>
        <p:nvPicPr>
          <p:cNvPr id="9" name="Image 1" descr="preencoded.png">    </p:cNvPr>
          <p:cNvPicPr>
            <a:picLocks noChangeAspect="1"/>
          </p:cNvPicPr>
          <p:nvPr/>
        </p:nvPicPr>
        <p:blipFill>
          <a:blip r:embed="rId2"/>
          <a:stretch>
            <a:fillRect/>
          </a:stretch>
        </p:blipFill>
        <p:spPr>
          <a:xfrm>
            <a:off x="731520" y="2432304"/>
            <a:ext cx="457200" cy="457200"/>
          </a:xfrm>
          <a:prstGeom prst="rect">
            <a:avLst/>
          </a:prstGeom>
        </p:spPr>
      </p:pic>
      <p:sp>
        <p:nvSpPr>
          <p:cNvPr id="10" name="Text 6"/>
          <p:cNvSpPr/>
          <p:nvPr/>
        </p:nvSpPr>
        <p:spPr>
          <a:xfrm>
            <a:off x="1371600" y="2340864"/>
            <a:ext cx="6263640" cy="292608"/>
          </a:xfrm>
          <a:prstGeom prst="rect">
            <a:avLst/>
          </a:prstGeom>
          <a:noFill/>
          <a:ln/>
        </p:spPr>
        <p:txBody>
          <a:bodyPr wrap="square" rtlCol="0" anchor="ctr"/>
          <a:lstStyle/>
          <a:p>
            <a:pPr indent="0" marL="0">
              <a:buNone/>
            </a:pPr>
            <a:r>
              <a:rPr lang="en-US" sz="1200" b="1" dirty="0">
                <a:solidFill>
                  <a:srgbClr val="142850"/>
                </a:solidFill>
                <a:latin typeface="Calibri" pitchFamily="34" charset="0"/>
                <a:ea typeface="Calibri" pitchFamily="34" charset="-122"/>
                <a:cs typeface="Calibri" pitchFamily="34" charset="-120"/>
              </a:rPr>
              <a:t>Strengthen Borrower Risk Assessment</a:t>
            </a:r>
            <a:endParaRPr lang="en-US" sz="1200" dirty="0"/>
          </a:p>
        </p:txBody>
      </p:sp>
      <p:sp>
        <p:nvSpPr>
          <p:cNvPr id="11" name="Text 7"/>
          <p:cNvSpPr/>
          <p:nvPr/>
        </p:nvSpPr>
        <p:spPr>
          <a:xfrm>
            <a:off x="1371600" y="2633472"/>
            <a:ext cx="6263640" cy="36576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Use multiple characteristics: DTI, interest rate, income, delinquencies, inquiries.</a:t>
            </a:r>
            <a:endParaRPr lang="en-US" sz="980" dirty="0"/>
          </a:p>
        </p:txBody>
      </p:sp>
      <p:sp>
        <p:nvSpPr>
          <p:cNvPr id="12" name="Shape 8"/>
          <p:cNvSpPr/>
          <p:nvPr/>
        </p:nvSpPr>
        <p:spPr>
          <a:xfrm>
            <a:off x="548640" y="3163824"/>
            <a:ext cx="7223760" cy="777240"/>
          </a:xfrm>
          <a:prstGeom prst="roundRect">
            <a:avLst>
              <a:gd name="adj" fmla="val 8235"/>
            </a:avLst>
          </a:prstGeom>
          <a:solidFill>
            <a:srgbClr val="F4F7FB"/>
          </a:solidFill>
          <a:ln/>
          <a:effectLst>
            <a:outerShdw sx="100000" sy="100000" kx="0" ky="0" algn="bl" rotWithShape="0" blurRad="76200" dist="25400" dir="2700000">
              <a:srgbClr val="000000">
                <a:alpha val="10000"/>
              </a:srgbClr>
            </a:outerShdw>
          </a:effectLst>
        </p:spPr>
      </p:sp>
      <p:pic>
        <p:nvPicPr>
          <p:cNvPr id="13" name="Image 2" descr="preencoded.png">    </p:cNvPr>
          <p:cNvPicPr>
            <a:picLocks noChangeAspect="1"/>
          </p:cNvPicPr>
          <p:nvPr/>
        </p:nvPicPr>
        <p:blipFill>
          <a:blip r:embed="rId3"/>
          <a:stretch>
            <a:fillRect/>
          </a:stretch>
        </p:blipFill>
        <p:spPr>
          <a:xfrm>
            <a:off x="731520" y="3328416"/>
            <a:ext cx="457200" cy="457200"/>
          </a:xfrm>
          <a:prstGeom prst="rect">
            <a:avLst/>
          </a:prstGeom>
        </p:spPr>
      </p:pic>
      <p:sp>
        <p:nvSpPr>
          <p:cNvPr id="14" name="Text 9"/>
          <p:cNvSpPr/>
          <p:nvPr/>
        </p:nvSpPr>
        <p:spPr>
          <a:xfrm>
            <a:off x="1371600" y="3236976"/>
            <a:ext cx="6263640" cy="292608"/>
          </a:xfrm>
          <a:prstGeom prst="rect">
            <a:avLst/>
          </a:prstGeom>
          <a:noFill/>
          <a:ln/>
        </p:spPr>
        <p:txBody>
          <a:bodyPr wrap="square" rtlCol="0" anchor="ctr"/>
          <a:lstStyle/>
          <a:p>
            <a:pPr indent="0" marL="0">
              <a:buNone/>
            </a:pPr>
            <a:r>
              <a:rPr lang="en-US" sz="1200" b="1" dirty="0">
                <a:solidFill>
                  <a:srgbClr val="142850"/>
                </a:solidFill>
                <a:latin typeface="Calibri" pitchFamily="34" charset="0"/>
                <a:ea typeface="Calibri" pitchFamily="34" charset="-122"/>
                <a:cs typeface="Calibri" pitchFamily="34" charset="-120"/>
              </a:rPr>
              <a:t>Monitor Early Warning Indicators</a:t>
            </a:r>
            <a:endParaRPr lang="en-US" sz="1200" dirty="0"/>
          </a:p>
        </p:txBody>
      </p:sp>
      <p:sp>
        <p:nvSpPr>
          <p:cNvPr id="15" name="Text 10"/>
          <p:cNvSpPr/>
          <p:nvPr/>
        </p:nvSpPr>
        <p:spPr>
          <a:xfrm>
            <a:off x="1371600" y="3529584"/>
            <a:ext cx="6263640" cy="36576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Watch rising credit inquiries, delinquency history, high DTI, tax liens, bankruptcies.</a:t>
            </a:r>
            <a:endParaRPr lang="en-US" sz="980" dirty="0"/>
          </a:p>
        </p:txBody>
      </p:sp>
      <p:sp>
        <p:nvSpPr>
          <p:cNvPr id="16" name="Shape 11"/>
          <p:cNvSpPr/>
          <p:nvPr/>
        </p:nvSpPr>
        <p:spPr>
          <a:xfrm>
            <a:off x="548640" y="4059936"/>
            <a:ext cx="7223760" cy="777240"/>
          </a:xfrm>
          <a:prstGeom prst="roundRect">
            <a:avLst>
              <a:gd name="adj" fmla="val 8235"/>
            </a:avLst>
          </a:prstGeom>
          <a:solidFill>
            <a:srgbClr val="F4F7FB"/>
          </a:solidFill>
          <a:ln/>
          <a:effectLst>
            <a:outerShdw sx="100000" sy="100000" kx="0" ky="0" algn="bl" rotWithShape="0" blurRad="76200" dist="25400" dir="2700000">
              <a:srgbClr val="000000">
                <a:alpha val="10000"/>
              </a:srgbClr>
            </a:outerShdw>
          </a:effectLst>
        </p:spPr>
      </p:sp>
      <p:pic>
        <p:nvPicPr>
          <p:cNvPr id="17" name="Image 3" descr="preencoded.png">    </p:cNvPr>
          <p:cNvPicPr>
            <a:picLocks noChangeAspect="1"/>
          </p:cNvPicPr>
          <p:nvPr/>
        </p:nvPicPr>
        <p:blipFill>
          <a:blip r:embed="rId4"/>
          <a:stretch>
            <a:fillRect/>
          </a:stretch>
        </p:blipFill>
        <p:spPr>
          <a:xfrm>
            <a:off x="731520" y="4224528"/>
            <a:ext cx="457200" cy="457200"/>
          </a:xfrm>
          <a:prstGeom prst="rect">
            <a:avLst/>
          </a:prstGeom>
        </p:spPr>
      </p:pic>
      <p:sp>
        <p:nvSpPr>
          <p:cNvPr id="18" name="Text 12"/>
          <p:cNvSpPr/>
          <p:nvPr/>
        </p:nvSpPr>
        <p:spPr>
          <a:xfrm>
            <a:off x="1371600" y="4133088"/>
            <a:ext cx="6263640" cy="292608"/>
          </a:xfrm>
          <a:prstGeom prst="rect">
            <a:avLst/>
          </a:prstGeom>
          <a:noFill/>
          <a:ln/>
        </p:spPr>
        <p:txBody>
          <a:bodyPr wrap="square" rtlCol="0" anchor="ctr"/>
          <a:lstStyle/>
          <a:p>
            <a:pPr indent="0" marL="0">
              <a:buNone/>
            </a:pPr>
            <a:r>
              <a:rPr lang="en-US" sz="1200" b="1" dirty="0">
                <a:solidFill>
                  <a:srgbClr val="142850"/>
                </a:solidFill>
                <a:latin typeface="Calibri" pitchFamily="34" charset="0"/>
                <a:ea typeface="Calibri" pitchFamily="34" charset="-122"/>
                <a:cs typeface="Calibri" pitchFamily="34" charset="-120"/>
              </a:rPr>
              <a:t>Maintain a Balanced Lending Portfolio</a:t>
            </a:r>
            <a:endParaRPr lang="en-US" sz="1200" dirty="0"/>
          </a:p>
        </p:txBody>
      </p:sp>
      <p:sp>
        <p:nvSpPr>
          <p:cNvPr id="19" name="Text 13"/>
          <p:cNvSpPr/>
          <p:nvPr/>
        </p:nvSpPr>
        <p:spPr>
          <a:xfrm>
            <a:off x="1371600" y="4425696"/>
            <a:ext cx="6263640" cy="36576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Concentrate on Grades A-C; apply stricter underwriting to Grades D-G.</a:t>
            </a:r>
            <a:endParaRPr lang="en-US" sz="980" dirty="0"/>
          </a:p>
        </p:txBody>
      </p:sp>
      <p:sp>
        <p:nvSpPr>
          <p:cNvPr id="20" name="Shape 14"/>
          <p:cNvSpPr/>
          <p:nvPr/>
        </p:nvSpPr>
        <p:spPr>
          <a:xfrm>
            <a:off x="548640" y="4956048"/>
            <a:ext cx="7223760" cy="777240"/>
          </a:xfrm>
          <a:prstGeom prst="roundRect">
            <a:avLst>
              <a:gd name="adj" fmla="val 8235"/>
            </a:avLst>
          </a:prstGeom>
          <a:solidFill>
            <a:srgbClr val="F4F7FB"/>
          </a:solidFill>
          <a:ln/>
          <a:effectLst>
            <a:outerShdw sx="100000" sy="100000" kx="0" ky="0" algn="bl" rotWithShape="0" blurRad="76200" dist="25400" dir="2700000">
              <a:srgbClr val="000000">
                <a:alpha val="10000"/>
              </a:srgbClr>
            </a:outerShdw>
          </a:effectLst>
        </p:spPr>
      </p:sp>
      <p:pic>
        <p:nvPicPr>
          <p:cNvPr id="21" name="Image 4" descr="preencoded.png">    </p:cNvPr>
          <p:cNvPicPr>
            <a:picLocks noChangeAspect="1"/>
          </p:cNvPicPr>
          <p:nvPr/>
        </p:nvPicPr>
        <p:blipFill>
          <a:blip r:embed="rId5"/>
          <a:stretch>
            <a:fillRect/>
          </a:stretch>
        </p:blipFill>
        <p:spPr>
          <a:xfrm>
            <a:off x="731520" y="5120640"/>
            <a:ext cx="457200" cy="457200"/>
          </a:xfrm>
          <a:prstGeom prst="rect">
            <a:avLst/>
          </a:prstGeom>
        </p:spPr>
      </p:pic>
      <p:sp>
        <p:nvSpPr>
          <p:cNvPr id="22" name="Text 15"/>
          <p:cNvSpPr/>
          <p:nvPr/>
        </p:nvSpPr>
        <p:spPr>
          <a:xfrm>
            <a:off x="1371600" y="5029200"/>
            <a:ext cx="6263640" cy="292608"/>
          </a:xfrm>
          <a:prstGeom prst="rect">
            <a:avLst/>
          </a:prstGeom>
          <a:noFill/>
          <a:ln/>
        </p:spPr>
        <p:txBody>
          <a:bodyPr wrap="square" rtlCol="0" anchor="ctr"/>
          <a:lstStyle/>
          <a:p>
            <a:pPr indent="0" marL="0">
              <a:buNone/>
            </a:pPr>
            <a:r>
              <a:rPr lang="en-US" sz="1200" b="1" dirty="0">
                <a:solidFill>
                  <a:srgbClr val="142850"/>
                </a:solidFill>
                <a:latin typeface="Calibri" pitchFamily="34" charset="0"/>
                <a:ea typeface="Calibri" pitchFamily="34" charset="-122"/>
                <a:cs typeface="Calibri" pitchFamily="34" charset="-120"/>
              </a:rPr>
              <a:t>Continue Risk-Based Pricing</a:t>
            </a:r>
            <a:endParaRPr lang="en-US" sz="1200" dirty="0"/>
          </a:p>
        </p:txBody>
      </p:sp>
      <p:sp>
        <p:nvSpPr>
          <p:cNvPr id="23" name="Text 16"/>
          <p:cNvSpPr/>
          <p:nvPr/>
        </p:nvSpPr>
        <p:spPr>
          <a:xfrm>
            <a:off x="1371600" y="5321808"/>
            <a:ext cx="6263640" cy="36576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Higher-risk borrowers pay higher rates — ensures fair compensation and stability.</a:t>
            </a:r>
            <a:endParaRPr lang="en-US" sz="980" dirty="0"/>
          </a:p>
        </p:txBody>
      </p:sp>
      <p:sp>
        <p:nvSpPr>
          <p:cNvPr id="24" name="Shape 17"/>
          <p:cNvSpPr/>
          <p:nvPr/>
        </p:nvSpPr>
        <p:spPr>
          <a:xfrm>
            <a:off x="8001000" y="1371600"/>
            <a:ext cx="3611880" cy="4480560"/>
          </a:xfrm>
          <a:prstGeom prst="roundRect">
            <a:avLst>
              <a:gd name="adj" fmla="val 1772"/>
            </a:avLst>
          </a:prstGeom>
          <a:solidFill>
            <a:srgbClr val="142850"/>
          </a:solidFill>
          <a:ln/>
          <a:effectLst>
            <a:outerShdw sx="100000" sy="100000" kx="0" ky="0" algn="bl" rotWithShape="0" blurRad="76200" dist="25400" dir="2700000">
              <a:srgbClr val="000000">
                <a:alpha val="10000"/>
              </a:srgbClr>
            </a:outerShdw>
          </a:effectLst>
        </p:spPr>
      </p:sp>
      <p:sp>
        <p:nvSpPr>
          <p:cNvPr id="25" name="Text 18"/>
          <p:cNvSpPr/>
          <p:nvPr/>
        </p:nvSpPr>
        <p:spPr>
          <a:xfrm>
            <a:off x="8229600" y="1554480"/>
            <a:ext cx="3200400" cy="320040"/>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Expected Benefits</a:t>
            </a:r>
            <a:endParaRPr lang="en-US" sz="1400" dirty="0"/>
          </a:p>
        </p:txBody>
      </p:sp>
      <p:sp>
        <p:nvSpPr>
          <p:cNvPr id="26" name="Text 19"/>
          <p:cNvSpPr/>
          <p:nvPr/>
        </p:nvSpPr>
        <p:spPr>
          <a:xfrm>
            <a:off x="8229600" y="2011680"/>
            <a:ext cx="3200400" cy="3657600"/>
          </a:xfrm>
          <a:prstGeom prst="rect">
            <a:avLst/>
          </a:prstGeom>
          <a:noFill/>
          <a:ln/>
        </p:spPr>
        <p:txBody>
          <a:bodyPr wrap="square" rtlCol="0" anchor="t"/>
          <a:lstStyle/>
          <a:p>
            <a:pPr marL="342900" indent="-342900">
              <a:spcAft>
                <a:spcPts val="1400"/>
              </a:spcAft>
              <a:buSzPct val="100000"/>
              <a:buChar char="•"/>
            </a:pPr>
            <a:r>
              <a:rPr lang="en-US" sz="1150" dirty="0">
                <a:solidFill>
                  <a:srgbClr val="D7E6F5"/>
                </a:solidFill>
                <a:latin typeface="Calibri" pitchFamily="34" charset="0"/>
                <a:ea typeface="Calibri" pitchFamily="34" charset="-122"/>
                <a:cs typeface="Calibri" pitchFamily="34" charset="-120"/>
              </a:rPr>
              <a:t>Lower Default Risk</a:t>
            </a:r>
            <a:endParaRPr lang="en-US" sz="1150" dirty="0"/>
          </a:p>
          <a:p>
            <a:pPr marL="342900" indent="-342900">
              <a:spcAft>
                <a:spcPts val="1400"/>
              </a:spcAft>
              <a:buSzPct val="100000"/>
              <a:buChar char="•"/>
            </a:pPr>
            <a:r>
              <a:rPr lang="en-US" sz="1150" dirty="0">
                <a:solidFill>
                  <a:srgbClr val="D7E6F5"/>
                </a:solidFill>
                <a:latin typeface="Calibri" pitchFamily="34" charset="0"/>
                <a:ea typeface="Calibri" pitchFamily="34" charset="-122"/>
                <a:cs typeface="Calibri" pitchFamily="34" charset="-120"/>
              </a:rPr>
              <a:t>Better Loan Approval Decisions</a:t>
            </a:r>
            <a:endParaRPr lang="en-US" sz="1150" dirty="0"/>
          </a:p>
          <a:p>
            <a:pPr marL="342900" indent="-342900">
              <a:spcAft>
                <a:spcPts val="1400"/>
              </a:spcAft>
              <a:buSzPct val="100000"/>
              <a:buChar char="•"/>
            </a:pPr>
            <a:r>
              <a:rPr lang="en-US" sz="1150" dirty="0">
                <a:solidFill>
                  <a:srgbClr val="D7E6F5"/>
                </a:solidFill>
                <a:latin typeface="Calibri" pitchFamily="34" charset="0"/>
                <a:ea typeface="Calibri" pitchFamily="34" charset="-122"/>
                <a:cs typeface="Calibri" pitchFamily="34" charset="-120"/>
              </a:rPr>
              <a:t>Improved Portfolio Quality</a:t>
            </a:r>
            <a:endParaRPr lang="en-US" sz="1150" dirty="0"/>
          </a:p>
          <a:p>
            <a:pPr marL="342900" indent="-342900">
              <a:spcAft>
                <a:spcPts val="1400"/>
              </a:spcAft>
              <a:buSzPct val="100000"/>
              <a:buChar char="•"/>
            </a:pPr>
            <a:r>
              <a:rPr lang="en-US" sz="1150" dirty="0">
                <a:solidFill>
                  <a:srgbClr val="D7E6F5"/>
                </a:solidFill>
                <a:latin typeface="Calibri" pitchFamily="34" charset="0"/>
                <a:ea typeface="Calibri" pitchFamily="34" charset="-122"/>
                <a:cs typeface="Calibri" pitchFamily="34" charset="-120"/>
              </a:rPr>
              <a:t>Higher Profitability</a:t>
            </a:r>
            <a:endParaRPr lang="en-US" sz="1150" dirty="0"/>
          </a:p>
          <a:p>
            <a:pPr marL="342900" indent="-342900">
              <a:spcAft>
                <a:spcPts val="1400"/>
              </a:spcAft>
              <a:buSzPct val="100000"/>
              <a:buChar char="•"/>
            </a:pPr>
            <a:r>
              <a:rPr lang="en-US" sz="1150" dirty="0">
                <a:solidFill>
                  <a:srgbClr val="D7E6F5"/>
                </a:solidFill>
                <a:latin typeface="Calibri" pitchFamily="34" charset="0"/>
                <a:ea typeface="Calibri" pitchFamily="34" charset="-122"/>
                <a:cs typeface="Calibri" pitchFamily="34" charset="-120"/>
              </a:rPr>
              <a:t>Stronger Credit Risk Management</a:t>
            </a:r>
            <a:endParaRPr lang="en-US" sz="1150" dirty="0"/>
          </a:p>
        </p:txBody>
      </p:sp>
      <p:sp>
        <p:nvSpPr>
          <p:cNvPr id="27" name="Shape 20"/>
          <p:cNvSpPr/>
          <p:nvPr/>
        </p:nvSpPr>
        <p:spPr>
          <a:xfrm>
            <a:off x="548640" y="5989320"/>
            <a:ext cx="11064240" cy="685800"/>
          </a:xfrm>
          <a:prstGeom prst="roundRect">
            <a:avLst>
              <a:gd name="adj" fmla="val 8000"/>
            </a:avLst>
          </a:prstGeom>
          <a:solidFill>
            <a:srgbClr val="142850"/>
          </a:solidFill>
          <a:ln/>
          <a:effectLst>
            <a:outerShdw sx="100000" sy="100000" kx="0" ky="0" algn="bl" rotWithShape="0" blurRad="76200" dist="25400" dir="2700000">
              <a:srgbClr val="000000">
                <a:alpha val="15000"/>
              </a:srgbClr>
            </a:outerShdw>
          </a:effectLst>
        </p:spPr>
      </p:sp>
      <p:sp>
        <p:nvSpPr>
          <p:cNvPr id="28" name="Text 21"/>
          <p:cNvSpPr/>
          <p:nvPr/>
        </p:nvSpPr>
        <p:spPr>
          <a:xfrm>
            <a:off x="777240" y="6080760"/>
            <a:ext cx="10607040" cy="502920"/>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Combining descriptive analytics, interactive dashboards, and machine learning enables financial institutions to make more informed lending decisions and build a healthier, more resilient loan portfolio.</a:t>
            </a:r>
            <a:endParaRPr lang="en-US" sz="1150" dirty="0"/>
          </a:p>
        </p:txBody>
      </p:sp>
      <p:sp>
        <p:nvSpPr>
          <p:cNvPr id="29" name="Text 22"/>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E08A2C"/>
                </a:solidFill>
                <a:latin typeface="Calibri" pitchFamily="34" charset="0"/>
                <a:ea typeface="Calibri" pitchFamily="34" charset="-122"/>
                <a:cs typeface="Calibri" pitchFamily="34" charset="-120"/>
              </a:rPr>
              <a:t>CONCLUSION</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200" b="1" dirty="0">
                <a:solidFill>
                  <a:srgbClr val="142850"/>
                </a:solidFill>
                <a:latin typeface="Cambria" pitchFamily="34" charset="0"/>
                <a:ea typeface="Cambria" pitchFamily="34" charset="-122"/>
                <a:cs typeface="Cambria" pitchFamily="34" charset="-120"/>
              </a:rPr>
              <a:t>Conclusion &amp; Future Work</a:t>
            </a:r>
            <a:endParaRPr lang="en-US" sz="3200" dirty="0"/>
          </a:p>
        </p:txBody>
      </p:sp>
      <p:sp>
        <p:nvSpPr>
          <p:cNvPr id="4" name="Text 2"/>
          <p:cNvSpPr/>
          <p:nvPr/>
        </p:nvSpPr>
        <p:spPr>
          <a:xfrm>
            <a:off x="548640" y="1325880"/>
            <a:ext cx="6766560" cy="274320"/>
          </a:xfrm>
          <a:prstGeom prst="rect">
            <a:avLst/>
          </a:prstGeom>
          <a:noFill/>
          <a:ln/>
        </p:spPr>
        <p:txBody>
          <a:bodyPr wrap="square" rtlCol="0" anchor="ctr"/>
          <a:lstStyle/>
          <a:p>
            <a:pPr indent="0" marL="0">
              <a:buNone/>
            </a:pPr>
            <a:r>
              <a:rPr lang="en-US" sz="1350" b="1" dirty="0">
                <a:solidFill>
                  <a:srgbClr val="142850"/>
                </a:solidFill>
                <a:latin typeface="Cambria" pitchFamily="34" charset="0"/>
                <a:ea typeface="Cambria" pitchFamily="34" charset="-122"/>
                <a:cs typeface="Cambria" pitchFamily="34" charset="-120"/>
              </a:rPr>
              <a:t>Project Summary</a:t>
            </a:r>
            <a:endParaRPr lang="en-US" sz="1350" dirty="0"/>
          </a:p>
        </p:txBody>
      </p:sp>
      <p:sp>
        <p:nvSpPr>
          <p:cNvPr id="5" name="Text 3"/>
          <p:cNvSpPr/>
          <p:nvPr/>
        </p:nvSpPr>
        <p:spPr>
          <a:xfrm>
            <a:off x="548640" y="1627632"/>
            <a:ext cx="6766560" cy="777240"/>
          </a:xfrm>
          <a:prstGeom prst="rect">
            <a:avLst/>
          </a:prstGeom>
          <a:noFill/>
          <a:ln/>
        </p:spPr>
        <p:txBody>
          <a:bodyPr wrap="square" rtlCol="0" anchor="ctr"/>
          <a:lstStyle/>
          <a:p>
            <a:pPr indent="0" marL="0">
              <a:buNone/>
            </a:pPr>
            <a:r>
              <a:rPr lang="en-US" sz="1100" dirty="0">
                <a:solidFill>
                  <a:srgbClr val="1F2937"/>
                </a:solidFill>
                <a:latin typeface="Calibri" pitchFamily="34" charset="0"/>
                <a:ea typeface="Calibri" pitchFamily="34" charset="-122"/>
                <a:cs typeface="Calibri" pitchFamily="34" charset="-120"/>
              </a:rPr>
              <a:t>This project combined data analytics, business intelligence, and machine learning to evaluate loan performance and identify the key factors influencing credit risk — transforming raw lending data into actionable insights.</a:t>
            </a:r>
            <a:endParaRPr lang="en-US" sz="1100" dirty="0"/>
          </a:p>
        </p:txBody>
      </p:sp>
      <p:sp>
        <p:nvSpPr>
          <p:cNvPr id="6" name="Text 4"/>
          <p:cNvSpPr/>
          <p:nvPr/>
        </p:nvSpPr>
        <p:spPr>
          <a:xfrm>
            <a:off x="548640" y="2514600"/>
            <a:ext cx="6766560" cy="274320"/>
          </a:xfrm>
          <a:prstGeom prst="rect">
            <a:avLst/>
          </a:prstGeom>
          <a:noFill/>
          <a:ln/>
        </p:spPr>
        <p:txBody>
          <a:bodyPr wrap="square" rtlCol="0" anchor="ctr"/>
          <a:lstStyle/>
          <a:p>
            <a:pPr indent="0" marL="0">
              <a:buNone/>
            </a:pPr>
            <a:r>
              <a:rPr lang="en-US" sz="1300" b="1" dirty="0">
                <a:solidFill>
                  <a:srgbClr val="142850"/>
                </a:solidFill>
                <a:latin typeface="Cambria" pitchFamily="34" charset="0"/>
                <a:ea typeface="Cambria" pitchFamily="34" charset="-122"/>
                <a:cs typeface="Cambria" pitchFamily="34" charset="-120"/>
              </a:rPr>
              <a:t>Objectives Achieved</a:t>
            </a:r>
            <a:endParaRPr lang="en-US" sz="1300" dirty="0"/>
          </a:p>
        </p:txBody>
      </p:sp>
      <p:sp>
        <p:nvSpPr>
          <p:cNvPr id="7" name="Text 5"/>
          <p:cNvSpPr/>
          <p:nvPr/>
        </p:nvSpPr>
        <p:spPr>
          <a:xfrm>
            <a:off x="548640" y="2834640"/>
            <a:ext cx="6766560" cy="1828800"/>
          </a:xfrm>
          <a:prstGeom prst="rect">
            <a:avLst/>
          </a:prstGeom>
          <a:noFill/>
          <a:ln/>
        </p:spPr>
        <p:txBody>
          <a:bodyPr wrap="square" rtlCol="0" anchor="t"/>
          <a:lstStyle/>
          <a:p>
            <a:pPr marL="342900" indent="-342900">
              <a:spcAft>
                <a:spcPts val="500"/>
              </a:spcAft>
              <a:buSzPct val="100000"/>
              <a:buChar char="•"/>
            </a:pPr>
            <a:r>
              <a:rPr lang="en-US" sz="1030" dirty="0">
                <a:solidFill>
                  <a:srgbClr val="1F2937"/>
                </a:solidFill>
                <a:latin typeface="Calibri" pitchFamily="34" charset="0"/>
                <a:ea typeface="Calibri" pitchFamily="34" charset="-122"/>
                <a:cs typeface="Calibri" pitchFamily="34" charset="-120"/>
              </a:rPr>
              <a:t>Comprehensive data cleaning and preparation</a:t>
            </a:r>
            <a:endParaRPr lang="en-US" sz="1030" dirty="0"/>
          </a:p>
          <a:p>
            <a:pPr marL="342900" indent="-342900">
              <a:spcAft>
                <a:spcPts val="500"/>
              </a:spcAft>
              <a:buSzPct val="100000"/>
              <a:buChar char="•"/>
            </a:pPr>
            <a:r>
              <a:rPr lang="en-US" sz="1030" dirty="0">
                <a:solidFill>
                  <a:srgbClr val="1F2937"/>
                </a:solidFill>
                <a:latin typeface="Calibri" pitchFamily="34" charset="0"/>
                <a:ea typeface="Calibri" pitchFamily="34" charset="-122"/>
                <a:cs typeface="Calibri" pitchFamily="34" charset="-120"/>
              </a:rPr>
              <a:t>Exploratory data analysis of borrower and portfolio characteristics</a:t>
            </a:r>
            <a:endParaRPr lang="en-US" sz="1030" dirty="0"/>
          </a:p>
          <a:p>
            <a:pPr marL="342900" indent="-342900">
              <a:spcAft>
                <a:spcPts val="500"/>
              </a:spcAft>
              <a:buSzPct val="100000"/>
              <a:buChar char="•"/>
            </a:pPr>
            <a:r>
              <a:rPr lang="en-US" sz="1030" dirty="0">
                <a:solidFill>
                  <a:srgbClr val="1F2937"/>
                </a:solidFill>
                <a:latin typeface="Calibri" pitchFamily="34" charset="0"/>
                <a:ea typeface="Calibri" pitchFamily="34" charset="-122"/>
                <a:cs typeface="Calibri" pitchFamily="34" charset="-120"/>
              </a:rPr>
              <a:t>Interactive Power BI dashboards for portfolio monitoring</a:t>
            </a:r>
            <a:endParaRPr lang="en-US" sz="1030" dirty="0"/>
          </a:p>
          <a:p>
            <a:pPr marL="342900" indent="-342900">
              <a:spcAft>
                <a:spcPts val="500"/>
              </a:spcAft>
              <a:buSzPct val="100000"/>
              <a:buChar char="•"/>
            </a:pPr>
            <a:r>
              <a:rPr lang="en-US" sz="1030" dirty="0">
                <a:solidFill>
                  <a:srgbClr val="1F2937"/>
                </a:solidFill>
                <a:latin typeface="Calibri" pitchFamily="34" charset="0"/>
                <a:ea typeface="Calibri" pitchFamily="34" charset="-122"/>
                <a:cs typeface="Calibri" pitchFamily="34" charset="-120"/>
              </a:rPr>
              <a:t>Multiple ML models developed and compared for loan performance prediction</a:t>
            </a:r>
            <a:endParaRPr lang="en-US" sz="1030" dirty="0"/>
          </a:p>
          <a:p>
            <a:pPr marL="342900" indent="-342900">
              <a:spcAft>
                <a:spcPts val="500"/>
              </a:spcAft>
              <a:buSzPct val="100000"/>
              <a:buChar char="•"/>
            </a:pPr>
            <a:r>
              <a:rPr lang="en-US" sz="1030" dirty="0">
                <a:solidFill>
                  <a:srgbClr val="1F2937"/>
                </a:solidFill>
                <a:latin typeface="Calibri" pitchFamily="34" charset="0"/>
                <a:ea typeface="Calibri" pitchFamily="34" charset="-122"/>
                <a:cs typeface="Calibri" pitchFamily="34" charset="-120"/>
              </a:rPr>
              <a:t>Identified the most influential predictors of loan performance</a:t>
            </a:r>
            <a:endParaRPr lang="en-US" sz="1030" dirty="0"/>
          </a:p>
        </p:txBody>
      </p:sp>
      <p:sp>
        <p:nvSpPr>
          <p:cNvPr id="8" name="Text 6"/>
          <p:cNvSpPr/>
          <p:nvPr/>
        </p:nvSpPr>
        <p:spPr>
          <a:xfrm>
            <a:off x="548640" y="4709160"/>
            <a:ext cx="6766560" cy="274320"/>
          </a:xfrm>
          <a:prstGeom prst="rect">
            <a:avLst/>
          </a:prstGeom>
          <a:noFill/>
          <a:ln/>
        </p:spPr>
        <p:txBody>
          <a:bodyPr wrap="square" rtlCol="0" anchor="ctr"/>
          <a:lstStyle/>
          <a:p>
            <a:pPr indent="0" marL="0">
              <a:buNone/>
            </a:pPr>
            <a:r>
              <a:rPr lang="en-US" sz="1300" b="1" dirty="0">
                <a:solidFill>
                  <a:srgbClr val="142850"/>
                </a:solidFill>
                <a:latin typeface="Cambria" pitchFamily="34" charset="0"/>
                <a:ea typeface="Cambria" pitchFamily="34" charset="-122"/>
                <a:cs typeface="Cambria" pitchFamily="34" charset="-120"/>
              </a:rPr>
              <a:t>Future Improvements</a:t>
            </a:r>
            <a:endParaRPr lang="en-US" sz="1300" dirty="0"/>
          </a:p>
        </p:txBody>
      </p:sp>
      <p:sp>
        <p:nvSpPr>
          <p:cNvPr id="9" name="Text 7"/>
          <p:cNvSpPr/>
          <p:nvPr/>
        </p:nvSpPr>
        <p:spPr>
          <a:xfrm>
            <a:off x="548640" y="5029200"/>
            <a:ext cx="6766560" cy="1097280"/>
          </a:xfrm>
          <a:prstGeom prst="rect">
            <a:avLst/>
          </a:prstGeom>
          <a:noFill/>
          <a:ln/>
        </p:spPr>
        <p:txBody>
          <a:bodyPr wrap="square" rtlCol="0" anchor="t"/>
          <a:lstStyle/>
          <a:p>
            <a:pPr marL="342900" indent="-342900">
              <a:spcAft>
                <a:spcPts val="500"/>
              </a:spcAft>
              <a:buSzPct val="100000"/>
              <a:buChar char="•"/>
            </a:pPr>
            <a:r>
              <a:rPr lang="en-US" sz="1030" dirty="0">
                <a:solidFill>
                  <a:srgbClr val="1F2937"/>
                </a:solidFill>
                <a:latin typeface="Calibri" pitchFamily="34" charset="0"/>
                <a:ea typeface="Calibri" pitchFamily="34" charset="-122"/>
                <a:cs typeface="Calibri" pitchFamily="34" charset="-120"/>
              </a:rPr>
              <a:t>Collect more recent lending data</a:t>
            </a:r>
            <a:endParaRPr lang="en-US" sz="1030" dirty="0"/>
          </a:p>
          <a:p>
            <a:pPr marL="342900" indent="-342900">
              <a:spcAft>
                <a:spcPts val="500"/>
              </a:spcAft>
              <a:buSzPct val="100000"/>
              <a:buChar char="•"/>
            </a:pPr>
            <a:r>
              <a:rPr lang="en-US" sz="1030" dirty="0">
                <a:solidFill>
                  <a:srgbClr val="1F2937"/>
                </a:solidFill>
                <a:latin typeface="Calibri" pitchFamily="34" charset="0"/>
                <a:ea typeface="Calibri" pitchFamily="34" charset="-122"/>
                <a:cs typeface="Calibri" pitchFamily="34" charset="-120"/>
              </a:rPr>
              <a:t>Apply advanced models (XGBoost, LightGBM, CatBoost)</a:t>
            </a:r>
            <a:endParaRPr lang="en-US" sz="1030" dirty="0"/>
          </a:p>
          <a:p>
            <a:pPr marL="342900" indent="-342900">
              <a:spcAft>
                <a:spcPts val="500"/>
              </a:spcAft>
              <a:buSzPct val="100000"/>
              <a:buChar char="•"/>
            </a:pPr>
            <a:r>
              <a:rPr lang="en-US" sz="1030" dirty="0">
                <a:solidFill>
                  <a:srgbClr val="1F2937"/>
                </a:solidFill>
                <a:latin typeface="Calibri" pitchFamily="34" charset="0"/>
                <a:ea typeface="Calibri" pitchFamily="34" charset="-122"/>
                <a:cs typeface="Calibri" pitchFamily="34" charset="-120"/>
              </a:rPr>
              <a:t>Explore probability-based risk scoring; incorporate macroeconomic indicators</a:t>
            </a:r>
            <a:endParaRPr lang="en-US" sz="1030" dirty="0"/>
          </a:p>
        </p:txBody>
      </p:sp>
      <p:sp>
        <p:nvSpPr>
          <p:cNvPr id="10" name="Shape 8"/>
          <p:cNvSpPr/>
          <p:nvPr/>
        </p:nvSpPr>
        <p:spPr>
          <a:xfrm>
            <a:off x="7680960" y="1325880"/>
            <a:ext cx="3931920" cy="4800600"/>
          </a:xfrm>
          <a:prstGeom prst="roundRect">
            <a:avLst>
              <a:gd name="adj" fmla="val 1628"/>
            </a:avLst>
          </a:prstGeom>
          <a:solidFill>
            <a:srgbClr val="F4F7FB"/>
          </a:solidFill>
          <a:ln/>
          <a:effectLst>
            <a:outerShdw sx="100000" sy="100000" kx="0" ky="0" algn="bl" rotWithShape="0" blurRad="76200" dist="25400" dir="2700000">
              <a:srgbClr val="000000">
                <a:alpha val="10000"/>
              </a:srgbClr>
            </a:outerShdw>
          </a:effectLst>
        </p:spPr>
      </p:sp>
      <p:sp>
        <p:nvSpPr>
          <p:cNvPr id="11" name="Text 9"/>
          <p:cNvSpPr/>
          <p:nvPr/>
        </p:nvSpPr>
        <p:spPr>
          <a:xfrm>
            <a:off x="7909560" y="1508760"/>
            <a:ext cx="3474720" cy="320040"/>
          </a:xfrm>
          <a:prstGeom prst="rect">
            <a:avLst/>
          </a:prstGeom>
          <a:noFill/>
          <a:ln/>
        </p:spPr>
        <p:txBody>
          <a:bodyPr wrap="square" rtlCol="0" anchor="ctr"/>
          <a:lstStyle/>
          <a:p>
            <a:pPr indent="0" marL="0">
              <a:buNone/>
            </a:pPr>
            <a:r>
              <a:rPr lang="en-US" sz="1400" b="1" dirty="0">
                <a:solidFill>
                  <a:srgbClr val="142850"/>
                </a:solidFill>
                <a:latin typeface="Cambria" pitchFamily="34" charset="0"/>
                <a:ea typeface="Cambria" pitchFamily="34" charset="-122"/>
                <a:cs typeface="Cambria" pitchFamily="34" charset="-120"/>
              </a:rPr>
              <a:t>Final Takeaways</a:t>
            </a:r>
            <a:endParaRPr lang="en-US" sz="1400" dirty="0"/>
          </a:p>
        </p:txBody>
      </p:sp>
      <p:sp>
        <p:nvSpPr>
          <p:cNvPr id="12" name="Text 10"/>
          <p:cNvSpPr/>
          <p:nvPr/>
        </p:nvSpPr>
        <p:spPr>
          <a:xfrm>
            <a:off x="7909560" y="1920240"/>
            <a:ext cx="3474720" cy="2743200"/>
          </a:xfrm>
          <a:prstGeom prst="rect">
            <a:avLst/>
          </a:prstGeom>
          <a:noFill/>
          <a:ln/>
        </p:spPr>
        <p:txBody>
          <a:bodyPr wrap="square" rtlCol="0" anchor="t"/>
          <a:lstStyle/>
          <a:p>
            <a:pPr marL="342900" indent="-342900">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Strong Portfolio Health</a:t>
            </a:r>
            <a:endParaRPr lang="en-US" sz="1100" dirty="0"/>
          </a:p>
          <a:p>
            <a:pPr marL="342900" indent="-342900">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Data-Driven Decision Making</a:t>
            </a:r>
            <a:endParaRPr lang="en-US" sz="1100" dirty="0"/>
          </a:p>
          <a:p>
            <a:pPr marL="342900" indent="-342900">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Improved Credit Risk Identification</a:t>
            </a:r>
            <a:endParaRPr lang="en-US" sz="1100" dirty="0"/>
          </a:p>
          <a:p>
            <a:pPr marL="342900" indent="-342900">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Interactive Business Intelligence</a:t>
            </a:r>
            <a:endParaRPr lang="en-US" sz="1100" dirty="0"/>
          </a:p>
          <a:p>
            <a:pPr marL="342900" indent="-342900">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Predictive Machine Learning</a:t>
            </a:r>
            <a:endParaRPr lang="en-US" sz="1100" dirty="0"/>
          </a:p>
          <a:p>
            <a:pPr marL="342900" indent="-342900">
              <a:spcAft>
                <a:spcPts val="1200"/>
              </a:spcAft>
              <a:buSzPct val="100000"/>
              <a:buChar char="•"/>
            </a:pPr>
            <a:r>
              <a:rPr lang="en-US" sz="1100" dirty="0">
                <a:solidFill>
                  <a:srgbClr val="1F2937"/>
                </a:solidFill>
                <a:latin typeface="Calibri" pitchFamily="34" charset="0"/>
                <a:ea typeface="Calibri" pitchFamily="34" charset="-122"/>
                <a:cs typeface="Calibri" pitchFamily="34" charset="-120"/>
              </a:rPr>
              <a:t>Actionable Business Recommendations</a:t>
            </a:r>
            <a:endParaRPr lang="en-US" sz="1100" dirty="0"/>
          </a:p>
        </p:txBody>
      </p:sp>
      <p:sp>
        <p:nvSpPr>
          <p:cNvPr id="13" name="Shape 11"/>
          <p:cNvSpPr/>
          <p:nvPr/>
        </p:nvSpPr>
        <p:spPr>
          <a:xfrm>
            <a:off x="7680960" y="4846320"/>
            <a:ext cx="3931920" cy="1280160"/>
          </a:xfrm>
          <a:prstGeom prst="roundRect">
            <a:avLst>
              <a:gd name="adj" fmla="val 4286"/>
            </a:avLst>
          </a:prstGeom>
          <a:solidFill>
            <a:srgbClr val="142850"/>
          </a:solidFill>
          <a:ln/>
          <a:effectLst>
            <a:outerShdw sx="100000" sy="100000" kx="0" ky="0" algn="bl" rotWithShape="0" blurRad="76200" dist="25400" dir="2700000">
              <a:srgbClr val="000000">
                <a:alpha val="15000"/>
              </a:srgbClr>
            </a:outerShdw>
          </a:effectLst>
        </p:spPr>
      </p:sp>
      <p:sp>
        <p:nvSpPr>
          <p:cNvPr id="14" name="Text 12"/>
          <p:cNvSpPr/>
          <p:nvPr/>
        </p:nvSpPr>
        <p:spPr>
          <a:xfrm>
            <a:off x="7909560" y="4937760"/>
            <a:ext cx="3474720" cy="1097280"/>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“Effective credit risk management is not about predicting every default — it is about identifying the right borrowers at the right time using data-driven insights.”</a:t>
            </a:r>
            <a:endParaRPr lang="en-US" sz="1150" dirty="0"/>
          </a:p>
        </p:txBody>
      </p:sp>
      <p:sp>
        <p:nvSpPr>
          <p:cNvPr id="15" name="Text 13"/>
          <p:cNvSpPr/>
          <p:nvPr/>
        </p:nvSpPr>
        <p:spPr>
          <a:xfrm>
            <a:off x="11548872" y="6473952"/>
            <a:ext cx="457200" cy="274320"/>
          </a:xfrm>
          <a:prstGeom prst="rect">
            <a:avLst/>
          </a:prstGeom>
          <a:noFill/>
          <a:ln/>
        </p:spPr>
        <p:txBody>
          <a:bodyPr wrap="square" rtlCol="0" anchor="ctr"/>
          <a:lstStyle/>
          <a:p>
            <a:pPr algn="r" indent="0" marL="0">
              <a:buNone/>
            </a:pPr>
            <a:r>
              <a:rPr lang="en-US" sz="1000" dirty="0">
                <a:solidFill>
                  <a:srgbClr val="5B6B82"/>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B33"/>
        </a:solidFill>
      </p:bgPr>
    </p:bg>
    <p:spTree>
      <p:nvGrpSpPr>
        <p:cNvPr id="1" name=""/>
        <p:cNvGrpSpPr/>
        <p:nvPr/>
      </p:nvGrpSpPr>
      <p:grpSpPr>
        <a:xfrm>
          <a:off x="0" y="0"/>
          <a:ext cx="0" cy="0"/>
          <a:chOff x="0" y="0"/>
          <a:chExt cx="0" cy="0"/>
        </a:xfrm>
      </p:grpSpPr>
      <p:sp>
        <p:nvSpPr>
          <p:cNvPr id="2" name="Shape 0"/>
          <p:cNvSpPr/>
          <p:nvPr/>
        </p:nvSpPr>
        <p:spPr>
          <a:xfrm>
            <a:off x="-2286000" y="3657600"/>
            <a:ext cx="5943600" cy="5943600"/>
          </a:xfrm>
          <a:prstGeom prst="ellipse">
            <a:avLst/>
          </a:prstGeom>
          <a:solidFill>
            <a:srgbClr val="142850">
              <a:alpha val="80000"/>
            </a:srgbClr>
          </a:solidFill>
          <a:ln/>
        </p:spPr>
      </p:sp>
      <p:sp>
        <p:nvSpPr>
          <p:cNvPr id="3" name="Shape 1"/>
          <p:cNvSpPr/>
          <p:nvPr/>
        </p:nvSpPr>
        <p:spPr>
          <a:xfrm>
            <a:off x="9601200" y="-2286000"/>
            <a:ext cx="4572000" cy="4572000"/>
          </a:xfrm>
          <a:prstGeom prst="ellipse">
            <a:avLst/>
          </a:prstGeom>
          <a:solidFill>
            <a:srgbClr val="E08A2C">
              <a:alpha val="20000"/>
            </a:srgbClr>
          </a:solidFill>
          <a:ln/>
        </p:spPr>
      </p:sp>
      <p:sp>
        <p:nvSpPr>
          <p:cNvPr id="4" name="Text 2"/>
          <p:cNvSpPr/>
          <p:nvPr/>
        </p:nvSpPr>
        <p:spPr>
          <a:xfrm>
            <a:off x="0" y="2103120"/>
            <a:ext cx="12188952" cy="100584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Text 3"/>
          <p:cNvSpPr/>
          <p:nvPr/>
        </p:nvSpPr>
        <p:spPr>
          <a:xfrm>
            <a:off x="0" y="3063240"/>
            <a:ext cx="12188952" cy="457200"/>
          </a:xfrm>
          <a:prstGeom prst="rect">
            <a:avLst/>
          </a:prstGeom>
          <a:noFill/>
          <a:ln/>
        </p:spPr>
        <p:txBody>
          <a:bodyPr wrap="square" rtlCol="0" anchor="ctr"/>
          <a:lstStyle/>
          <a:p>
            <a:pPr algn="ctr" indent="0" marL="0">
              <a:buNone/>
            </a:pPr>
            <a:r>
              <a:rPr lang="en-US" sz="1800" i="1" dirty="0">
                <a:solidFill>
                  <a:srgbClr val="D7E6F5"/>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0" y="3977640"/>
            <a:ext cx="12188952"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Ekene Martin Atuegbu</a:t>
            </a:r>
            <a:endParaRPr lang="en-US" sz="1600" dirty="0"/>
          </a:p>
        </p:txBody>
      </p:sp>
      <p:sp>
        <p:nvSpPr>
          <p:cNvPr id="7" name="Text 5"/>
          <p:cNvSpPr/>
          <p:nvPr/>
        </p:nvSpPr>
        <p:spPr>
          <a:xfrm>
            <a:off x="0" y="4434840"/>
            <a:ext cx="12188952" cy="365760"/>
          </a:xfrm>
          <a:prstGeom prst="rect">
            <a:avLst/>
          </a:prstGeom>
          <a:noFill/>
          <a:ln/>
        </p:spPr>
        <p:txBody>
          <a:bodyPr wrap="square" rtlCol="0" anchor="ctr"/>
          <a:lstStyle/>
          <a:p>
            <a:pPr algn="ctr" indent="0" marL="0">
              <a:buNone/>
            </a:pPr>
            <a:r>
              <a:rPr lang="en-US" sz="1250" dirty="0">
                <a:solidFill>
                  <a:srgbClr val="D7E6F5"/>
                </a:solidFill>
                <a:latin typeface="Calibri" pitchFamily="34" charset="0"/>
                <a:ea typeface="Calibri" pitchFamily="34" charset="-122"/>
                <a:cs typeface="Calibri" pitchFamily="34" charset="-120"/>
              </a:rPr>
              <a:t>📧 kenair1@hotmail.com     💼 linkedin.com/in/ekene-atuegbu-a9478b3bb     💻 github.com/Taurusking1</a:t>
            </a:r>
            <a:endParaRPr lang="en-US" sz="1250" dirty="0"/>
          </a:p>
        </p:txBody>
      </p:sp>
      <p:sp>
        <p:nvSpPr>
          <p:cNvPr id="8" name="Text 6"/>
          <p:cNvSpPr/>
          <p:nvPr/>
        </p:nvSpPr>
        <p:spPr>
          <a:xfrm>
            <a:off x="0" y="5120640"/>
            <a:ext cx="12188952" cy="320040"/>
          </a:xfrm>
          <a:prstGeom prst="rect">
            <a:avLst/>
          </a:prstGeom>
          <a:noFill/>
          <a:ln/>
        </p:spPr>
        <p:txBody>
          <a:bodyPr wrap="square" rtlCol="0" anchor="ctr"/>
          <a:lstStyle/>
          <a:p>
            <a:pPr algn="ctr" indent="0" marL="0">
              <a:buNone/>
            </a:pPr>
            <a:r>
              <a:rPr lang="en-US" sz="1100" i="1" dirty="0">
                <a:solidFill>
                  <a:srgbClr val="6E8CAE"/>
                </a:solidFill>
                <a:latin typeface="Calibri" pitchFamily="34" charset="0"/>
                <a:ea typeface="Calibri" pitchFamily="34" charset="-122"/>
                <a:cs typeface="Calibri" pitchFamily="34" charset="-120"/>
              </a:rPr>
              <a:t>Data Analytics  |  Business Intelligence  |  Machine Learning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 Performance &amp; Credit Risk Analysis</dc:title>
  <dc:subject>PptxGenJS Presentation</dc:subject>
  <dc:creator>Ekene Martin Atuegbu</dc:creator>
  <cp:lastModifiedBy>Ekene Martin Atuegbu</cp:lastModifiedBy>
  <cp:revision>1</cp:revision>
  <dcterms:created xsi:type="dcterms:W3CDTF">2026-07-09T09:00:18Z</dcterms:created>
  <dcterms:modified xsi:type="dcterms:W3CDTF">2026-07-09T09:00:18Z</dcterms:modified>
</cp:coreProperties>
</file>